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40" b="0" i="0">
                <a:solidFill>
                  <a:srgbClr val="000000"/>
                </a:solidFill>
                <a:latin typeface="72 Brand Medium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20" b="0" i="0">
                <a:solidFill>
                  <a:srgbClr val="000000"/>
                </a:solidFill>
                <a:latin typeface="72 Brand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838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4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36339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82081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9055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5223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0">
                <a:solidFill>
                  <a:srgbClr val="000000"/>
                </a:solidFill>
                <a:latin typeface="72 Brand Medium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72 Brand Medium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475E75"/>
                </a:solidFill>
                <a:latin typeface="72 Brand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35469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40922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75902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45149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56531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207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80" b="0" i="0">
                <a:solidFill>
                  <a:srgbClr val="000000"/>
                </a:solidFill>
                <a:latin typeface="72 Brand Medium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70F2"/>
                </a:solidFill>
                <a:latin typeface="72 Brand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91535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475E75"/>
                </a:solidFill>
                <a:latin typeface="72 Brand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75E75"/>
                </a:solidFill>
                <a:latin typeface="72 Brand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80736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9517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6383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6061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0418" y="6614160"/>
            <a:ext cx="210621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52222"/>
                </a:solidFill>
                <a:latin typeface="72 Brand Medium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62317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22062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76712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64B00"/>
                </a:solidFill>
                <a:latin typeface="72 Brand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52222"/>
                </a:solidFill>
                <a:latin typeface="72 Brand Medium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52222"/>
                </a:solidFill>
                <a:latin typeface="72 Brand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504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5026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44946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000000"/>
                </a:solidFill>
                <a:latin typeface="72 Brand Medium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 Medium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A64B00"/>
                </a:solidFill>
                <a:latin typeface="72 Brand Medium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 Medium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72 Brand Medium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72 Brand Medium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93D00"/>
                </a:solidFill>
                <a:latin typeface="72 Brand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000000"/>
                </a:solidFill>
                <a:latin typeface="72 Brand Medium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75E75"/>
                </a:solidFill>
                <a:latin typeface="72 Brand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4580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070F2"/>
                </a:solidFill>
                <a:latin typeface="72 Brand Medium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D2D3E"/>
                </a:solidFill>
                <a:latin typeface="72 Brand Medium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6B82"/>
                </a:solidFill>
                <a:latin typeface="72 Brand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1780" y="3495198"/>
            <a:ext cx="736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895826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32921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0000"/>
                </a:solidFill>
                <a:latin typeface="72 Brand Medium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0000"/>
                </a:solidFill>
                <a:latin typeface="72 Brand Medium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000000"/>
                </a:solidFill>
                <a:latin typeface="72 Brand Medium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0070F2"/>
                </a:solidFill>
                <a:latin typeface="72 Brand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0000"/>
                </a:solidFill>
                <a:latin typeface="72 Brand Medium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475E75"/>
                </a:solidFill>
                <a:latin typeface="72 Brand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0070F2"/>
                </a:solidFill>
                <a:latin typeface="72 Brand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 Medium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20802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1250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0919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0919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72 Brand Medium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0919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755" y="1716643"/>
            <a:ext cx="54864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660" y="1701403"/>
            <a:ext cx="74068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1704" y="1701403"/>
            <a:ext cx="140541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908" y="1656397"/>
            <a:ext cx="135957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272" y="1816417"/>
            <a:ext cx="124884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57466" y="1807368"/>
            <a:ext cx="140529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180" y="2160031"/>
            <a:ext cx="61579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3612" y="2144791"/>
            <a:ext cx="113478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590" y="2144791"/>
            <a:ext cx="93964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164" y="2099786"/>
            <a:ext cx="1455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3167" y="2259806"/>
            <a:ext cx="140493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745" y="2250757"/>
            <a:ext cx="11307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630" y="2603063"/>
            <a:ext cx="103477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4187" y="2588180"/>
            <a:ext cx="145363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0604" y="2588180"/>
            <a:ext cx="186773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370" y="2543175"/>
            <a:ext cx="157864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6348" y="2703195"/>
            <a:ext cx="193857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613" y="3046809"/>
            <a:ext cx="5429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65414" y="3031569"/>
            <a:ext cx="87118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4222" y="3031569"/>
            <a:ext cx="11203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3650" y="2986563"/>
            <a:ext cx="130397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3546" y="3137535"/>
            <a:ext cx="127301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176" y="3490198"/>
            <a:ext cx="2997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8449" y="3474958"/>
            <a:ext cx="184499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3715" y="3474958"/>
            <a:ext cx="16015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57317" y="3429952"/>
            <a:ext cx="167663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3994" y="3589972"/>
            <a:ext cx="15034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6406" y="3580923"/>
            <a:ext cx="122729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382" y="3933586"/>
            <a:ext cx="80938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7094" y="3918346"/>
            <a:ext cx="66782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813" y="3918346"/>
            <a:ext cx="117931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3527" y="3873341"/>
            <a:ext cx="136433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396" y="4033361"/>
            <a:ext cx="1544597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744" y="4376975"/>
            <a:ext cx="73866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1464" y="4361735"/>
            <a:ext cx="121896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2559" y="4361735"/>
            <a:ext cx="106370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46971" y="4476750"/>
            <a:ext cx="14973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7338" y="4467701"/>
            <a:ext cx="1545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 연동 개발·운영)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TCO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3054" y="1254918"/>
            <a:ext cx="5359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05444" y="1254918"/>
            <a:ext cx="6179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72 Brand Medium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11307" y="1254918"/>
            <a:ext cx="89749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72 Brand Medium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325" y="1890831"/>
            <a:ext cx="9673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3983" y="1815703"/>
            <a:ext cx="9139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2291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279" y="1815703"/>
            <a:ext cx="97226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5757" y="19757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5659" y="1846183"/>
            <a:ext cx="15400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3596" y="1990963"/>
            <a:ext cx="21641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5304" y="1966674"/>
            <a:ext cx="170961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083" y="2500431"/>
            <a:ext cx="1027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8472" y="2425303"/>
            <a:ext cx="146494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2291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5510" y="2425303"/>
            <a:ext cx="14579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5757" y="2585323"/>
            <a:ext cx="13173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3635" y="2455783"/>
            <a:ext cx="154412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73" y="2600563"/>
            <a:ext cx="19246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5430" y="2576274"/>
            <a:ext cx="16093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863" y="3110031"/>
            <a:ext cx="11143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5980" y="3034903"/>
            <a:ext cx="135004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89916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5496" y="3034903"/>
            <a:ext cx="167794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3382" y="3194923"/>
            <a:ext cx="12220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9110" y="3065383"/>
            <a:ext cx="15530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3210163"/>
            <a:ext cx="19136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322" y="3185874"/>
            <a:ext cx="14294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930" y="3719631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7634" y="3644503"/>
            <a:ext cx="154674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34063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49434" y="3644503"/>
            <a:ext cx="153007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 Medium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47529" y="3804523"/>
            <a:ext cx="153388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75E75"/>
                </a:solidFill>
                <a:latin typeface="72 Brand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565" y="3674983"/>
            <a:ext cx="15061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65B00"/>
                </a:solidFill>
                <a:latin typeface="72 Brand Medium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24311" y="3819763"/>
            <a:ext cx="214264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5B738B"/>
                </a:solidFill>
                <a:latin typeface="72 Brand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1878" y="3795474"/>
            <a:ext cx="12963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75E75"/>
                </a:solidFill>
                <a:latin typeface="72 Brand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(CSP + S/4·LoB 연동 운영) &gt;</a:t>
            </a:r>
            <a:r>
              <a:rPr sz="1739" b="1" i="0">
                <a:solidFill>
                  <a:srgbClr val="1B90FF"/>
                </a:solidFill>
                <a:latin typeface="72 Brand Medium"/>
              </a:rPr>
              <a:t>OPEX</a:t>
            </a:r>
            <a:r>
              <a:rPr sz="1739" b="1" i="0">
                <a:solidFill>
                  <a:srgbClr val="000000"/>
                </a:solidFill>
                <a:latin typeface="72 Brand Medium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000000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475E75"/>
                </a:solidFill>
                <a:latin typeface="72 Brand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31511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01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29500" y="1356360"/>
            <a:ext cx="169235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02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Agentic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760220"/>
            <a:ext cx="1970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03</a:t>
            </a:r>
            <a:r>
              <a:rPr sz="1260" b="0" i="0">
                <a:solidFill>
                  <a:srgbClr val="000000"/>
                </a:solidFill>
                <a:latin typeface="72 Brand Medium"/>
              </a:rPr>
              <a:t>SAP BTP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0" y="2164080"/>
            <a:ext cx="223456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0070F2"/>
                </a:solidFill>
                <a:latin typeface="72 Brand"/>
              </a:rPr>
              <a:t>04</a:t>
            </a:r>
            <a:r>
              <a:rPr sz="1260" b="1" i="0">
                <a:solidFill>
                  <a:srgbClr val="0070F2"/>
                </a:solidFill>
                <a:latin typeface="72 Brand Medium"/>
              </a:rPr>
              <a:t>Demo &amp; Business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FFFFFF"/>
                </a:solidFill>
                <a:latin typeface="72 Brand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49559" y="938688"/>
            <a:ext cx="2214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65D78"/>
                </a:solidFill>
                <a:latin typeface="72 Brand"/>
              </a:rPr>
              <a:t>BUSINESS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80246" y="1220628"/>
            <a:ext cx="455342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A6ED1"/>
                </a:solidFill>
                <a:latin typeface="72 Brand"/>
              </a:rPr>
              <a:t>원가 경쟁력</a:t>
            </a:r>
            <a:r>
              <a:rPr sz="1019" b="1" i="0">
                <a:solidFill>
                  <a:srgbClr val="0A6ED1"/>
                </a:solidFill>
                <a:latin typeface="72 Brand"/>
              </a:rPr>
              <a:t>운영 안정성</a:t>
            </a:r>
            <a:r>
              <a:rPr sz="1019" b="1" i="0">
                <a:solidFill>
                  <a:srgbClr val="0A6ED1"/>
                </a:solidFill>
                <a:latin typeface="72 Brand"/>
              </a:rPr>
              <a:t>고객 가치</a:t>
            </a:r>
            <a:r>
              <a:rPr sz="1019" b="1" i="0">
                <a:solidFill>
                  <a:srgbClr val="0A6ED1"/>
                </a:solidFill>
                <a:latin typeface="72 Brand"/>
              </a:rPr>
              <a:t>기술 · 지속가능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" y="1804987"/>
            <a:ext cx="17881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Organizational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영업 · 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Demand Forecast · 수주 변동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구매 · 공급계획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공급 연속성 · 협력사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생산 · 품질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Production Capacity · 품질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SCM ·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납기 준수 · 물류 예외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재무 · 경영관리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원가 · 손익 변동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IT ·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315F7C"/>
                </a:solidFill>
                <a:latin typeface="72 Brand"/>
              </a:rPr>
              <a:t>System 가용성 · Data 신뢰성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" y="2687955"/>
            <a:ext cx="105775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0000"/>
                </a:solidFill>
                <a:latin typeface="72 Brand"/>
              </a:rPr>
              <a:t>Team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영업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수주 변동 · 고객 요청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수요계획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Forecast · 수요 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생산계획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계획 변경 · 생산 우선순위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구매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지연 자재 · 긴급 발주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품질관리 Team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품질 Issue · 시정 조치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SCM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재고 부족 · 물류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영업관리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Order 반영 · 납기 회신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IT·Data 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426F88"/>
                </a:solidFill>
                <a:latin typeface="72 Brand"/>
              </a:rPr>
              <a:t>Data 오류 · Interface 대응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9496" y="3358038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동일한 전사 KPI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7943" y="3327558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43647C"/>
                </a:solidFill>
                <a:latin typeface="72 Brand"/>
              </a:rPr>
              <a:t>를 조직과 Team은 각자의 Data·업무 상태·우선순위 관점에서 다르게 판단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2324" y="3601878"/>
            <a:ext cx="17891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B9512B"/>
                </a:solidFill>
                <a:latin typeface="72 Brand"/>
              </a:rPr>
              <a:t>BUSINESS CHALLENGES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180" y="4239577"/>
            <a:ext cx="1389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Business Challenges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C3826"/>
                </a:solidFill>
                <a:latin typeface="72 Brand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72526" y="4922996"/>
            <a:ext cx="23688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B90FF"/>
                </a:solidFill>
                <a:latin typeface="72 Brand"/>
              </a:rPr>
              <a:t>AUTONOMOUS OPERATIONS 방식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180" y="5434607"/>
            <a:ext cx="20101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"/>
              </a:rPr>
              <a:t>Autonomous Operating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000000"/>
                </a:solidFill>
                <a:latin typeface="72 Brand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1023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2137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2960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8718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202977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28135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2970" y="3083718"/>
            <a:ext cx="9677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5551" y="3335178"/>
            <a:ext cx="158257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1B90FF"/>
                </a:solidFill>
                <a:latin typeface="72 Brand Medium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2117" y="3628310"/>
            <a:ext cx="128944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815" y="3228022"/>
            <a:ext cx="6766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4192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5256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20033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805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17359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861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79903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7124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9455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39779D"/>
                </a:solidFill>
                <a:latin typeface="72 Brand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30563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00000"/>
                </a:solidFill>
                <a:latin typeface="72 Brand Medium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3207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475E75"/>
                </a:solidFill>
                <a:latin typeface="72 Brand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72 Brand Medium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9985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38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92786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9983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625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914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15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9779D"/>
                </a:solidFill>
                <a:latin typeface="72 Brand Medium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0000"/>
                </a:solidFill>
                <a:latin typeface="72 Brand Medium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6787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B90FF"/>
                </a:solidFill>
                <a:latin typeface="72 Brand Medium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307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365775"/>
                </a:solidFill>
                <a:latin typeface="72 Brand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6956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7094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784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000000"/>
                </a:solidFill>
                <a:latin typeface="72 Brand Medium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286B92"/>
                </a:solidFill>
                <a:latin typeface="72 Brand Medium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00000"/>
                </a:solidFill>
                <a:latin typeface="72 Brand Medium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9024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7858FF"/>
                </a:solidFill>
                <a:latin typeface="72 Brand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000000"/>
                </a:solidFill>
                <a:latin typeface="72 Brand Medium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39" b="0" i="0">
                <a:solidFill>
                  <a:srgbClr val="7858FF"/>
                </a:solidFill>
                <a:latin typeface="72 Brand Medium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0" i="0">
                <a:solidFill>
                  <a:srgbClr val="475E75"/>
                </a:solidFill>
                <a:latin typeface="72 Brand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7858FF"/>
                </a:solidFill>
                <a:latin typeface="72 Brand Medium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7108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0F2"/>
                </a:solidFill>
                <a:latin typeface="72 Brand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9746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312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649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0169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0000"/>
                </a:solidFill>
                <a:latin typeface="72 Brand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00000"/>
                </a:solidFill>
                <a:latin typeface="72 Brand Medium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