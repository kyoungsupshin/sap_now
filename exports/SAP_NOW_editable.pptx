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SAP BTP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Shared AI Foundation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Demo — Cross-Team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98420"/>
            <a:ext cx="4468058" cy="662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40" b="0" i="0">
                <a:solidFill>
                  <a:srgbClr val="000000"/>
                </a:solidFill>
                <a:latin typeface="72 Brand Medium"/>
              </a:rPr>
              <a:t>Autonomous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071574"/>
            <a:ext cx="4056102" cy="662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40" b="0" i="0">
                <a:solidFill>
                  <a:srgbClr val="000000"/>
                </a:solidFill>
                <a:latin typeface="72 Brand Medium"/>
              </a:rPr>
              <a:t>SAP BTP Agent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05300"/>
            <a:ext cx="114502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294870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Presentation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4958"/>
            <a:ext cx="535543" cy="563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60" b="1" i="0">
                <a:solidFill>
                  <a:srgbClr val="000000"/>
                </a:solidFill>
                <a:latin typeface="72 Bran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548288"/>
            <a:ext cx="4166235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8260" y="1875948"/>
            <a:ext cx="3240881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AI-Native · Business Context ·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43638"/>
            <a:ext cx="535543" cy="563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60" b="1" i="0">
                <a:solidFill>
                  <a:srgbClr val="000000"/>
                </a:solidFill>
                <a:latin typeface="72 Brand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416968"/>
            <a:ext cx="201287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8260" y="2744628"/>
            <a:ext cx="3509724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Integrated Operating Model · Agent 역할 · A2A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12318"/>
            <a:ext cx="535543" cy="563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60" b="1" i="0">
                <a:solidFill>
                  <a:srgbClr val="000000"/>
                </a:solidFill>
                <a:latin typeface="72 Brand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285648"/>
            <a:ext cx="24241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8260" y="3613308"/>
            <a:ext cx="391167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Logical Architecture · Implementation ·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80998"/>
            <a:ext cx="535543" cy="563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60" b="1" i="0">
                <a:solidFill>
                  <a:srgbClr val="000000"/>
                </a:solidFill>
                <a:latin typeface="72 Brand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4154328"/>
            <a:ext cx="265164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8260" y="4481988"/>
            <a:ext cx="418873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Business Challenges · SCM Demo · Business Outcomes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26820"/>
            <a:ext cx="5366980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72 Brand Medium"/>
              </a:rPr>
              <a:t>Autonomous Enterprise &amp;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66292"/>
            <a:ext cx="2555676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72 Brand Medium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54553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AI-Native 기업의 핵심 역량과 Business Context · 통제된 Execution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952500"/>
            <a:ext cx="335494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1348740"/>
            <a:ext cx="168390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44980"/>
            <a:ext cx="196250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0" y="2141220"/>
            <a:ext cx="21165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273903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AI-First → AI-Native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616154"/>
            <a:ext cx="81605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7858FF"/>
                </a:solidFill>
                <a:latin typeface="72 Brand"/>
              </a:rPr>
              <a:t>01 ·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1844754"/>
            <a:ext cx="2001321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0">
                <a:solidFill>
                  <a:srgbClr val="000000"/>
                </a:solidFill>
                <a:latin typeface="72 Brand Medium"/>
              </a:rPr>
              <a:t>Software that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180034"/>
            <a:ext cx="312027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사람의 목표 설정 · Agent의 허용된 작업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815470"/>
            <a:ext cx="89606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7858FF"/>
                </a:solidFill>
                <a:latin typeface="72 Brand"/>
              </a:rPr>
              <a:t>02 ·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044070"/>
            <a:ext cx="221063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0">
                <a:solidFill>
                  <a:srgbClr val="000000"/>
                </a:solidFill>
                <a:latin typeface="72 Brand Medium"/>
              </a:rPr>
              <a:t>Landscape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379350"/>
            <a:ext cx="267509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System · 조직 · Process 간 업무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014787"/>
            <a:ext cx="74997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7858FF"/>
                </a:solidFill>
                <a:latin typeface="72 Brand"/>
              </a:rPr>
              <a:t>03 ·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243387"/>
            <a:ext cx="192738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0">
                <a:solidFill>
                  <a:srgbClr val="000000"/>
                </a:solidFill>
                <a:latin typeface="72 Brand Medium"/>
              </a:rPr>
              <a:t>System of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4578667"/>
            <a:ext cx="2163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Data · 의미 · 관계 · 정책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3375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3375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6458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6458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541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9541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57200"/>
            <a:ext cx="311419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Four Core Capabilities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3203" y="1499592"/>
            <a:ext cx="10572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Agent Interoperability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33203" y="1758672"/>
            <a:ext cx="1834395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72 Brand Medium"/>
              </a:rPr>
              <a:t>Agent를 연결하고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33203" y="2032992"/>
            <a:ext cx="2656879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72 Brand Medium"/>
              </a:rPr>
              <a:t>실행을 통제하는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33203" y="2406372"/>
            <a:ext cx="403014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Harness의 실행 경로 조율 · 권한·정책·승인 기반 Agent 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33203" y="2630328"/>
            <a:ext cx="784621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Tool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" y="3727608"/>
            <a:ext cx="145256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Agent 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" y="3933348"/>
            <a:ext cx="131028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&amp;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" y="4222908"/>
            <a:ext cx="21215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Agent · Tool 연결과 Workflow 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3770" y="3727608"/>
            <a:ext cx="160222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Business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770" y="4017168"/>
            <a:ext cx="2460902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업무 Data · 지식 · 관계를 판단 근거로 구성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600" y="3727608"/>
            <a:ext cx="200453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App &amp; AI Development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600" y="4017168"/>
            <a:ext cx="1806892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새로운 App · 기능 개발 및 변경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5430" y="3727608"/>
            <a:ext cx="16509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5430" y="4017168"/>
            <a:ext cx="233064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계획된 업무 수행 · 결과 검증 · 예외 처리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180" y="5650825"/>
            <a:ext cx="156531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Cross-Cutting Governance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12074" y="5617368"/>
            <a:ext cx="4369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Context 접근 · App 변경 · 업무 실행 전체에 권한·정책·승인·추적을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42529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1672351"/>
            <a:ext cx="1612106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80" b="0" i="0">
                <a:solidFill>
                  <a:srgbClr val="000000"/>
                </a:solidFill>
                <a:latin typeface="72 Brand Medium"/>
              </a:rPr>
              <a:t>Agent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1939051"/>
            <a:ext cx="148590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80" b="0" i="0">
                <a:solidFill>
                  <a:srgbClr val="000000"/>
                </a:solidFill>
                <a:latin typeface="72 Brand Medium"/>
              </a:rPr>
              <a:t>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2563891"/>
            <a:ext cx="212895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70F2"/>
                </a:solidFill>
                <a:latin typeface="72 Brand"/>
              </a:rPr>
              <a:t>End-to-End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2899171"/>
            <a:ext cx="300382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Joule의 업무 영역별 Agent 연결 · End-to-End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3116341"/>
            <a:ext cx="695325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실행 조율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3676411"/>
            <a:ext cx="2159198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70F2"/>
                </a:solidFill>
                <a:latin typeface="72 Brand"/>
              </a:rPr>
              <a:t>Embedded AI + Custom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80120" y="4011691"/>
            <a:ext cx="2758559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SAP Embedded AI + AI Foundation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0120" y="4228861"/>
            <a:ext cx="810458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Custom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80120" y="4788931"/>
            <a:ext cx="190404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70F2"/>
                </a:solidFill>
                <a:latin typeface="72 Brand"/>
              </a:rPr>
              <a:t>Security &amp; Compliance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0120" y="5124211"/>
            <a:ext cx="307800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공통 보안·규정 준수 기반 Agent Workflow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243756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1888450"/>
            <a:ext cx="94833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7858FF"/>
                </a:solidFill>
                <a:latin typeface="72 Brand"/>
              </a:rPr>
              <a:t>Apps · Data ·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68132" y="2155150"/>
            <a:ext cx="1346835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39" b="0" i="0">
                <a:solidFill>
                  <a:srgbClr val="000000"/>
                </a:solidFill>
                <a:latin typeface="72 Brand Medium"/>
              </a:rPr>
              <a:t>실행 결과를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68132" y="2445305"/>
            <a:ext cx="2108001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39" b="0" i="0">
                <a:solidFill>
                  <a:srgbClr val="000000"/>
                </a:solidFill>
                <a:latin typeface="72 Brand Medium"/>
              </a:rPr>
              <a:t>다음 판단의 근거로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7206" y="2964060"/>
            <a:ext cx="108263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Understand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6680" y="2964060"/>
            <a:ext cx="79450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Retrieve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7206" y="3360300"/>
            <a:ext cx="71949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Reason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6680" y="3360300"/>
            <a:ext cx="48827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7206" y="3756540"/>
            <a:ext cx="75664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Execute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6680" y="3756540"/>
            <a:ext cx="780216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8132" y="4206120"/>
            <a:ext cx="2629852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위험·낮은 확신·정책 예외 → 담당자 판단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34600" y="1666517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1666517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52725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275272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38932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3838932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25139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34600" y="4925139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69265" y="624840"/>
            <a:ext cx="4502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7200"/>
            <a:ext cx="318944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App &amp; AI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022508"/>
            <a:ext cx="4733567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업무 요구를 새로운 App과 기능으로 구현 · 검증 후 업무에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2868"/>
            <a:ext cx="337554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App Builder · 업무 요구를 실행 가능한 기능으로 확장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1841777"/>
            <a:ext cx="57507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01 · Define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2047517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변경 요구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2312312"/>
            <a:ext cx="169723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필요한 기능과 변경 범위 정의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2927985"/>
            <a:ext cx="92702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02 · Build &amp; Extend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3133725"/>
            <a:ext cx="17840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App · Skill · Workflow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3398520"/>
            <a:ext cx="1804392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AI 기반 App · 기능 개발과 변경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4014192"/>
            <a:ext cx="111347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03 · Validate &amp; Approve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4219932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검증과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4484727"/>
            <a:ext cx="21926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분리된 환경에서 기능 검증 · 변경 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9380" y="5100399"/>
            <a:ext cx="9691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04 · Deploy &amp; Reuse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5306139"/>
            <a:ext cx="11381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배포와 재사용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9380" y="5570934"/>
            <a:ext cx="219372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검증된 App 배포 · 업무 적용과 재사용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34600" y="1672113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1672113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58320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2758320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44528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38445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30735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34600" y="493073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57200"/>
            <a:ext cx="6689169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Agentic Execution — Integrated Operating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22508"/>
            <a:ext cx="3642479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SAP 업무 연결 · 판단과 조율 · 기능 확장의 통합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9380" y="1847373"/>
            <a:ext cx="104715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01 · Business 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2053113"/>
            <a:ext cx="815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업무 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317908"/>
            <a:ext cx="130337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목표와 기대 결과 전달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2933580"/>
            <a:ext cx="12225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02 · Reason &amp; Orchestrate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3139320"/>
            <a:ext cx="7746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Harness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3404115"/>
            <a:ext cx="229278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Business Context 기반 판단·실행 조율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4019788"/>
            <a:ext cx="130599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03 · SAP Access &amp; 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4225528"/>
            <a:ext cx="1146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Joule +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4490323"/>
            <a:ext cx="199429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SAP Data 조회 · 허용된 업무 수행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5105995"/>
            <a:ext cx="105572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04 · Validate &amp; 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311735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검증과 기록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9380" y="5576530"/>
            <a:ext cx="159686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결과 검증·기록 · 예외 전달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26820"/>
            <a:ext cx="3738919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456009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통합 운영 모델과 Human + Agent 역할 분담 · 판단·실행·협업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952500"/>
            <a:ext cx="314265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48740"/>
            <a:ext cx="179891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1744980"/>
            <a:ext cx="196250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2141220"/>
            <a:ext cx="21165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1258728"/>
            <a:ext cx="13716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258728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98620" y="166258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98620" y="16625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69330" y="166258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69330" y="16625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40040" y="166258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40040" y="16625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10750" y="166258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10750" y="16625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98620" y="374284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98620" y="3742848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69330" y="374284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69330" y="3742848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40040" y="374284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0040" y="3742848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10750" y="374284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10750" y="3742848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7200"/>
            <a:ext cx="46759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Joule — SAP Data 접근과 업무 실행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795" y="2867025"/>
            <a:ext cx="8216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464" y="3118485"/>
            <a:ext cx="116443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SAP 정보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378" y="3427095"/>
            <a:ext cx="102060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현재 Data · 업무 실행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518" y="3565683"/>
            <a:ext cx="30420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요청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81619" y="2984658"/>
            <a:ext cx="11022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SAP Business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71342" y="3205638"/>
            <a:ext cx="172283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“Vacuum Pump의 최근 Lead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13077" y="3399948"/>
            <a:ext cx="63936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Time은?”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9580" y="1426368"/>
            <a:ext cx="675917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A64B00"/>
                </a:solidFill>
                <a:latin typeface="72 Brand Medium"/>
              </a:rPr>
              <a:t>Without Joule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4820" y="218527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4820" y="2375773"/>
            <a:ext cx="92749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SAP 화면 이동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4820" y="2568178"/>
            <a:ext cx="10563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필요 Data를 각각 조회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45530" y="218527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5530" y="2375773"/>
            <a:ext cx="106346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수작업 Data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5530" y="2568178"/>
            <a:ext cx="118098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입고 · 재고 · 계획을 확인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6240" y="218527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6240" y="2375773"/>
            <a:ext cx="75390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수작업 반영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6240" y="2568178"/>
            <a:ext cx="111656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확정된 내용을 직접 처리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86950" y="218527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6950" y="2375773"/>
            <a:ext cx="75390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결과 재공유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86950" y="2568178"/>
            <a:ext cx="102536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처리 결과를 다시 전달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9580" y="3506628"/>
            <a:ext cx="548878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 Medium"/>
              </a:rPr>
              <a:t>With Joule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74820" y="426553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4820" y="4456033"/>
            <a:ext cx="9628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SAP Data 조회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74820" y="4648438"/>
            <a:ext cx="111656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필요한 현재 정보를 연결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5530" y="426553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45530" y="4456033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분석 근거 전달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45530" y="4648438"/>
            <a:ext cx="124837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Harness 판단에 Data 제공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6240" y="426553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6240" y="4456033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업무 실행 연결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16240" y="4648438"/>
            <a:ext cx="120741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확정된 판단을 SAP로 전달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86950" y="426553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86950" y="4456033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처리 결과 반환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6950" y="4648438"/>
            <a:ext cx="102536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업무 흐름에 즉시 반영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57900"/>
            <a:ext cx="365998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0F2"/>
                </a:solidFill>
                <a:latin typeface="72 Brand Medium"/>
              </a:rPr>
              <a:t>Joule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149340"/>
            <a:ext cx="849987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0F2"/>
                </a:solidFill>
                <a:latin typeface="72 Brand Medium"/>
              </a:rPr>
              <a:t>Key Capabilities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95499" y="6013132"/>
            <a:ext cx="16383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Real-Time SAP Data Access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95499" y="6163627"/>
            <a:ext cx="190249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556B82"/>
                </a:solidFill>
                <a:latin typeface="72 Brand"/>
              </a:rPr>
              <a:t>현재 Data와 업무 상태를 필요한 맥락으로 제공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64680" y="6013132"/>
            <a:ext cx="160615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SAP Transaction Execution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64680" y="6163627"/>
            <a:ext cx="187368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556B82"/>
                </a:solidFill>
                <a:latin typeface="72 Brand"/>
              </a:rPr>
              <a:t>확정된 판단을 SAP 처리와 결과 반환으로 연결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920418" y="6614160"/>
            <a:ext cx="210621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1258728"/>
            <a:ext cx="1371600" cy="4308276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258728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9862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9862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6933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6933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4004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4004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1075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1075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9862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9862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6933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6933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4004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004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1075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1075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9862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9862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6933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6933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4004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4004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1075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1075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57200"/>
            <a:ext cx="67700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HANA Knowledge Graph — Business Context 연결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795" y="3071098"/>
            <a:ext cx="8216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6892" y="3322558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전사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6409" y="3631168"/>
            <a:ext cx="90654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신규 협력업체 등록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78298" y="3119437"/>
            <a:ext cx="90868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Business Question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81105" y="3340417"/>
            <a:ext cx="170318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“신규 협력업체 등록에 필요한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01371" y="3534727"/>
            <a:ext cx="126253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기준과 담당 조직은?”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59580" y="1403508"/>
            <a:ext cx="691276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A64B00"/>
                </a:solidFill>
                <a:latin typeface="72 Brand Medium"/>
              </a:rPr>
              <a:t>Without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4820" y="1814988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4820" y="2005488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자료 개별 조회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4820" y="2197893"/>
            <a:ext cx="152983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IT · 품질 · Compliance 자료 확인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5530" y="1814988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5530" y="2005488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담당 조직 문의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45530" y="2197893"/>
            <a:ext cx="102536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부서별 등록 기준 확인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16240" y="1814988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6240" y="2005488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관계 수작업 정리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6240" y="2197893"/>
            <a:ext cx="122241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업체 · 기준 · System 연결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86950" y="1814988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86950" y="2005488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등록 근거 작성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86950" y="2197893"/>
            <a:ext cx="114430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담당자 확인 후 요청 제출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9580" y="2880240"/>
            <a:ext cx="1433512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A52222"/>
                </a:solidFill>
                <a:latin typeface="72 Brand Medium"/>
              </a:rPr>
              <a:t>Agent without Knowledge Graph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74820" y="3291720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4820" y="3482220"/>
            <a:ext cx="6347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문서 검색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74820" y="3674625"/>
            <a:ext cx="123539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개별 문서의 관련 정보 검색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5530" y="3291720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5530" y="3482220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문서별 답변 요약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45530" y="3674625"/>
            <a:ext cx="110311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담당자 · 기준 후보 정리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16240" y="3291720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6240" y="3482220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관계 추가 확인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16240" y="3674625"/>
            <a:ext cx="129980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업체 · 정책 · 조직 관계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86950" y="3291720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86950" y="3482220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사람의 근거 종합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86950" y="3674625"/>
            <a:ext cx="123539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조건별 적용 기준 최종 확인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59580" y="4379833"/>
            <a:ext cx="1306353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 Medium"/>
              </a:rPr>
              <a:t>Agent with Knowledge Graph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74820" y="483703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4820" y="5027533"/>
            <a:ext cx="126682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Enterprise Ontology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74820" y="5219938"/>
            <a:ext cx="139088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조직 · 정책 · 등록 기준 구조화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45530" y="483703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45530" y="5027533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관계 기반 탐색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45530" y="5219938"/>
            <a:ext cx="147327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업체와 적용 기준·담당 조직 연결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16240" y="483703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16240" y="5027533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조건별 근거 확인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16240" y="5219938"/>
            <a:ext cx="132659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관계 경로와 연결된 근거 확인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86950" y="483703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86950" y="5027533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등록 근거 재사용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86950" y="5219938"/>
            <a:ext cx="111656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검증된 관계 정보 재활용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6057900"/>
            <a:ext cx="545187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0F2"/>
                </a:solidFill>
                <a:latin typeface="72 Brand Medium"/>
              </a:rPr>
              <a:t>HANA KG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6149340"/>
            <a:ext cx="849987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0F2"/>
                </a:solidFill>
                <a:latin typeface="72 Brand Medium"/>
              </a:rPr>
              <a:t>Key Capabilities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95499" y="6013132"/>
            <a:ext cx="122062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Enterprise Ontology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95499" y="6163627"/>
            <a:ext cx="173962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556B82"/>
                </a:solidFill>
                <a:latin typeface="72 Brand"/>
              </a:rPr>
              <a:t>조직 · 정책 · 기준을 관계 중심으로 구조화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64680" y="6013132"/>
            <a:ext cx="176712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Relationship-Based Discovery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64680" y="6163627"/>
            <a:ext cx="167306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556B82"/>
                </a:solidFill>
                <a:latin typeface="72 Brand"/>
              </a:rPr>
              <a:t>담당자 · System · 등록 근거를 함께 확인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1258728"/>
            <a:ext cx="1371600" cy="4308276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258728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9862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9862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6933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6933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4004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4004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1075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1075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9862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9862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6933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6933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4004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004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1075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1075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9862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9862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6933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6933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4004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4004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1075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1075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57200"/>
            <a:ext cx="432970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Harness — 업무 판단과 실행 조율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795" y="3001803"/>
            <a:ext cx="8216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70" y="3253263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오늘 업무 실행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2117" y="3561873"/>
            <a:ext cx="99500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오늘의 Routine 업무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505" y="3700462"/>
            <a:ext cx="51423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실행 요청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76988" y="3119437"/>
            <a:ext cx="91154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Execution Request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93037" y="3340417"/>
            <a:ext cx="127944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“오늘 Routine 업무를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93789" y="3534727"/>
            <a:ext cx="6778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진행해줘.”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9580" y="1403508"/>
            <a:ext cx="691276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A64B00"/>
                </a:solidFill>
                <a:latin typeface="72 Brand Medium"/>
              </a:rPr>
              <a:t>Without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4820" y="1814988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4820" y="2005488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업무 수작업 수집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74820" y="2197893"/>
            <a:ext cx="121324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Wiki · SAP 상태 개별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5530" y="1814988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45530" y="2005488"/>
            <a:ext cx="126658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담당자 우선순위 판단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5530" y="2197893"/>
            <a:ext cx="118098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마감 · 영향도 · 예외 검토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6240" y="1814988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6240" y="2005488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실행 방식 협의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6240" y="2197893"/>
            <a:ext cx="135433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자동화·담당자 처리 경로 조율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86950" y="1814988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86950" y="2005488"/>
            <a:ext cx="91618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지시·결과 확인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86950" y="2197893"/>
            <a:ext cx="126313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업무 전달 후 처리 상태 확인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9580" y="2880240"/>
            <a:ext cx="1041915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A52222"/>
                </a:solidFill>
                <a:latin typeface="72 Brand Medium"/>
              </a:rPr>
              <a:t>Agent without Harness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4820" y="3291720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74820" y="3482220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개별 요청 입력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74820" y="3674625"/>
            <a:ext cx="135433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사용자가 조회·분석 작업 지정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5530" y="3291720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45530" y="3482220"/>
            <a:ext cx="130897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작업별 답변·Tool 실행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5530" y="3674625"/>
            <a:ext cx="102536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요청 단위의 결과 반환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6240" y="3291720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16240" y="3482220"/>
            <a:ext cx="130254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사람의 실행 경로 조율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16240" y="3674625"/>
            <a:ext cx="125313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다음 작업·Tool·담당자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86950" y="3291720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86950" y="3482220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사람의 후속 확인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86950" y="3674625"/>
            <a:ext cx="129111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결과 취합·실패 대응·재요청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59580" y="4379833"/>
            <a:ext cx="914876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 Medium"/>
              </a:rPr>
              <a:t>Agent with Harness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4820" y="483703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74820" y="5027533"/>
            <a:ext cx="112418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업무·Context 수집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74820" y="5219938"/>
            <a:ext cx="12163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Wiki · KG · SAP 상태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45530" y="483703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45530" y="5027533"/>
            <a:ext cx="115454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계획·우선순위 결정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45530" y="5219938"/>
            <a:ext cx="118098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마감 · 영향도 · 정책 반영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16240" y="483703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16240" y="5027533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실행 경로 조율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16240" y="5219938"/>
            <a:ext cx="154828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승인 기준에 따라 Tool·Agent 연결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86950" y="4837033"/>
            <a:ext cx="21502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86950" y="5027533"/>
            <a:ext cx="91618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검증·예외 처리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86950" y="5219938"/>
            <a:ext cx="143208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결과 기록 · 필요 시 담당자 판단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6057900"/>
            <a:ext cx="488037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0F2"/>
                </a:solidFill>
                <a:latin typeface="72 Brand Medium"/>
              </a:rPr>
              <a:t>Harness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6149340"/>
            <a:ext cx="849987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0F2"/>
                </a:solidFill>
                <a:latin typeface="72 Brand Medium"/>
              </a:rPr>
              <a:t>Key Capabilities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95499" y="6013132"/>
            <a:ext cx="15026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Evidence-Based Analysis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95499" y="6163627"/>
            <a:ext cx="188202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556B82"/>
                </a:solidFill>
                <a:latin typeface="72 Brand"/>
              </a:rPr>
              <a:t>Wiki · KG · SAP 정보를 연결해 가능 여부 판단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64680" y="6013132"/>
            <a:ext cx="144946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Execution Orchestration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64680" y="6163627"/>
            <a:ext cx="178986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556B82"/>
                </a:solidFill>
                <a:latin typeface="72 Brand"/>
              </a:rPr>
              <a:t>보완 범위와 업무 지시를 실행 흐름으로 연결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1462920"/>
            <a:ext cx="1371600" cy="4312920"/>
          </a:xfrm>
          <a:prstGeom prst="rect">
            <a:avLst/>
          </a:prstGeom>
          <a:noFill/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462920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3182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3182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8170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8170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3158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3158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318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318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676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5676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8170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8170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64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83158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3158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2565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2565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31820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131820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841676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41676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51652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51652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61508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61508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71484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71484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61392"/>
            <a:ext cx="419933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App Builder — App 변경과 배포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842" y="3386970"/>
            <a:ext cx="82355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COMMON START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9370" y="3668910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납품 문서 수신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7176" y="2278260"/>
            <a:ext cx="6443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 Medium"/>
              </a:rPr>
              <a:t>Image 문서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80736" y="4507110"/>
            <a:ext cx="837247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A64B00"/>
                </a:solidFill>
                <a:latin typeface="72 Brand Medium"/>
              </a:rPr>
              <a:t>CSV · 다양한 형식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92780" y="1649610"/>
            <a:ext cx="379452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 Medium"/>
              </a:rPr>
              <a:t>DAILY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02712" y="1592460"/>
            <a:ext cx="131552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일상 업무 Process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66134" y="1981080"/>
            <a:ext cx="66222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System 유지비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8020" y="2214205"/>
            <a:ext cx="40981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OCR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8020" y="2406610"/>
            <a:ext cx="7242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납품 문서 인식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41625" y="1981080"/>
            <a:ext cx="53661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Token 비용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57900" y="2214205"/>
            <a:ext cx="115181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AI Agent Interface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57900" y="2406610"/>
            <a:ext cx="7242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업무 정보 연결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07780" y="2214205"/>
            <a:ext cx="6347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07780" y="2406610"/>
            <a:ext cx="7242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92780" y="3127890"/>
            <a:ext cx="1204555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FFFFFF"/>
                </a:solidFill>
                <a:latin typeface="72 Brand Medium"/>
              </a:rPr>
              <a:t>ISSUE without App Builder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27815" y="307074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신규 업체 추가 Process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49553" y="3459360"/>
            <a:ext cx="4538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형식 차이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8020" y="3692485"/>
            <a:ext cx="68413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OCR 실패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8020" y="3884890"/>
            <a:ext cx="93428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인식 불가 형식 감지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76267" y="3459360"/>
            <a:ext cx="55209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IT 인력 필요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32960" y="3692485"/>
            <a:ext cx="102179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IT 추가개발 요청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32960" y="3884890"/>
            <a:ext cx="119431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개발 요청 · 우선순위 조율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99433" y="3459360"/>
            <a:ext cx="4538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개발 대기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57900" y="3692485"/>
            <a:ext cx="59864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추가개발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57900" y="3884890"/>
            <a:ext cx="120812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신규 형식 대응 Logic 구현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373" y="3459360"/>
            <a:ext cx="4538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운영 지연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2840" y="3692485"/>
            <a:ext cx="36028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배포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82840" y="3884890"/>
            <a:ext cx="93428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변경 사항 운영 반영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49313" y="3459360"/>
            <a:ext cx="4538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기준 보완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07780" y="3692485"/>
            <a:ext cx="59864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기준수정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07780" y="3884890"/>
            <a:ext cx="7242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처리 기준 반영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74742" y="3459360"/>
            <a:ext cx="35337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재작업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2720" y="3692485"/>
            <a:ext cx="6347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32720" y="3884890"/>
            <a:ext cx="7242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92780" y="4606170"/>
            <a:ext cx="1077515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FFFFFF"/>
                </a:solidFill>
                <a:latin typeface="72 Brand Medium"/>
              </a:rPr>
              <a:t>ISSUE with App Builder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00775" y="454902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신규 업체 추가 Process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34470" y="4937640"/>
            <a:ext cx="4538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형식 차이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8020" y="5170765"/>
            <a:ext cx="40981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OCR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8020" y="5363170"/>
            <a:ext cx="93428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인식 불가 형식 감지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44445" y="4937640"/>
            <a:ext cx="4538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자동 보완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17876" y="5170765"/>
            <a:ext cx="79164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App Builder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17876" y="5363170"/>
            <a:ext cx="51423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코드 수정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53694" y="4937640"/>
            <a:ext cx="55447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배포 전 검증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27852" y="5170765"/>
            <a:ext cx="102691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Sandbox 테스트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27852" y="5363170"/>
            <a:ext cx="12220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변경 코드 · 처리 결과 확인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64278" y="4937640"/>
            <a:ext cx="4538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자동 배포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7708" y="5170765"/>
            <a:ext cx="36028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배포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37708" y="5363170"/>
            <a:ext cx="7242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처리 흐름 적용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096982" y="4937640"/>
            <a:ext cx="53101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자동 재처리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47684" y="5170765"/>
            <a:ext cx="6347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47684" y="5363170"/>
            <a:ext cx="7242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057900"/>
            <a:ext cx="743902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0F2"/>
                </a:solidFill>
                <a:latin typeface="72 Brand Medium"/>
              </a:rPr>
              <a:t>APP BUILDER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02920" y="6149340"/>
            <a:ext cx="669012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0F2"/>
                </a:solidFill>
                <a:latin typeface="72 Brand Medium"/>
              </a:rPr>
              <a:t>CAPABILITY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95499" y="6013132"/>
            <a:ext cx="81641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변경 자동 보완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95499" y="6163627"/>
            <a:ext cx="136683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556B82"/>
                </a:solidFill>
                <a:latin typeface="72 Brand"/>
              </a:rPr>
              <a:t>AI Coding으로 처리 기준을 보완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64680" y="6013132"/>
            <a:ext cx="9914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배포 · 재처리 연결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64680" y="6163627"/>
            <a:ext cx="145411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556B82"/>
                </a:solidFill>
                <a:latin typeface="72 Brand"/>
              </a:rPr>
              <a:t>신규 App 배포 후 업무 흐름에 반영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535209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Harness Deep Agent — 복합 분석과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1512" y="3133605"/>
            <a:ext cx="1217175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070F2"/>
                </a:solidFill>
                <a:latin typeface="72 Brand"/>
              </a:rPr>
              <a:t>RISK ASSESSMENT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1780" y="3331725"/>
            <a:ext cx="7366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고객 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977" y="3611760"/>
            <a:ext cx="63412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외상 판매 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1884" y="3761065"/>
            <a:ext cx="9764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매출채권 Risk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6500" y="1502568"/>
            <a:ext cx="89582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Risk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005488"/>
            <a:ext cx="650914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070F2"/>
                </a:solidFill>
                <a:latin typeface="72 Brand"/>
              </a:rPr>
              <a:t>RA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0800" y="2195988"/>
            <a:ext cx="14130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언제 부실 위험이 되는가?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0800" y="2375773"/>
            <a:ext cx="13904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신용 · 채권 · 거래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2768917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질문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2941081"/>
            <a:ext cx="101167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신용 · 연체 ·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204686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분석 범위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3346370"/>
            <a:ext cx="11344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· 매출채권 · 계약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6060" y="3612237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확인 과제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6060" y="3784401"/>
            <a:ext cx="9748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위험 신호와 영향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6540" y="1456848"/>
            <a:ext cx="132921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Deep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1952148"/>
            <a:ext cx="993457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070F2"/>
                </a:solidFill>
                <a:latin typeface="72 Brand"/>
              </a:rPr>
              <a:t>HARNESS DEEP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0840" y="2142648"/>
            <a:ext cx="13452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분해된 질문별 근거 조회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322433"/>
            <a:ext cx="142779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각 정보원에 맞는 Query 실행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1320" y="2845117"/>
            <a:ext cx="549830" cy="1447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0070F2"/>
                </a:solidFill>
                <a:latin typeface="72 Brand"/>
              </a:rPr>
              <a:t>ASYNC QUERY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1320" y="3005137"/>
            <a:ext cx="52649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LLM Wiki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1320" y="3173491"/>
            <a:ext cx="75104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475E75"/>
                </a:solidFill>
                <a:latin typeface="72 Brand"/>
              </a:rPr>
              <a:t>과거 RA · 협의 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1320" y="3296840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475E75"/>
                </a:solidFill>
                <a:latin typeface="72 Brand"/>
              </a:rPr>
              <a:t>대응 이력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9413" y="2845117"/>
            <a:ext cx="549830" cy="1447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0070F2"/>
                </a:solidFill>
                <a:latin typeface="72 Brand"/>
              </a:rPr>
              <a:t>ASYNC 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39413" y="3005137"/>
            <a:ext cx="56638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HANA 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413" y="3173491"/>
            <a:ext cx="7168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475E75"/>
                </a:solidFill>
                <a:latin typeface="72 Brand"/>
              </a:rPr>
              <a:t>관계사 · 기준 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9413" y="3296840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475E75"/>
                </a:solidFill>
                <a:latin typeface="72 Brand"/>
              </a:rPr>
              <a:t>위험 관계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77507" y="2845117"/>
            <a:ext cx="549830" cy="1447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0070F2"/>
                </a:solidFill>
                <a:latin typeface="72 Brand"/>
              </a:rPr>
              <a:t>ASYNC QUERY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77507" y="3005137"/>
            <a:ext cx="35563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Joule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77507" y="3173491"/>
            <a:ext cx="7168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475E75"/>
                </a:solidFill>
                <a:latin typeface="72 Brand"/>
              </a:rPr>
              <a:t>미수금 · 연체 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77507" y="3296840"/>
            <a:ext cx="74973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475E75"/>
                </a:solidFill>
                <a:latin typeface="72 Brand"/>
              </a:rPr>
              <a:t>한도 · 주문 현황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4071937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결과 수집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6100" y="4244101"/>
            <a:ext cx="159900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세 정보원의 Query 결과 반환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6100" y="4507706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근거 종합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6100" y="4649390"/>
            <a:ext cx="140005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신용 · 채권 · 관계 Risk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6100" y="4915257"/>
            <a:ext cx="42910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RA 결론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6100" y="5087421"/>
            <a:ext cx="141970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위험 등급 · 대응 우선순위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6580" y="1502568"/>
            <a:ext cx="875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대응 지시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50880" y="2005488"/>
            <a:ext cx="614362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070F2"/>
                </a:solidFill>
                <a:latin typeface="72 Brand"/>
              </a:rPr>
              <a:t>RISK ACTION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50880" y="2195988"/>
            <a:ext cx="12331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실행 가능한 조치 제안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0880" y="2375773"/>
            <a:ext cx="110454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Risk 수준에 맞춘 대응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2768917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한도 조정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26140" y="2941081"/>
            <a:ext cx="11953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신용 한도 · 주문 보류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6140" y="3204686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조건 보완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3346370"/>
            <a:ext cx="11641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결제 조건 · 담보 · 승인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3612237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업무 지시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26140" y="3784401"/>
            <a:ext cx="130754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담당자 · 후속 조치 전달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36580" y="4489965"/>
            <a:ext cx="1116330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070F2"/>
                </a:solidFill>
                <a:latin typeface="72 Brand"/>
              </a:rPr>
              <a:t>SKILL.MD ACCUMULATION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26140" y="4749045"/>
            <a:ext cx="9177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분석 Pattern 확정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26140" y="4989790"/>
            <a:ext cx="7213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Skill.md 축적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26140" y="5230534"/>
            <a:ext cx="86832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다음 질문 재사용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444650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Harness A2A — Cross-Team 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4268" y="3203733"/>
            <a:ext cx="931664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070F2"/>
                </a:solidFill>
                <a:latin typeface="72 Brand"/>
              </a:rPr>
              <a:t>CUSTOMER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5214" y="3401853"/>
            <a:ext cx="102977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물량 · 가격 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2251" y="3620928"/>
            <a:ext cx="815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납기 변경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6500" y="15025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영업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005488"/>
            <a:ext cx="879276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070F2"/>
                </a:solidFill>
                <a:latin typeface="72 Brand"/>
              </a:rPr>
              <a:t>WIKI · TICKET 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수주 조건 확인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0800" y="2375773"/>
            <a:ext cx="16165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요청 · 계약 조건 · 협의 이력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768917"/>
            <a:ext cx="60209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JOULE 조회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2941081"/>
            <a:ext cx="11238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수주 · 가격 · 수익성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204686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조건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346370"/>
            <a:ext cx="11930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현재 계약 조건과 수익성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612237"/>
            <a:ext cx="91749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HARNESS 결론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3852981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분석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025145"/>
            <a:ext cx="86272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수주 조건 초안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288750"/>
            <a:ext cx="50875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WIKI 답변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8900" y="4460914"/>
            <a:ext cx="145291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영업 Team 검토 결과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6540" y="15025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생산관리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005488"/>
            <a:ext cx="879276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070F2"/>
                </a:solidFill>
                <a:latin typeface="72 Brand"/>
              </a:rPr>
              <a:t>WIKI · TICKET NOTE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생산 가능 여부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0840" y="2375773"/>
            <a:ext cx="162782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수주 조건 · 우선순위 · 검토 Note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768917"/>
            <a:ext cx="60209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JOULE 조회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2941081"/>
            <a:ext cx="116764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생산계획 · Line 여력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204686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조건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346370"/>
            <a:ext cx="9967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기존 고객 납기 약속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612237"/>
            <a:ext cx="91749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HARNESS 결론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3852981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분석 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025145"/>
            <a:ext cx="86272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생산 가능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288750"/>
            <a:ext cx="50875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WIKI 답변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8940" y="4460914"/>
            <a:ext cx="16772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생산관리 Team 검토 결과 공유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6580" y="15025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구매 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2005488"/>
            <a:ext cx="879276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070F2"/>
                </a:solidFill>
                <a:latin typeface="72 Brand"/>
              </a:rPr>
              <a:t>WIKI · TICKET NOTE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195988"/>
            <a:ext cx="13791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자재 확보 가능 여부 요청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2375773"/>
            <a:ext cx="16431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필요 자재 · 공급 Risk · 대응 Note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768917"/>
            <a:ext cx="60209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JOULE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2941081"/>
            <a:ext cx="145649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재고 · 발주 · 공급사 · 단가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204686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조건 확인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346370"/>
            <a:ext cx="148851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대체 가능성 · 납기 · 원가 영향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612237"/>
            <a:ext cx="91749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HARNESS 결론 생성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3852981"/>
            <a:ext cx="4841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분석 결과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025145"/>
            <a:ext cx="145363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공급 가능 조건 · 원가 영향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288750"/>
            <a:ext cx="50875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WIKI 답변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88980" y="4460914"/>
            <a:ext cx="145291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구매 Team 검토 결과 공유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26820"/>
            <a:ext cx="4449841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25191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SAP BTP 기반의 구현 구조와 운영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952500"/>
            <a:ext cx="314265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48740"/>
            <a:ext cx="168390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1744980"/>
            <a:ext cx="207180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2141220"/>
            <a:ext cx="21165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467022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Standard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581048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Kyma App-in-App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462057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Platform Value &amp; TCO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1458" y="1209198"/>
            <a:ext cx="5359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5766" y="1209198"/>
            <a:ext cx="6179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Azure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8976" y="1262538"/>
            <a:ext cx="134576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FFFFFF"/>
                </a:solidFill>
                <a:latin typeface="72 Brand Medium"/>
              </a:rPr>
              <a:t>S/4 연동 시 필요한 작업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9389" y="1209198"/>
            <a:ext cx="89749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SAP BTP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997" y="1715928"/>
            <a:ext cx="426720" cy="1447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Runtime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3714" y="1696878"/>
            <a:ext cx="63150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EKS · ECS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45255" y="1696878"/>
            <a:ext cx="117895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AKS · Container Apps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6733" y="1655683"/>
            <a:ext cx="1050131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C65B00"/>
                </a:solidFill>
                <a:latin typeface="72 Brand Medium"/>
              </a:rPr>
              <a:t>업무 App 개발·배포·운영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8650" y="1792843"/>
            <a:ext cx="846415" cy="137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5B738B"/>
                </a:solidFill>
                <a:latin typeface="72 Brand"/>
              </a:rPr>
              <a:t>개발·Test·배포 체계 구성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6630" y="1611510"/>
            <a:ext cx="122301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B90FF"/>
                </a:solidFill>
                <a:latin typeface="72 Brand Medium"/>
              </a:rPr>
              <a:t>Kyma · SAP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05925" y="1794390"/>
            <a:ext cx="1084421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475E75"/>
                </a:solidFill>
                <a:latin typeface="72 Brand"/>
              </a:rPr>
              <a:t>업무 App 변경·배포·운영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946" y="2119788"/>
            <a:ext cx="474702" cy="1447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AI /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1431" y="2100738"/>
            <a:ext cx="95607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Amazon Bedrock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7064" y="2100738"/>
            <a:ext cx="79533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Azure OpenAI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0895" y="2059543"/>
            <a:ext cx="1121806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C65B00"/>
                </a:solidFill>
                <a:latin typeface="72 Brand Medium"/>
              </a:rPr>
              <a:t>Agent 실행·업무 지시 구성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8406" y="2196703"/>
            <a:ext cx="946785" cy="137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5B738B"/>
                </a:solidFill>
                <a:latin typeface="72 Brand"/>
              </a:rPr>
              <a:t>Prompt·실행 흐름 직접 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9480" y="2015370"/>
            <a:ext cx="133731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B90FF"/>
                </a:solidFill>
                <a:latin typeface="72 Brand Medium"/>
              </a:rPr>
              <a:t>SAP AI Core · Joule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8914" y="2198250"/>
            <a:ext cx="878562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475E75"/>
                </a:solidFill>
                <a:latin typeface="72 Brand"/>
              </a:rPr>
              <a:t>AI 실행과 업무 지시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157" y="2477928"/>
            <a:ext cx="528399" cy="1447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Knowledge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2121" y="2565558"/>
            <a:ext cx="346352" cy="1447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Graph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00105" y="2504598"/>
            <a:ext cx="121860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Neptune · OpenSearch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54874" y="2504598"/>
            <a:ext cx="15595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Cosmos DB · Azure AI 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4580" y="2463403"/>
            <a:ext cx="1214437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C65B00"/>
                </a:solidFill>
                <a:latin typeface="72 Brand Medium"/>
              </a:rPr>
              <a:t>KPI·SOP·Ticket 관계 지식화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956" y="2600563"/>
            <a:ext cx="1289804" cy="137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5B738B"/>
                </a:solidFill>
                <a:latin typeface="72 Brand"/>
              </a:rPr>
              <a:t>Business Context·근거·감사 구조 설계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0055" y="2419230"/>
            <a:ext cx="165615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B90FF"/>
                </a:solidFill>
                <a:latin typeface="72 Brand Medium"/>
              </a:rPr>
              <a:t>HANA Knowledge Graph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2605" y="2602110"/>
            <a:ext cx="871180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475E75"/>
                </a:solidFill>
                <a:latin typeface="72 Brand"/>
              </a:rPr>
              <a:t>관계 기반 업무 지식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021" y="2927508"/>
            <a:ext cx="422671" cy="1447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SAP API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40016" y="2908458"/>
            <a:ext cx="73890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API Gateway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62650" y="2908458"/>
            <a:ext cx="94416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API Management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7569" y="2867263"/>
            <a:ext cx="1008459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C65B00"/>
                </a:solidFill>
                <a:latin typeface="72 Brand Medium"/>
              </a:rPr>
              <a:t>S/4 API·Data 의미 정합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80904" y="3004423"/>
            <a:ext cx="981908" cy="137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5B738B"/>
                </a:solidFill>
                <a:latin typeface="72 Brand"/>
              </a:rPr>
              <a:t>형식 변환·오류 처리·변경 대응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282" y="2823090"/>
            <a:ext cx="145982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B90FF"/>
                </a:solidFill>
                <a:latin typeface="72 Brand Medium"/>
              </a:rPr>
              <a:t>SAP API · Destination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55574" y="3005970"/>
            <a:ext cx="985242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475E75"/>
                </a:solidFill>
                <a:latin typeface="72 Brand"/>
              </a:rPr>
              <a:t>표준 연결과 Data 접근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818" y="3331368"/>
            <a:ext cx="248959" cy="1447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EAI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39014" y="3312318"/>
            <a:ext cx="15409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EventBridge · Step Functions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4530" y="3312318"/>
            <a:ext cx="134040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Logic Apps · Service Bus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7789" y="3271123"/>
            <a:ext cx="1288018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C65B00"/>
                </a:solidFill>
                <a:latin typeface="72 Brand Medium"/>
              </a:rPr>
              <a:t>업무 Event·예외 Process 설계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6854" y="3408283"/>
            <a:ext cx="1010007" cy="137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5B738B"/>
                </a:solidFill>
                <a:latin typeface="72 Brand"/>
              </a:rPr>
              <a:t>System 간 연계와 재처리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75325" y="3226950"/>
            <a:ext cx="114573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B90FF"/>
                </a:solidFill>
                <a:latin typeface="72 Brand Medium"/>
              </a:rPr>
              <a:t>Integration Suite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719" y="3409830"/>
            <a:ext cx="950952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475E75"/>
                </a:solidFill>
                <a:latin typeface="72 Brand"/>
              </a:rPr>
              <a:t>Process·Event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8890" y="3735228"/>
            <a:ext cx="612933" cy="1447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Authorization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23717" y="3716178"/>
            <a:ext cx="57150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AWS IAM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38361" y="3716178"/>
            <a:ext cx="99262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Microsoft Entra ID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44947" y="3674983"/>
            <a:ext cx="1053703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C65B00"/>
                </a:solidFill>
                <a:latin typeface="72 Brand Medium"/>
              </a:rPr>
              <a:t>SAP 조직·권한 정책 정합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53638" y="3812143"/>
            <a:ext cx="1036439" cy="137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5B738B"/>
                </a:solidFill>
                <a:latin typeface="72 Brand"/>
              </a:rPr>
              <a:t>Cloud IAM과 SAP 권한 동기화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21985" y="3630810"/>
            <a:ext cx="12522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B90FF"/>
                </a:solidFill>
                <a:latin typeface="72 Brand Medium"/>
              </a:rPr>
              <a:t>BTP Authorization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09985" y="3813690"/>
            <a:ext cx="876300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475E75"/>
                </a:solidFill>
                <a:latin typeface="72 Brand"/>
              </a:rPr>
              <a:t>업무 권한·접근 통제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4131" y="4139088"/>
            <a:ext cx="562451" cy="1447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Governance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96784" y="4120038"/>
            <a:ext cx="10253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CloudTrail · Config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85986" y="4120038"/>
            <a:ext cx="89749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Purview · Policy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50305" y="4078843"/>
            <a:ext cx="1042987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C65B00"/>
                </a:solidFill>
                <a:latin typeface="72 Brand Medium"/>
              </a:rPr>
              <a:t>감사·정책·접근 기준 관리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8759" y="4216003"/>
            <a:ext cx="1006078" cy="137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5B738B"/>
                </a:solidFill>
                <a:latin typeface="72 Brand"/>
              </a:rPr>
              <a:t>AI·Data 사용 기준의 지속 정합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20958" y="4034670"/>
            <a:ext cx="245447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B90FF"/>
                </a:solidFill>
                <a:latin typeface="72 Brand Medium"/>
              </a:rPr>
              <a:t>SAP AI Launchpad · SAP BTP cockpit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53299" y="4217550"/>
            <a:ext cx="1189672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475E75"/>
                </a:solidFill>
                <a:latin typeface="72 Brand"/>
              </a:rPr>
              <a:t>AI·Data 사용 Governance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30597" y="4722733"/>
            <a:ext cx="4698325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1" i="0">
                <a:solidFill>
                  <a:srgbClr val="1B90FF"/>
                </a:solidFill>
                <a:latin typeface="72 Brand Medium"/>
              </a:rPr>
              <a:t>TCO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(CSP + S/4 연동 개발·운영) &gt;</a:t>
            </a:r>
            <a:r>
              <a:rPr sz="1739" b="1" i="0">
                <a:solidFill>
                  <a:srgbClr val="1B90FF"/>
                </a:solidFill>
                <a:latin typeface="72 Brand Medium"/>
              </a:rPr>
              <a:t>TCO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(SAP BTP)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429708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Operations &amp; OPEX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1458" y="1254918"/>
            <a:ext cx="5359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5766" y="1254918"/>
            <a:ext cx="6179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Azure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17418" y="1308258"/>
            <a:ext cx="150887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FFFFFF"/>
                </a:solidFill>
                <a:latin typeface="72 Brand Medium"/>
              </a:rPr>
              <a:t>운영 시 추가로 필요한 작업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9389" y="1254918"/>
            <a:ext cx="89749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SAP BTP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642" y="1864518"/>
            <a:ext cx="397311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87" y="1952148"/>
            <a:ext cx="429220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2395" y="1849278"/>
            <a:ext cx="77414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AWS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1549" y="1978818"/>
            <a:ext cx="975836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475E75"/>
                </a:solidFill>
                <a:latin typeface="72 Brand"/>
              </a:rPr>
              <a:t>Service별 지원·운영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23610" y="1849278"/>
            <a:ext cx="82224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Azure 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46815" y="1978818"/>
            <a:ext cx="975836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475E75"/>
                </a:solidFill>
                <a:latin typeface="72 Brand"/>
              </a:rPr>
              <a:t>Service별 지원·운영 도구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8986" y="1865233"/>
            <a:ext cx="1185624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C65B00"/>
                </a:solidFill>
                <a:latin typeface="72 Brand Medium"/>
              </a:rPr>
              <a:t>AI·App·S/4 Issue 통합 대응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4328" y="1987153"/>
            <a:ext cx="1434941" cy="1600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5B738B"/>
                </a:solidFill>
                <a:latin typeface="72 Brand"/>
              </a:rPr>
              <a:t>장애 원인·책임 범위·재처리 흐름을 직접 정리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0816" y="1821060"/>
            <a:ext cx="9147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B90FF"/>
                </a:solidFill>
                <a:latin typeface="72 Brand Medium"/>
              </a:rPr>
              <a:t>One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1863" y="1988700"/>
            <a:ext cx="131266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475E75"/>
                </a:solidFill>
                <a:latin typeface="72 Brand"/>
              </a:rPr>
              <a:t>App·통합·Platform 운영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1875" y="2474118"/>
            <a:ext cx="466844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Standard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3903" y="2561748"/>
            <a:ext cx="402907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5462" y="2458878"/>
            <a:ext cx="122789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Cloud Service Updates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1549" y="2588418"/>
            <a:ext cx="975836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475E75"/>
                </a:solidFill>
                <a:latin typeface="72 Brand"/>
              </a:rPr>
              <a:t>Service별 변경 공지·검증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3585" y="2458878"/>
            <a:ext cx="122217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Azure Service Updates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46815" y="2588418"/>
            <a:ext cx="975836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475E75"/>
                </a:solidFill>
                <a:latin typeface="72 Brand"/>
              </a:rPr>
              <a:t>Service별 변경 공지·검증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7557" y="2474833"/>
            <a:ext cx="1188600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C65B00"/>
                </a:solidFill>
                <a:latin typeface="72 Brand Medium"/>
              </a:rPr>
              <a:t>표준·Version 변경 영향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1361" y="2596753"/>
            <a:ext cx="1280874" cy="1600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5B738B"/>
                </a:solidFill>
                <a:latin typeface="72 Brand"/>
              </a:rPr>
              <a:t>AI·연동·배포 설정을 업무 App별로 점검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2800" y="2430660"/>
            <a:ext cx="155078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B90FF"/>
                </a:solidFill>
                <a:latin typeface="72 Brand Medium"/>
              </a:rPr>
              <a:t>Reference 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9367" y="2598300"/>
            <a:ext cx="123753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475E75"/>
                </a:solidFill>
                <a:latin typeface="72 Brand"/>
              </a:rPr>
              <a:t>표준 변경·Version 관리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2109" y="3083718"/>
            <a:ext cx="546496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S/4 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833" y="3171348"/>
            <a:ext cx="38492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Impact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42730" y="3068478"/>
            <a:ext cx="113335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API Monitoring Tools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55601" y="3198018"/>
            <a:ext cx="907732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475E75"/>
                </a:solidFill>
                <a:latin typeface="72 Brand"/>
              </a:rPr>
              <a:t>연계 오류·Log 개별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32979" y="3068478"/>
            <a:ext cx="140338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API Management · Monitor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80867" y="3198018"/>
            <a:ext cx="907732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475E75"/>
                </a:solidFill>
                <a:latin typeface="72 Brand"/>
              </a:rPr>
              <a:t>연계 오류·Log 개별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4224" y="3084433"/>
            <a:ext cx="1195268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C65B00"/>
                </a:solidFill>
                <a:latin typeface="72 Brand Medium"/>
              </a:rPr>
              <a:t>S/4 API·Data 변경 영향 분석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67650" y="3206353"/>
            <a:ext cx="1608415" cy="1600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5B738B"/>
                </a:solidFill>
                <a:latin typeface="72 Brand"/>
              </a:rPr>
              <a:t>AI·Knowledge·업무 App의 영향과 Test 직접 관리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4917" y="3040260"/>
            <a:ext cx="196643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B90FF"/>
                </a:solidFill>
                <a:latin typeface="72 Brand Medium"/>
              </a:rPr>
              <a:t>Destination · Integration Suite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96876" y="3207900"/>
            <a:ext cx="110263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475E75"/>
                </a:solidFill>
                <a:latin typeface="72 Brand"/>
              </a:rPr>
              <a:t>SAP 연결·변경 영향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377" y="3693318"/>
            <a:ext cx="441960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AI &amp; 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6395" y="3780948"/>
            <a:ext cx="537924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Operations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61767" y="3678078"/>
            <a:ext cx="129528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CloudWatch · CloudTrail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44159" y="3807618"/>
            <a:ext cx="1130498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475E75"/>
                </a:solidFill>
                <a:latin typeface="72 Brand"/>
              </a:rPr>
              <a:t>Infrastructure·감사 Log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93939" y="3678078"/>
            <a:ext cx="128158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Azure Monitor · Purview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69424" y="3807618"/>
            <a:ext cx="1130498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475E75"/>
                </a:solidFill>
                <a:latin typeface="72 Brand"/>
              </a:rPr>
              <a:t>Infrastructure·감사 Log 관리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1726" y="3694033"/>
            <a:ext cx="1160145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C65B00"/>
                </a:solidFill>
                <a:latin typeface="72 Brand Medium"/>
              </a:rPr>
              <a:t>AI·App·배포 이력 통합 관리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1352" y="3815953"/>
            <a:ext cx="1421010" cy="1600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5B738B"/>
                </a:solidFill>
                <a:latin typeface="72 Brand"/>
              </a:rPr>
              <a:t>Model·Prompt·권한·배포 변경을 별도 운영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8574" y="3649860"/>
            <a:ext cx="249912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B90FF"/>
                </a:solidFill>
                <a:latin typeface="72 Brand Medium"/>
              </a:rPr>
              <a:t>SAP AI Launchpad · Kyma · SAP Build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46763" y="3817500"/>
            <a:ext cx="100274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475E75"/>
                </a:solidFill>
                <a:latin typeface="72 Brand"/>
              </a:rPr>
              <a:t>AI·App·배포 통합 운영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1531" y="4440793"/>
            <a:ext cx="49965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1" i="0">
                <a:solidFill>
                  <a:srgbClr val="1B90FF"/>
                </a:solidFill>
                <a:latin typeface="72 Brand Medium"/>
              </a:rPr>
              <a:t>OPEX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(CSP + S/4·LoB 연동 운영) &gt;</a:t>
            </a:r>
            <a:r>
              <a:rPr sz="1739" b="1" i="0">
                <a:solidFill>
                  <a:srgbClr val="1B90FF"/>
                </a:solidFill>
                <a:latin typeface="72 Brand Medium"/>
              </a:rPr>
              <a:t>OPEX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(SAP BTP)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26820"/>
            <a:ext cx="4892397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366772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조직의 문제에서 SCM 실행과 Business Value까지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952500"/>
            <a:ext cx="314265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48740"/>
            <a:ext cx="168390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1744980"/>
            <a:ext cx="196250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2141220"/>
            <a:ext cx="222611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55102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Business Context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80409" y="1007268"/>
            <a:ext cx="195310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65D78"/>
                </a:solidFill>
                <a:latin typeface="72 Brand"/>
              </a:rPr>
              <a:t>BUSINESS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4704" y="1319688"/>
            <a:ext cx="370439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A6ED1"/>
                </a:solidFill>
                <a:latin typeface="72 Brand"/>
              </a:rPr>
              <a:t>원가 경쟁력</a:t>
            </a:r>
            <a:r>
              <a:rPr sz="780" b="1" i="0">
                <a:solidFill>
                  <a:srgbClr val="0A6ED1"/>
                </a:solidFill>
                <a:latin typeface="72 Brand"/>
              </a:rPr>
              <a:t>운영 안정성</a:t>
            </a:r>
            <a:r>
              <a:rPr sz="780" b="1" i="0">
                <a:solidFill>
                  <a:srgbClr val="0A6ED1"/>
                </a:solidFill>
                <a:latin typeface="72 Brand"/>
              </a:rPr>
              <a:t>고객 가치</a:t>
            </a:r>
            <a:r>
              <a:rPr sz="780" b="1" i="0">
                <a:solidFill>
                  <a:srgbClr val="0A6ED1"/>
                </a:solidFill>
                <a:latin typeface="72 Brand"/>
              </a:rPr>
              <a:t>기술 · 지속가능 Leadership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" y="1778436"/>
            <a:ext cx="99095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"/>
              </a:rPr>
              <a:t>Organizational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" y="1968936"/>
            <a:ext cx="88820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"/>
              </a:rPr>
              <a:t>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6289" y="1636871"/>
            <a:ext cx="55590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315F7C"/>
                </a:solidFill>
                <a:latin typeface="72 Brand"/>
              </a:rPr>
              <a:t>영업 · 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3745" y="1769149"/>
            <a:ext cx="126111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315F7C"/>
                </a:solidFill>
                <a:latin typeface="72 Brand"/>
              </a:rPr>
              <a:t>Demand Forecast · 수주 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94890" y="1636871"/>
            <a:ext cx="72413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315F7C"/>
                </a:solidFill>
                <a:latin typeface="72 Brand"/>
              </a:rPr>
              <a:t>구매 · 공급계획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7725" y="1769149"/>
            <a:ext cx="107846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315F7C"/>
                </a:solidFill>
                <a:latin typeface="72 Brand"/>
              </a:rPr>
              <a:t>공급 연속성 · 협력사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1609" y="1636871"/>
            <a:ext cx="55590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315F7C"/>
                </a:solidFill>
                <a:latin typeface="72 Brand"/>
              </a:rPr>
              <a:t>생산 · 품질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6197" y="1769149"/>
            <a:ext cx="142672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315F7C"/>
                </a:solidFill>
                <a:latin typeface="72 Brand"/>
              </a:rPr>
              <a:t>Production Capacity · 품질 Issue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45221" y="1636871"/>
            <a:ext cx="55399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315F7C"/>
                </a:solidFill>
                <a:latin typeface="72 Brand"/>
              </a:rPr>
              <a:t>SCM · 고객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7580" y="1769149"/>
            <a:ext cx="90928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315F7C"/>
                </a:solidFill>
                <a:latin typeface="72 Brand"/>
              </a:rPr>
              <a:t>납기 준수 · 물류 예외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2230" y="2041326"/>
            <a:ext cx="72413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315F7C"/>
                </a:solidFill>
                <a:latin typeface="72 Brand"/>
              </a:rPr>
              <a:t>재무 · 경영관리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2469" y="2173605"/>
            <a:ext cx="72354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315F7C"/>
                </a:solidFill>
                <a:latin typeface="72 Brand"/>
              </a:rPr>
              <a:t>원가 · 손익 변동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8358" y="2041326"/>
            <a:ext cx="4770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315F7C"/>
                </a:solidFill>
                <a:latin typeface="72 Brand"/>
              </a:rPr>
              <a:t>IT ·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9265" y="2173605"/>
            <a:ext cx="121527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315F7C"/>
                </a:solidFill>
                <a:latin typeface="72 Brand"/>
              </a:rPr>
              <a:t>System 가용성 · Data 신뢰성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" y="2577584"/>
            <a:ext cx="44636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"/>
              </a:rPr>
              <a:t>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" y="2768084"/>
            <a:ext cx="70234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"/>
              </a:rPr>
              <a:t>Execution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8552" y="2445781"/>
            <a:ext cx="53137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426F88"/>
                </a:solidFill>
                <a:latin typeface="72 Brand"/>
              </a:rPr>
              <a:t>영업 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6745" y="2573178"/>
            <a:ext cx="87510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426F88"/>
                </a:solidFill>
                <a:latin typeface="72 Brand"/>
              </a:rPr>
              <a:t>수주 변동 · 고객 요청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10607" y="2445781"/>
            <a:ext cx="69258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426F88"/>
                </a:solidFill>
                <a:latin typeface="72 Brand"/>
              </a:rPr>
              <a:t>수요계획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28930" y="2573178"/>
            <a:ext cx="85605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426F88"/>
                </a:solidFill>
                <a:latin typeface="72 Brand"/>
              </a:rPr>
              <a:t>Forecast · 수요 조정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3267" y="2445781"/>
            <a:ext cx="69258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426F88"/>
                </a:solidFill>
                <a:latin typeface="72 Brand"/>
              </a:rPr>
              <a:t>생산계획 Team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74912" y="2573178"/>
            <a:ext cx="102929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426F88"/>
                </a:solidFill>
                <a:latin typeface="72 Brand"/>
              </a:rPr>
              <a:t>계획 변경 · 생산 우선순위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56532" y="2445781"/>
            <a:ext cx="53137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426F88"/>
                </a:solidFill>
                <a:latin typeface="72 Brand"/>
              </a:rPr>
              <a:t>구매 Team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84725" y="2573178"/>
            <a:ext cx="87510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426F88"/>
                </a:solidFill>
                <a:latin typeface="72 Brand"/>
              </a:rPr>
              <a:t>지연 자재 · 긴급 발주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77947" y="2840474"/>
            <a:ext cx="69258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426F88"/>
                </a:solidFill>
                <a:latin typeface="72 Brand"/>
              </a:rPr>
              <a:t>품질관리 Team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3172" y="2967870"/>
            <a:ext cx="90225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426F88"/>
                </a:solidFill>
                <a:latin typeface="72 Brand"/>
              </a:rPr>
              <a:t>품질 Issue · 시정 조치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2163" y="2840474"/>
            <a:ext cx="54947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426F88"/>
                </a:solidFill>
                <a:latin typeface="72 Brand"/>
              </a:rPr>
              <a:t>SCM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9405" y="2967870"/>
            <a:ext cx="87510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426F88"/>
                </a:solidFill>
                <a:latin typeface="72 Brand"/>
              </a:rPr>
              <a:t>재고 부족 · 물류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3267" y="2840474"/>
            <a:ext cx="69258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426F88"/>
                </a:solidFill>
                <a:latin typeface="72 Brand"/>
              </a:rPr>
              <a:t>영업관리 Team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6822" y="2967870"/>
            <a:ext cx="94559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426F88"/>
                </a:solidFill>
                <a:latin typeface="72 Brand"/>
              </a:rPr>
              <a:t>Order 반영 · 납기 회신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91524" y="2840474"/>
            <a:ext cx="66139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426F88"/>
                </a:solidFill>
                <a:latin typeface="72 Brand"/>
              </a:rPr>
              <a:t>IT·Data Team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85784" y="2967870"/>
            <a:ext cx="107287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426F88"/>
                </a:solidFill>
                <a:latin typeface="72 Brand"/>
              </a:rPr>
              <a:t>Data 오류 · Interface 대응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89496" y="3296126"/>
            <a:ext cx="103036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동일한 전사 KPI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97943" y="3265646"/>
            <a:ext cx="422636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3647C"/>
                </a:solidFill>
                <a:latin typeface="72 Brand"/>
              </a:rPr>
              <a:t>를 조직과 Team은 각자의 Data·업무 상태·우선순위 관점에서 다르게 판단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66623" y="3570446"/>
            <a:ext cx="158067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B9512B"/>
                </a:solidFill>
                <a:latin typeface="72 Brand"/>
              </a:rPr>
              <a:t>BUSINESS CHALLENGES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8180" y="4224813"/>
            <a:ext cx="1389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Business Challenges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74575" y="3844766"/>
            <a:ext cx="478083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6C3826"/>
                </a:solidFill>
                <a:latin typeface="72 Brand"/>
              </a:rPr>
              <a:t>조직·Team별 Data와 Business Context가 분리되어, 동일 KPI에 대한 전체 최적화 판단과 협업이 어려움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74575" y="4112895"/>
            <a:ext cx="435947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6C3826"/>
                </a:solidFill>
                <a:latin typeface="72 Brand"/>
              </a:rPr>
              <a:t>수요·공급·생산·물류의 변동 발생 시, 영향 범위와 우선순위를 사람이 수작업으로 재확인해야 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74575" y="4381023"/>
            <a:ext cx="421052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6C3826"/>
                </a:solidFill>
                <a:latin typeface="72 Brand"/>
              </a:rPr>
              <a:t>요청·처리 이력이 개인과 System에 분산되어, 반복 업무의 기준과 전문성이 재활용되지 못함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74575" y="4649152"/>
            <a:ext cx="478905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6C3826"/>
                </a:solidFill>
                <a:latin typeface="72 Brand"/>
              </a:rPr>
              <a:t>업무 변화에 따른 App·업무 Logic 수정이 IT 개발 요청과 배포 절차에 의존하여 대응 Lead Time이 길어짐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12900" y="4970621"/>
            <a:ext cx="20879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1B90FF"/>
                </a:solidFill>
                <a:latin typeface="72 Brand"/>
              </a:rPr>
              <a:t>AUTONOMOUS OPERATIONS 방식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8180" y="5391864"/>
            <a:ext cx="93011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Autonomous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8180" y="5589984"/>
            <a:ext cx="116907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Operating Model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74575" y="5244941"/>
            <a:ext cx="390286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"/>
              </a:rPr>
              <a:t>Team별 Wiki를 중심으로 KPI·업무 상태·요청 이력을 연결하는 Agent 기반 협업 구조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74575" y="5513070"/>
            <a:ext cx="43729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"/>
              </a:rPr>
              <a:t>Team별 App Builder AI Coding으로 업무 변화에 맞춰 App을 보완·배포하고 개발 비용을 절감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74575" y="5781198"/>
            <a:ext cx="548163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"/>
              </a:rPr>
              <a:t>Team별 Harness 구조로 분석·업무 지시·결과 Wiki 저장을 연결하고, 업무 이력의 Lifecycle을 사내 Knowledge로 축적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307062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Shared AI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2411372"/>
            <a:ext cx="87260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Team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2609492"/>
            <a:ext cx="121372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Wiki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2836783"/>
            <a:ext cx="172807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75E75"/>
                </a:solidFill>
                <a:latin typeface="72 Brand"/>
              </a:rPr>
              <a:t>Team KPI · SOP · Business Issue 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2965489"/>
            <a:ext cx="134540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75E75"/>
                </a:solidFill>
                <a:latin typeface="72 Brand"/>
              </a:rPr>
              <a:t>Meeting 등 Team 관리 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3574256"/>
            <a:ext cx="1106685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Enterprise Knowledge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" y="3772376"/>
            <a:ext cx="202977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HANA Knowledge 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60" y="3999666"/>
            <a:ext cx="122991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75E75"/>
                </a:solidFill>
                <a:latin typeface="72 Brand"/>
              </a:rPr>
              <a:t>Compliance · IT · HR 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" y="4128373"/>
            <a:ext cx="138588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75E75"/>
                </a:solidFill>
                <a:latin typeface="72 Brand"/>
              </a:rPr>
              <a:t>전사 정보를 Ontology로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6367" y="3117056"/>
            <a:ext cx="446603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업무 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36669" y="2952273"/>
            <a:ext cx="840343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User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5551" y="3165633"/>
            <a:ext cx="158257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1B90FF"/>
                </a:solidFill>
                <a:latin typeface="72 Brand Medium"/>
              </a:rPr>
              <a:t>Live 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7942" y="3458765"/>
            <a:ext cx="141767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75E75"/>
                </a:solidFill>
                <a:latin typeface="72 Brand"/>
              </a:rPr>
              <a:t>현업의 질문과 업무 지시를 받는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4065" y="3587472"/>
            <a:ext cx="60543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75E75"/>
                </a:solidFill>
                <a:latin typeface="72 Brand"/>
              </a:rPr>
              <a:t>하나의 창구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35051" y="3117056"/>
            <a:ext cx="518160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분석 · 지시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591" y="1441608"/>
            <a:ext cx="1231463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Analysis &amp; 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6591" y="1639728"/>
            <a:ext cx="15256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Harness Assistant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6591" y="1867019"/>
            <a:ext cx="84308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75E75"/>
                </a:solidFill>
                <a:latin typeface="72 Brand"/>
              </a:rPr>
              <a:t>분석 및 업무 지시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26591" y="1995725"/>
            <a:ext cx="143422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75E75"/>
                </a:solidFill>
                <a:latin typeface="72 Brand"/>
              </a:rPr>
              <a:t>Non-SAP 업무 Interface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6591" y="2604492"/>
            <a:ext cx="1094303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Workflow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6591" y="2802612"/>
            <a:ext cx="117359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n8n Assistant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6591" y="3029902"/>
            <a:ext cx="81545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75E75"/>
                </a:solidFill>
                <a:latin typeface="72 Brand"/>
              </a:rPr>
              <a:t>업무 자동화 실행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6591" y="3638669"/>
            <a:ext cx="1524000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App Development &amp; Operations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6591" y="3836789"/>
            <a:ext cx="17990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App Builder 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26591" y="4064079"/>
            <a:ext cx="102417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75E75"/>
                </a:solidFill>
                <a:latin typeface="72 Brand"/>
              </a:rPr>
              <a:t>업무 App 운영 · 개발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6591" y="4672845"/>
            <a:ext cx="824507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39779D"/>
                </a:solidFill>
                <a:latin typeface="72 Brand"/>
              </a:rPr>
              <a:t>SAP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26591" y="4870965"/>
            <a:ext cx="13056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Joule Assistant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6591" y="5098256"/>
            <a:ext cx="9877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75E75"/>
                </a:solidFill>
                <a:latin typeface="72 Brand"/>
              </a:rPr>
              <a:t>SAP 업무 Interface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52880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Cross-Team Operating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104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영업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7340" y="14644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생산관리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6602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구매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104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영업관리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7340" y="3247548"/>
            <a:ext cx="106060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SCM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602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경영관리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5183505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Autonomous SCM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95888"/>
            <a:ext cx="64138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 Medium"/>
              </a:rPr>
              <a:t>Demo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7348"/>
            <a:ext cx="25098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72 Brand Medium"/>
              </a:rPr>
              <a:t>Inbound Process Adaptation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80748"/>
            <a:ext cx="18010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B90FF"/>
                </a:solidFill>
                <a:latin typeface="72 Brand Medium"/>
              </a:rPr>
              <a:t>App Builder Agent · 입고 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00788"/>
            <a:ext cx="255210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65775"/>
                </a:solidFill>
                <a:latin typeface="72 Brand"/>
              </a:rPr>
              <a:t>납품서·ASN 양식 변경에 따른 입고 App 변경·배포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09448"/>
            <a:ext cx="128254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OCR 실패 · 양식 변경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476148"/>
            <a:ext cx="106215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입고 담당자 변경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742848"/>
            <a:ext cx="152661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App Builder로 처리 Logic 수정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09548"/>
            <a:ext cx="80867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검증 · 운영 배포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76248"/>
            <a:ext cx="102655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기준 수정 · 입고 반영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8055" y="4451508"/>
            <a:ext cx="525065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286B92"/>
                </a:solidFill>
                <a:latin typeface="72 Brand Medium"/>
              </a:rPr>
              <a:t>입고 처리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6040" y="1395888"/>
            <a:ext cx="64138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 Medium"/>
              </a:rPr>
              <a:t>Demo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6040" y="1647348"/>
            <a:ext cx="220872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72 Brand Medium"/>
              </a:rPr>
              <a:t>SCM Exception Handling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6040" y="2180748"/>
            <a:ext cx="135481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B90FF"/>
                </a:solidFill>
                <a:latin typeface="72 Brand Medium"/>
              </a:rPr>
              <a:t>Wiki Agent · 공급 예외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6040" y="2500788"/>
            <a:ext cx="289048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65775"/>
                </a:solidFill>
                <a:latin typeface="72 Brand"/>
              </a:rPr>
              <a:t>업무 지식·이력 기반 입고 지연·재고 부족·납기 Risk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4640" y="3209448"/>
            <a:ext cx="124444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입고 지연 · 재고 부족 문의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4640" y="3476148"/>
            <a:ext cx="157603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Wiki에서 SOP · 과거 Ticket 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4640" y="3742848"/>
            <a:ext cx="14833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S/4 재고 · 발주 · 납기 현황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4640" y="4009548"/>
            <a:ext cx="143541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대체 공급 · 출하 우선순위 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44640" y="4276248"/>
            <a:ext cx="133992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담당자 대응 지시 · 결과 기록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4334" y="4451508"/>
            <a:ext cx="743426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286B92"/>
                </a:solidFill>
                <a:latin typeface="72 Brand Medium"/>
              </a:rPr>
              <a:t>공급 예외 대응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0680" y="1395888"/>
            <a:ext cx="64138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 Medium"/>
              </a:rPr>
              <a:t>Demo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0680" y="1647348"/>
            <a:ext cx="288869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72 Brand Medium"/>
              </a:rPr>
              <a:t>Demand-to-Supply Orchestration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0680" y="2180748"/>
            <a:ext cx="186297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B90FF"/>
                </a:solidFill>
                <a:latin typeface="72 Brand Medium"/>
              </a:rPr>
              <a:t>Harness Agent · 수요·납기 변동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0680" y="2500788"/>
            <a:ext cx="262925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65775"/>
                </a:solidFill>
                <a:latin typeface="72 Brand"/>
              </a:rPr>
              <a:t>수요·납기 변경의 생산·구매·물류 영향 분석 → 실행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9280" y="3209448"/>
            <a:ext cx="124444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고객 수요 · 납기 변경 접수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9280" y="3476148"/>
            <a:ext cx="212371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Production Capacity · 재고 · 공급 Risk 분석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9280" y="3742848"/>
            <a:ext cx="15821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영업 · 생산 · 구매 · 물류 영향 종합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9280" y="4009548"/>
            <a:ext cx="135671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부서별 작업 지시 · Wiki 기록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9280" y="4276248"/>
            <a:ext cx="141553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0000"/>
                </a:solidFill>
                <a:latin typeface="72 Brand Medium"/>
              </a:rPr>
              <a:t>반복 Issue App Builder 개선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12886" y="4451508"/>
            <a:ext cx="869394" cy="167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286B92"/>
                </a:solidFill>
                <a:latin typeface="72 Brand Medium"/>
              </a:rPr>
              <a:t>부서 간 업무 조율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3368040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8810" y="1969174"/>
            <a:ext cx="91892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1" i="0">
                <a:solidFill>
                  <a:srgbClr val="7858FF"/>
                </a:solidFill>
                <a:latin typeface="72 Bran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8810" y="2235874"/>
            <a:ext cx="220087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39" b="0" i="0">
                <a:solidFill>
                  <a:srgbClr val="000000"/>
                </a:solidFill>
                <a:latin typeface="72 Brand Medium"/>
              </a:rPr>
              <a:t>Manual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8810" y="2617470"/>
            <a:ext cx="3868221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System별 조회 · 수작업 근거 수집 · 담당자별 업무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8810" y="2871549"/>
            <a:ext cx="444460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전달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8810" y="3567588"/>
            <a:ext cx="2779871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39" b="0" i="0">
                <a:solidFill>
                  <a:srgbClr val="7858FF"/>
                </a:solidFill>
                <a:latin typeface="72 Brand Medium"/>
              </a:rPr>
              <a:t>Autonomous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8810" y="3949184"/>
            <a:ext cx="3991689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Agent의 Business Context 연결 · 허용된 작업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8810" y="4248983"/>
            <a:ext cx="226123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7858FF"/>
                </a:solidFill>
                <a:latin typeface="72 Brand Medium"/>
              </a:rPr>
              <a:t>사람은 예외·핵심 판단에 집중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503068"/>
            <a:ext cx="107108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0F2"/>
                </a:solidFill>
                <a:latin typeface="72 Brand"/>
              </a:rPr>
              <a:t>Business Outcomes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9746" y="5464968"/>
            <a:ext cx="1048583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처리 시간 단축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3129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수작업 조율 감소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649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일관된 업무 실행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0169" y="5464968"/>
            <a:ext cx="1045725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AI 역량 재사용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