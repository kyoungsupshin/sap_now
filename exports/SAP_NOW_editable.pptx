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BAIP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App Builder · Harness · Live Assistant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BAIP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BAIP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BAIP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BAIP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SAP BAIP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 · SCM Team 확대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Why SAP BAIP + Harness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video" Target="../media/media1.mp4"/><Relationship Id="rId4" Type="http://schemas.microsoft.com/office/2007/relationships/media" Target="../media/media1.mp4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notesSlide" Target="../notesSlides/notesSlide2.xml"/><Relationship Id="rId10" Type="http://schemas.microsoft.com/office/2007/relationships/media" Target="../media/media5.mp4"/><Relationship Id="rId11" Type="http://schemas.openxmlformats.org/officeDocument/2006/relationships/video" Target="../media/media5.mp4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microsoft.com/office/2007/relationships/media" Target="../media/media7.mp4"/><Relationship Id="rId15" Type="http://schemas.openxmlformats.org/officeDocument/2006/relationships/video" Target="../media/media7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age16-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8.jp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9.jpg"/><Relationship Id="rId4" Type="http://schemas.microsoft.com/office/2007/relationships/media" Target="../media/media3.mp4"/><Relationship Id="rId5" Type="http://schemas.openxmlformats.org/officeDocument/2006/relationships/video" Target="../media/media3.mp4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0.jpg"/><Relationship Id="rId4" Type="http://schemas.microsoft.com/office/2007/relationships/media" Target="../media/media4.mp4"/><Relationship Id="rId5" Type="http://schemas.openxmlformats.org/officeDocument/2006/relationships/video" Target="../media/media4.mp4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"/>
            <a:ext cx="1600200" cy="535066"/>
          </a:xfrm>
          <a:prstGeom prst="rect">
            <a:avLst/>
          </a:prstGeom>
        </p:spPr>
      </p:pic>
      <p:pic>
        <p:nvPicPr>
          <p:cNvPr id="3" name="Picture 2" descr="01-med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0" y="0"/>
            <a:ext cx="6217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598420"/>
            <a:ext cx="5054560" cy="701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7" sz="3473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57205"/>
            <a:ext cx="3146821" cy="487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304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Agent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05300"/>
            <a:ext cx="13493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7" name="Rounded Rectangle 16"/>
          <p:cNvSpPr/>
          <p:nvPr/>
        </p:nvSpPr>
        <p:spPr>
          <a:xfrm>
            <a:off x="85344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5696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344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5696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719" y="1525190"/>
            <a:ext cx="446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80" y="1741170"/>
            <a:ext cx="8384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1335" y="1525190"/>
            <a:ext cx="43064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7866" y="1741170"/>
            <a:ext cx="69770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38" y="4993600"/>
            <a:ext cx="76140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5500" y="4885610"/>
            <a:ext cx="46231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66683" y="5101590"/>
            <a:ext cx="57995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Agent</a:t>
            </a:r>
          </a:p>
        </p:txBody>
      </p:sp>
      <p:pic>
        <p:nvPicPr>
          <p:cNvPr id="18" name="Picture 17" descr="live-assistant-native.m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19" name="live-assistant-n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20" name="Picture 19" descr="app-builder-chat-native-v2.m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1" name="app-builder-chat-native-v2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2" name="Picture 21" descr="harness-research-native-v2.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3" name="harness-research-native-v2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4" name="Picture 23" descr="wiki-query-kpi-native.mp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  <p:pic>
        <p:nvPicPr>
          <p:cNvPr id="25" name="wiki-query-kpi-native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 repeatCount="indefinite">
                  <p:stCondLst>
                    <p:cond delay="0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" fill="hold" display="0" repeatCount="indefinite">
                  <p:stCondLst>
                    <p:cond delay="0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5" fill="hold" display="0" repeatCount="indefinite">
                  <p:stCondLst>
                    <p:cond delay="0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87" y="0"/>
            <a:ext cx="40599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41840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480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84245"/>
            <a:ext cx="534947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965245"/>
            <a:ext cx="261437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60545"/>
            <a:ext cx="2594014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841545"/>
            <a:ext cx="28291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006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336845"/>
            <a:ext cx="31875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717845"/>
            <a:ext cx="31503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69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13145"/>
            <a:ext cx="335041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594145"/>
            <a:ext cx="33717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9680"/>
            <a:ext cx="6288643" cy="556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7" sz="2694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5060"/>
            <a:ext cx="5852160" cy="37337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189446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538525"/>
            <a:ext cx="90689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12845"/>
            <a:ext cx="252352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201465"/>
            <a:ext cx="3718202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36068"/>
            <a:ext cx="101572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110388"/>
            <a:ext cx="281832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499008"/>
            <a:ext cx="3184207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133611"/>
            <a:ext cx="8328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07931"/>
            <a:ext cx="244983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796551"/>
            <a:ext cx="2571154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8897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375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1980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75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375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58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5063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58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458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541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541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41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27045"/>
            <a:ext cx="6649283" cy="2133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360818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3203" y="1689139"/>
            <a:ext cx="14298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3203" y="1993939"/>
            <a:ext cx="3619023" cy="3733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1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3203" y="2422088"/>
            <a:ext cx="26174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3763565"/>
            <a:ext cx="246637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4037885"/>
            <a:ext cx="248542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770" y="3763565"/>
            <a:ext cx="166663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770" y="4068365"/>
            <a:ext cx="209252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63565"/>
            <a:ext cx="208645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068365"/>
            <a:ext cx="22621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5430" y="3763565"/>
            <a:ext cx="171735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5430" y="4068365"/>
            <a:ext cx="2472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4685"/>
            <a:ext cx="7772400" cy="46487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494561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936789"/>
            <a:ext cx="320242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565320"/>
            <a:ext cx="2529482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53940"/>
            <a:ext cx="23296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57349"/>
            <a:ext cx="256567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945969"/>
            <a:ext cx="319778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4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526518"/>
            <a:ext cx="225968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915138"/>
            <a:ext cx="3199566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8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895"/>
            <a:ext cx="5665112" cy="361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282130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122646"/>
            <a:ext cx="102310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435066"/>
            <a:ext cx="4053363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1" sz="2447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3019425"/>
            <a:ext cx="127444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3019425"/>
            <a:ext cx="92880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461385"/>
            <a:ext cx="83879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461385"/>
            <a:ext cx="56137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903345"/>
            <a:ext cx="883324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903345"/>
            <a:ext cx="91178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2621"/>
            <a:ext cx="7426880" cy="3962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04019" y="624840"/>
            <a:ext cx="515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580"/>
            <a:ext cx="367998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066085"/>
            <a:ext cx="56546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744265"/>
            <a:ext cx="755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1995725"/>
            <a:ext cx="139946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304216"/>
            <a:ext cx="21228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2923103"/>
            <a:ext cx="12477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174563"/>
            <a:ext cx="227909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3483054"/>
            <a:ext cx="2259091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101941"/>
            <a:ext cx="15085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353401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4661892"/>
            <a:ext cx="275224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280779"/>
            <a:ext cx="130671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532239"/>
            <a:ext cx="134112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380" y="5840730"/>
            <a:ext cx="275355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1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5921"/>
            <a:ext cx="7426880" cy="449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775835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066085"/>
            <a:ext cx="434554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1744265"/>
            <a:ext cx="14157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995725"/>
            <a:ext cx="95416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2304216"/>
            <a:ext cx="162258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923103"/>
            <a:ext cx="1661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3174563"/>
            <a:ext cx="95190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483054"/>
            <a:ext cx="287940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4101941"/>
            <a:ext cx="17778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353401"/>
            <a:ext cx="145589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661892"/>
            <a:ext cx="250031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5280779"/>
            <a:ext cx="14277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532239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840730"/>
            <a:ext cx="19954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434042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525172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273" y="2891551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10" y="3196351"/>
            <a:ext cx="9577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461" y="3546871"/>
            <a:ext cx="11382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2418" y="3064787"/>
            <a:ext cx="14929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9785" y="3339107"/>
            <a:ext cx="171831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16605"/>
            <a:ext cx="1007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352317"/>
            <a:ext cx="12118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592228"/>
            <a:ext cx="15010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352317"/>
            <a:ext cx="13941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59222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59222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59222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42585"/>
            <a:ext cx="8045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01157"/>
            <a:ext cx="1268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410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2523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037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51308"/>
            <a:ext cx="174117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41068"/>
            <a:ext cx="17240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4106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3135"/>
            <a:ext cx="15491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76500" y="5932170"/>
            <a:ext cx="19415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500" y="6096000"/>
            <a:ext cx="2968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5180" y="5932170"/>
            <a:ext cx="19030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5180" y="6096000"/>
            <a:ext cx="292286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632698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" y="2842498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94" y="3147298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845" y="3497818"/>
            <a:ext cx="10933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083" y="3649265"/>
            <a:ext cx="320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368" y="3027164"/>
            <a:ext cx="7591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9306" y="3293864"/>
            <a:ext cx="175914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 거래처의 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67" y="3454955"/>
            <a:ext cx="12313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보류·한도 조정 SOP는?”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146232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7660" y="237517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261508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8850" y="2375177"/>
            <a:ext cx="112918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8850" y="2615088"/>
            <a:ext cx="177426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40040" y="2375177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004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1230" y="237517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123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8140" y="358830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3380" y="4524017"/>
            <a:ext cx="135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3380" y="4763928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69330" y="452401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69330" y="4763928"/>
            <a:ext cx="15791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28029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531756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77166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1230" y="4524017"/>
            <a:ext cx="12008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1230" y="4763928"/>
            <a:ext cx="172438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033135"/>
            <a:ext cx="1594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6500" y="5932170"/>
            <a:ext cx="82915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6500" y="6096000"/>
            <a:ext cx="250900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5180" y="5932170"/>
            <a:ext cx="108144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5180" y="6096000"/>
            <a:ext cx="27971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777609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38236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94" y="3343036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85" y="3693556"/>
            <a:ext cx="1129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7792" y="3209567"/>
            <a:ext cx="12221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3588" y="3483887"/>
            <a:ext cx="181070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2616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1829"/>
            <a:ext cx="174617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2218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0281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57019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94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80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40348"/>
            <a:ext cx="17697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201572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3393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62537"/>
            <a:ext cx="1755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3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90065"/>
            <a:ext cx="17508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713071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2643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55036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970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4729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719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8272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44041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7084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20962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60211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482322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56929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70" y="3361729"/>
            <a:ext cx="1135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1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50" y="3669387"/>
            <a:ext cx="1155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5887" y="3200995"/>
            <a:ext cx="1226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6803" y="3482935"/>
            <a:ext cx="180427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325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65687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8062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348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956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8062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159293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105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3522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7487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2818"/>
            <a:ext cx="170509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27489"/>
            <a:ext cx="17915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543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37729"/>
            <a:ext cx="180260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13896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47297"/>
            <a:ext cx="15138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71968"/>
            <a:ext cx="173724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5066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1968"/>
            <a:ext cx="160710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34175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62775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87446"/>
            <a:ext cx="17533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7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7348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7787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93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17149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7888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347549"/>
            <a:ext cx="1371600" cy="44196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347549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899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759529"/>
            <a:ext cx="13716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6710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710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078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078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1446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1446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7100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7100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53940" y="3132891"/>
            <a:ext cx="1444704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53940" y="3132891"/>
            <a:ext cx="1444704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81524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1524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68364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8364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55204" y="3132891"/>
            <a:ext cx="1083587" cy="1161216"/>
          </a:xfrm>
          <a:prstGeom prst="roundRect">
            <a:avLst>
              <a:gd name="adj" fmla="val 2109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5204" y="3132891"/>
            <a:ext cx="108358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21672" y="3132891"/>
            <a:ext cx="1083587" cy="1161216"/>
          </a:xfrm>
          <a:prstGeom prst="roundRect">
            <a:avLst>
              <a:gd name="adj" fmla="val 2109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21672" y="3132891"/>
            <a:ext cx="108358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67100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7100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31236" y="4850368"/>
            <a:ext cx="1481375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31236" y="4850368"/>
            <a:ext cx="148137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95492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95492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59628" y="4850368"/>
            <a:ext cx="1481375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59628" y="4850368"/>
            <a:ext cx="148137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23884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23884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74131"/>
            <a:ext cx="473273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182" y="3298269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21" y="3633549"/>
            <a:ext cx="11585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4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0879" y="2180629"/>
            <a:ext cx="83796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71925" y="4439959"/>
            <a:ext cx="123586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60" y="1488519"/>
            <a:ext cx="4820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40624" y="1431369"/>
            <a:ext cx="1554241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1880949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2084784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4120" y="1880949"/>
            <a:ext cx="13555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4120" y="2084784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7800" y="1880949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67800" y="21208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60" y="2877621"/>
            <a:ext cx="163591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4458" y="2820471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327005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0440" y="347388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7280" y="3270051"/>
            <a:ext cx="1130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7280" y="347388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4864" y="327005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4864" y="347388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21704" y="327005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1704" y="347388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08544" y="327005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08544" y="347388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75012" y="327005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75012" y="347388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28060" y="4595098"/>
            <a:ext cx="14581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6698" y="4537948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0440" y="4987528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0440" y="5191363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4576" y="4987528"/>
            <a:ext cx="9423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84576" y="519136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48832" y="4987528"/>
            <a:ext cx="11731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48832" y="5191363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12968" y="4987528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12968" y="5191363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77224" y="498752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7224" y="5191363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6033135"/>
            <a:ext cx="18994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52700" y="5932170"/>
            <a:ext cx="9553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52700" y="6096000"/>
            <a:ext cx="211240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93280" y="5932170"/>
            <a:ext cx="116526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93280" y="6096000"/>
            <a:ext cx="225194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603765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7355" y="3401853"/>
            <a:ext cx="10656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4629" y="3668553"/>
            <a:ext cx="87094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993" y="3992284"/>
            <a:ext cx="11462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61385"/>
            <a:ext cx="108894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2049065"/>
            <a:ext cx="1009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292905"/>
            <a:ext cx="167032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505670"/>
            <a:ext cx="164234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3172182"/>
            <a:ext cx="125575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694152"/>
            <a:ext cx="13355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4232314"/>
            <a:ext cx="120896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92805"/>
            <a:ext cx="167628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72865"/>
            <a:ext cx="15844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216705"/>
            <a:ext cx="15890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429470"/>
            <a:ext cx="16872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134439"/>
            <a:ext cx="7898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376969"/>
            <a:ext cx="894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142059"/>
            <a:ext cx="80450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9" sz="123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368159"/>
            <a:ext cx="7573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134439"/>
            <a:ext cx="518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376969"/>
            <a:ext cx="9713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2012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452342"/>
            <a:ext cx="20042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75368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974312"/>
            <a:ext cx="16538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5261371"/>
            <a:ext cx="61305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512474"/>
            <a:ext cx="177581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61385"/>
            <a:ext cx="10267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049065"/>
            <a:ext cx="94833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292905"/>
            <a:ext cx="1454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505670"/>
            <a:ext cx="12996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3172182"/>
            <a:ext cx="148994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694152"/>
            <a:ext cx="13713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4232314"/>
            <a:ext cx="163294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983241"/>
            <a:ext cx="17908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5318521"/>
            <a:ext cx="107584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589150"/>
            <a:ext cx="8404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859780"/>
            <a:ext cx="10165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7575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5352" y="3111103"/>
            <a:ext cx="72949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1548" y="3271123"/>
            <a:ext cx="6372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43" y="3514963"/>
            <a:ext cx="12606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7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72" y="3810119"/>
            <a:ext cx="11002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505670"/>
            <a:ext cx="19134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172182"/>
            <a:ext cx="13987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40589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61385"/>
            <a:ext cx="1606986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505670"/>
            <a:ext cx="1927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172182"/>
            <a:ext cx="145470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705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5096827"/>
            <a:ext cx="210407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292905"/>
            <a:ext cx="16296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505670"/>
            <a:ext cx="19454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172182"/>
            <a:ext cx="182272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7601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544377"/>
            <a:ext cx="1819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34376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408985"/>
            <a:ext cx="10957560" cy="4190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551664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71825"/>
            <a:ext cx="10957560" cy="4114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682561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43317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2610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2610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4097" y="1268015"/>
            <a:ext cx="17630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2610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990" y="1771054"/>
            <a:ext cx="5981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986" y="1759624"/>
            <a:ext cx="864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712" y="1759624"/>
            <a:ext cx="16613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678" y="1698069"/>
            <a:ext cx="16060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8759" y="1888569"/>
            <a:ext cx="14538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864" y="1645205"/>
            <a:ext cx="15164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1618" y="1881425"/>
            <a:ext cx="16368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19" y="2281832"/>
            <a:ext cx="6765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2647" y="2270402"/>
            <a:ext cx="133671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151" y="2270402"/>
            <a:ext cx="110263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290" y="2208847"/>
            <a:ext cx="172069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391" y="2399347"/>
            <a:ext cx="16244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9474" y="2155983"/>
            <a:ext cx="16611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8305" y="2392203"/>
            <a:ext cx="132361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66" y="2795230"/>
            <a:ext cx="11456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433" y="2781180"/>
            <a:ext cx="171914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166" y="2784990"/>
            <a:ext cx="2010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1233" y="2719625"/>
            <a:ext cx="18688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474" y="2910125"/>
            <a:ext cx="22144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7544" y="2666761"/>
            <a:ext cx="20650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090" y="2902981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037" y="3303389"/>
            <a:ext cx="6100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90762" y="3291959"/>
            <a:ext cx="102048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4685" y="3291959"/>
            <a:ext cx="131945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6016" y="3230403"/>
            <a:ext cx="153935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2909" y="3420903"/>
            <a:ext cx="17254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1845" y="3177540"/>
            <a:ext cx="18164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937" y="3413760"/>
            <a:ext cx="14942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007" y="3814167"/>
            <a:ext cx="3281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8083" y="3806547"/>
            <a:ext cx="198584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6197" y="3802737"/>
            <a:ext cx="18965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2535" y="3741181"/>
            <a:ext cx="198631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1003" y="3931681"/>
            <a:ext cx="17492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0799" y="3688318"/>
            <a:ext cx="14186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8896" y="3924538"/>
            <a:ext cx="13823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855" y="4324945"/>
            <a:ext cx="868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2682" y="4313515"/>
            <a:ext cx="77664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9443" y="4313515"/>
            <a:ext cx="139005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9821" y="4251960"/>
            <a:ext cx="16117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03143" y="4442460"/>
            <a:ext cx="17849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1739" y="4199096"/>
            <a:ext cx="16167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BAIP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6042" y="4435316"/>
            <a:ext cx="132802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739" y="4835723"/>
            <a:ext cx="8185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2164" y="4824293"/>
            <a:ext cx="143767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8737" y="4824293"/>
            <a:ext cx="125146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8393" y="4762738"/>
            <a:ext cx="159448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17431" y="4953238"/>
            <a:ext cx="1756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0453" y="4709874"/>
            <a:ext cx="31393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BAIP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7920" y="4946094"/>
            <a:ext cx="176438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5534" y="5480685"/>
            <a:ext cx="5708451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589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7182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7182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4798" y="1313735"/>
            <a:ext cx="19817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7182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770" y="1906905"/>
            <a:ext cx="10806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045" y="1827490"/>
            <a:ext cx="10718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945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506" y="1827490"/>
            <a:ext cx="114180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11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4450" y="1861065"/>
            <a:ext cx="1822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2513" y="2036325"/>
            <a:ext cx="234624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7007" y="1801296"/>
            <a:ext cx="112609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0765" y="2007036"/>
            <a:ext cx="19586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741" y="2516505"/>
            <a:ext cx="115466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4646" y="2437090"/>
            <a:ext cx="173271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945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279" y="2437090"/>
            <a:ext cx="172438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2411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1950" y="2463760"/>
            <a:ext cx="18273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8947" y="2639020"/>
            <a:ext cx="2253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4338" y="2410896"/>
            <a:ext cx="193155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6723" y="2616636"/>
            <a:ext cx="186678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0" y="3126105"/>
            <a:ext cx="12583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3464" y="3046690"/>
            <a:ext cx="159496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9189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0358" y="3046690"/>
            <a:ext cx="19882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2655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592" y="3073360"/>
            <a:ext cx="183808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047" y="3248620"/>
            <a:ext cx="218717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1091" y="3020496"/>
            <a:ext cx="24580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354" y="3226236"/>
            <a:ext cx="167151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545" y="3740110"/>
            <a:ext cx="125706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5592" y="3656290"/>
            <a:ext cx="18308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4170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8940" y="3656290"/>
            <a:ext cx="18109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7636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4691" y="3687484"/>
            <a:ext cx="17818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751" y="3855124"/>
            <a:ext cx="23458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3787" y="3630096"/>
            <a:ext cx="313265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818" y="3835836"/>
            <a:ext cx="14944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6583" y="4450318"/>
            <a:ext cx="606635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642014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152400" cap="rnd">
            <a:solidFill>
              <a:srgbClr val="DCE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22859" cap="rnd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35605"/>
            <a:ext cx="11186160" cy="4724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92805"/>
            <a:ext cx="11186160" cy="1524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59605"/>
            <a:ext cx="11186160" cy="381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5960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81460" y="2559605"/>
            <a:ext cx="7620" cy="38100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298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59605"/>
            <a:ext cx="45720" cy="38100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828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282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8960" y="342828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882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828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64260" y="342828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34500" y="342828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34500" y="34282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81340" y="342828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4500" y="393882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34500" y="342828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264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0226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8960" y="402264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331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2264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64260" y="402264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34500" y="402264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34500" y="40226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81340" y="402264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34500" y="45331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34500" y="402264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1700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1700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8960" y="461700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75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61700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4260" y="461700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34500" y="461700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34500" y="461700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681340" y="461700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34500" y="51275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4500" y="461700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9012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91922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06196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24105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43500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6410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0684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98593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17868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040778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49580"/>
            <a:ext cx="635317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1127046"/>
            <a:ext cx="6538793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903922" algn="l"/>
              </a:tabLst>
            </a:pP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공통 KPI</a:t>
            </a: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5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원가 경쟁력 · 운영 안정성 · 고객 가치 · 기술 · 지속가능 Leadership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영업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수주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2224325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고객 납기 우선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758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생산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97580" y="1965245"/>
            <a:ext cx="122586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생산능력 · 계획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97580" y="2224325"/>
            <a:ext cx="13480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계획 안정성 우선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222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구매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222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· 공급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2220" y="2224325"/>
            <a:ext cx="166497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공급 확보 · 원가 우선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66860" y="1721405"/>
            <a:ext cx="56221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686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물류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66860" y="2224325"/>
            <a:ext cx="12938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납기 · 재고 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8513" y="2612946"/>
            <a:ext cx="3754993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060132" algn="l"/>
              </a:tabLs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팀마다 다른</a:t>
            </a: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800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정보 · 판단 기준 · 우선순위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3051095"/>
            <a:ext cx="2103596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2540" y="3051095"/>
            <a:ext cx="1467802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BAIP Solution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140" y="3051095"/>
            <a:ext cx="2505551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Autonomous Operations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1040" y="3548300"/>
            <a:ext cx="173759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정보·요청 이력 분산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7552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28548" y="3533417"/>
            <a:ext cx="57578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576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47860" y="3533417"/>
            <a:ext cx="193809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맥락·이력 연결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1040" y="4142660"/>
            <a:ext cx="226337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영향·우선순위 수작업 조율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552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29237" y="4127777"/>
            <a:ext cx="97452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4576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47860" y="4127777"/>
            <a:ext cx="1033462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분석·조율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1040" y="4737020"/>
            <a:ext cx="1739145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변경·대응 지연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552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35999" y="4722137"/>
            <a:ext cx="136100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App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576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47860" y="4722137"/>
            <a:ext cx="141922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기능 보완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6095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맥락 연결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85661" y="6057185"/>
            <a:ext cx="393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8279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분석·조율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497" y="5660945"/>
            <a:ext cx="6403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0583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기능 보완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1871" y="6057185"/>
            <a:ext cx="14101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필요 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52767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실행·검증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16108" y="5660945"/>
            <a:ext cx="95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결과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94952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05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이력 축적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3848" y="6057185"/>
            <a:ext cx="15949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다음 판단에 재활용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4404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4404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414147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44040" y="4141470"/>
            <a:ext cx="1249680" cy="1021080"/>
          </a:xfrm>
          <a:prstGeom prst="rect">
            <a:avLst/>
          </a:prstGeom>
          <a:solidFill>
            <a:srgbClr val="EEF6FF"/>
          </a:solidFill>
          <a:ln w="15240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1642110"/>
            <a:ext cx="7879080" cy="25908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42537"/>
            <a:ext cx="2063780" cy="163012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842537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842537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37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601675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705904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8F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3705904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37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465042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2056" y="2847149"/>
            <a:ext cx="2270081" cy="1620900"/>
          </a:xfrm>
          <a:prstGeom prst="roundRect">
            <a:avLst>
              <a:gd name="adj" fmla="val 1410"/>
            </a:avLst>
          </a:prstGeom>
          <a:solidFill>
            <a:srgbClr val="F2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2056" y="2847149"/>
            <a:ext cx="2270081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24518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62056" y="4460430"/>
            <a:ext cx="2270081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2056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2815" y="1979169"/>
            <a:ext cx="2063864" cy="3356861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2815" y="1979169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2815" y="1979169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9060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72815" y="2738307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72815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2815" y="2842537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FF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2815" y="2842537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90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2815" y="3601675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72815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2815" y="3705904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C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72815" y="3705904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5290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2815" y="4465042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2815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2815" y="4569272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AF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72815" y="4569272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9060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72815" y="5328410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72815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2527458"/>
            <a:ext cx="1051560" cy="182880"/>
          </a:xfrm>
          <a:prstGeom prst="rect">
            <a:avLst/>
          </a:prstGeom>
        </p:spPr>
      </p:pic>
      <p:pic>
        <p:nvPicPr>
          <p:cNvPr id="47" name="Picture 46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2527458"/>
            <a:ext cx="1051560" cy="182880"/>
          </a:xfrm>
          <a:prstGeom prst="rect">
            <a:avLst/>
          </a:prstGeom>
        </p:spPr>
      </p:pic>
      <p:pic>
        <p:nvPicPr>
          <p:cNvPr id="48" name="Picture 47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3639978"/>
            <a:ext cx="1051560" cy="182880"/>
          </a:xfrm>
          <a:prstGeom prst="rect">
            <a:avLst/>
          </a:prstGeom>
        </p:spPr>
      </p:pic>
      <p:pic>
        <p:nvPicPr>
          <p:cNvPr id="49" name="Picture 48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3626286"/>
            <a:ext cx="1051560" cy="182880"/>
          </a:xfrm>
          <a:prstGeom prst="rect">
            <a:avLst/>
          </a:prstGeom>
        </p:spPr>
      </p:pic>
      <p:pic>
        <p:nvPicPr>
          <p:cNvPr id="50" name="Picture 49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4752498"/>
            <a:ext cx="1051560" cy="182880"/>
          </a:xfrm>
          <a:prstGeom prst="rect">
            <a:avLst/>
          </a:prstGeom>
        </p:spPr>
      </p:pic>
      <p:pic>
        <p:nvPicPr>
          <p:cNvPr id="51" name="Picture 50" descr="26-media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20" y="4700706"/>
            <a:ext cx="1036320" cy="18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2920" y="449580"/>
            <a:ext cx="607516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97505"/>
            <a:ext cx="40649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팀별 지식과 실행 구조를 연결해 부서 간 업무를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1581150"/>
            <a:ext cx="23000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Cross-Team Collaboration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80" y="208407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980" y="2327910"/>
            <a:ext cx="11619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수주 조건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100" y="208407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3100" y="2327910"/>
            <a:ext cx="11133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생산계획 · Line 여력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80" y="319659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1980" y="3440430"/>
            <a:ext cx="1164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확보 · 공급 Risk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3100" y="319659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43100" y="3448050"/>
            <a:ext cx="114573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80" y="430911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1980" y="4552950"/>
            <a:ext cx="938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원가 · 손익 · 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0720" y="4278630"/>
            <a:ext cx="9263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50720" y="4522470"/>
            <a:ext cx="114347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입고 · 물류 예외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292090"/>
            <a:ext cx="22870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간 요청 · 검토 결과 · 실행 이력 공유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1642110"/>
            <a:ext cx="127373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41668" y="1661160"/>
            <a:ext cx="211693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내부 지식 · 분석 · 실행 구조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5678" y="2971350"/>
            <a:ext cx="847249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75678" y="3159203"/>
            <a:ext cx="104449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75678" y="3345965"/>
            <a:ext cx="1862409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5678" y="3834718"/>
            <a:ext cx="105044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75678" y="4022571"/>
            <a:ext cx="1734098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75678" y="4209333"/>
            <a:ext cx="18612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13342" y="3512685"/>
            <a:ext cx="47867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9256" y="3369782"/>
            <a:ext cx="79760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9993" y="3568370"/>
            <a:ext cx="1356044" cy="28638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572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5619" y="3810817"/>
            <a:ext cx="110487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8753" y="3512685"/>
            <a:ext cx="54936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90894" y="2107982"/>
            <a:ext cx="115116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90894" y="2295835"/>
            <a:ext cx="130807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90894" y="2482597"/>
            <a:ext cx="1680091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90894" y="2971350"/>
            <a:ext cx="104390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0894" y="3159203"/>
            <a:ext cx="101053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90894" y="3345965"/>
            <a:ext cx="933292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90894" y="3834718"/>
            <a:ext cx="1457183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90894" y="4022571"/>
            <a:ext cx="15390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90894" y="4209333"/>
            <a:ext cx="116425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90894" y="4698086"/>
            <a:ext cx="776385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90894" y="4885938"/>
            <a:ext cx="112223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90894" y="5072701"/>
            <a:ext cx="108969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36264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39159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20552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449508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44640" y="333684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44640" y="362640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44640" y="391596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44640" y="420552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44640" y="449508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928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29280" y="3626405"/>
            <a:ext cx="2931080" cy="2819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9280" y="39083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9280" y="41979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29280" y="44874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9580"/>
            <a:ext cx="593609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29025"/>
            <a:ext cx="298739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262425"/>
            <a:ext cx="22459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35805"/>
            <a:ext cx="3259574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7325"/>
            <a:ext cx="19121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56885"/>
            <a:ext cx="157222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46445"/>
            <a:ext cx="21613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36005"/>
            <a:ext cx="1181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5565"/>
            <a:ext cx="151721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596" y="4655105"/>
            <a:ext cx="7665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604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6040" y="1729025"/>
            <a:ext cx="2626042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6040" y="2262425"/>
            <a:ext cx="170628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6040" y="2635805"/>
            <a:ext cx="321849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3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464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4640" y="3656885"/>
            <a:ext cx="2298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4640" y="3946445"/>
            <a:ext cx="222182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640" y="4236005"/>
            <a:ext cx="21478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4640" y="4525565"/>
            <a:ext cx="20006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2144" y="4655105"/>
            <a:ext cx="11156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68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680" y="1729025"/>
            <a:ext cx="327612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8" sz="170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0680" y="2262425"/>
            <a:ext cx="237660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0680" y="2635805"/>
            <a:ext cx="32168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1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928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9280" y="3664505"/>
            <a:ext cx="298644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9280" y="3938825"/>
            <a:ext cx="23739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9280" y="4228385"/>
            <a:ext cx="200025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9280" y="4517945"/>
            <a:ext cx="200489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5211" y="4655105"/>
            <a:ext cx="131706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inbound-app-builder-demo-v6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64464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harness-wiki-demo-v2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581263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wiki-handoff-demo-v5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723923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1472"/>
            <a:ext cx="5387340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1960"/>
            <a:ext cx="4692967" cy="632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8" sz="312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Why SAP BAIP +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1740" y="1649135"/>
            <a:ext cx="302394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319689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TCO · OPEX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9860" y="2084189"/>
            <a:ext cx="132599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표준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9860" y="2450663"/>
            <a:ext cx="1945005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공통 Platform 재사용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9860" y="2817137"/>
            <a:ext cx="208788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운영 · 변경 관리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740" y="3442692"/>
            <a:ext cx="318575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129665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Value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9860" y="3877746"/>
            <a:ext cx="167020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Context 기반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9860" y="4244220"/>
            <a:ext cx="203477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Cross-Team 실행 조율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860" y="4610695"/>
            <a:ext cx="205692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업무 지식 · Skill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