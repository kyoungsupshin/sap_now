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40" b="0" i="0">
                <a:solidFill>
                  <a:srgbClr val="000000"/>
                </a:solidFill>
                <a:latin typeface="72 Brand Medium"/>
              </a:rPr>
              <a:t>Autonomous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20" b="0" i="0">
                <a:solidFill>
                  <a:srgbClr val="000000"/>
                </a:solidFill>
                <a:latin typeface="72 Brand"/>
              </a:rPr>
              <a:t>SAP BTP Agent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8925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AI-Native · Business Context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8173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Integrated Operating Model · Agent 역할 · A2A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7421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Logical Architecture · Implementation ·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6669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Business Challenges · SCM Demo · Business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42060"/>
            <a:ext cx="583846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4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AI-Native 기업의 핵심 역량과 Business Context · 통제된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AI-First → AI-Native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1600914"/>
            <a:ext cx="82081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01 ·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Software that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사람의 목표 설정 · Agent의 허용된 작업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800230"/>
            <a:ext cx="9055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02 ·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Landscape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System · 조직 · Process 간 업무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999547"/>
            <a:ext cx="75223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03 ·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System of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Data · 의미 · 관계 · 정책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Four Core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Agent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72 Brand Medium"/>
              </a:rPr>
              <a:t>Agent 연결과 Workflow 통제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권한·정책·승인 기반 실행 조율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" y="3727608"/>
            <a:ext cx="235469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Agent · Tool 연결과 Workflow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770" y="3727608"/>
            <a:ext cx="140922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Data · 지식 · 관계 기반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3727608"/>
            <a:ext cx="175902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새로운 App · 기능 개발 및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3727608"/>
            <a:ext cx="145149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계획된 업무 수행 · 결과 검증 · 예외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" y="5650825"/>
            <a:ext cx="156531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Cross-Cutting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207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Context 접근 · App 변경 · 업무 실행 전체에 권한·정책·승인·추적을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80" b="0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End-to-End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Joule Agent 연결 · 실행 조율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Embedded AI + Custom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Embedded AI · Custom AI (AI Foundation)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Security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공통 보안·규정 준수 기반 Agent Workflow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68132" y="2022157"/>
            <a:ext cx="9153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Apps · Data ·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실행 결과를 다음 판단의 근거로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Retrieve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위험·낮은 확신·정책 예외 → 담당자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업무 요구를 새로운 App과 기능으로 구현 · 검증 후 업무에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App Builder · 업무 요구를 실행 가능한 기능으로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 ·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변경 요구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필요한 기능과 변경 범위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 · Build &amp; Extend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App · Skill ·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AI 기반 App · 기능 개발과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 · Validate &amp;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분리된 환경에서 기능 검증 · 변경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 · Deploy &amp; 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배포와 재사용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검증된 App 배포 · 업무 적용과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Agentic Execution — Integrated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SAP 업무 연결 · 판단과 조율 · 기능 확장의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 · Business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업무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목표와 기대 결과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 · Reason &amp; Orchestrate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Business Context 기반 판단·실행 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 · SAP Access &amp;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Joule +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SAP Data 조회 · 허용된 업무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 · Validate &amp;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결과 검증·기록 · 예외 전달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통합 운영 모델과 Human + Agent 역할 분담 · 판단·실행·협업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1356360"/>
            <a:ext cx="180736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Joule — SAP Data 접근과 업무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SAP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Data · 실행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SAP Business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“Pump Lead Time은?”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Joule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SAP 화면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필요 Data를 각각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수작업 Data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입고 · 재고 · 계획을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수작업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확정된 내용을 직접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결과 재공유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결과를 다시 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With Joule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SAP Data 조회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필요한 현재 정보를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분석 근거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Harness 판단에 Data 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 실행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확정된 판단을 SAP로 전달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처리 결과 반환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흐름에 즉시 반영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077902"/>
            <a:ext cx="139517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Joule Key Capabilities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4100" y="5983605"/>
            <a:ext cx="16383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Real-Time SAP Data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현재 Data와 업무 상태를 필요한 맥락으로 제공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8980" y="5983605"/>
            <a:ext cx="16061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SAP Transaction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확정된 판단을 SAP 처리와 결과 반환으로 연결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0418" y="6614160"/>
            <a:ext cx="210621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HANA Knowledge Graph — Business Context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전사 질문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신규 협력업체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“업체 등록 기준·담당자는?”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자료 개별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IT·품질·Compliance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담당 조직 문의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부서별 등록 기준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수작업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 · 기준 · System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등록 근거 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담당자 확인 후 요청 제출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52222"/>
                </a:solidFill>
                <a:latin typeface="72 Brand Medium"/>
              </a:rPr>
              <a:t>Agent without Knowledge Graph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문서 검색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개별 문서의 관련 정보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문서별 답변 요약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담당자 · 기준 후보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추가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 · 정책 · 조직 관계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근거 종합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조건별 적용 기준 최종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Agent with Knowledge Graph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조직 · 정책 · 등록 기준 구조화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기반 탐색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업체·기준·담당 조직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조건별 근거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관계 경로와 연결된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등록 근거 재사용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검증된 관계 정보 재활용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62317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HANA KG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22062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조직 · 정책 · 기준을 관계 중심으로 구조화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76712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Relationship-Based Discovery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담당자 · System · 등록 근거를 함께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— 업무 판단과 실행 조율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오늘 업무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Routine 업무 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Execution 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“오늘 Routine 업무 실행”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 수작업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Wiki · SAP 상태 개별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담당자 우선순위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마감 · 영향도 · 예외 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실행 방식 협의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자동화·담당자 처리 경로 조율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지시·결과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전달 후 처리 상태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52222"/>
                </a:solidFill>
                <a:latin typeface="72 Brand Medium"/>
              </a:rPr>
              <a:t>Agent without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개별 요청 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사용자가 조회·분석 작업 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작업별 답변·Tool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요청 단위의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실행 경로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다음 작업·Tool·담당자 선택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후속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결과 취합·실패 대응·재요청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Agent with Harness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업무·Context 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Wiki · KG · SAP 상태 연결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계획·우선순위 결정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마감 · 영향도 · 정책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실행 경로 조율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승인된 Tool·Agent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검증·예외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결과 기록 · 필요 시 담당자 판단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5504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Harness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5026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Evidence-Based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Wiki · KG · SAP 정보를 연결해 가능 여부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4494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Execution Orchestration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보완 범위와 업무 지시를 실행 흐름으로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App Builder — App 변경과 배포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COMMON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납품 문서 수신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Image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CSV · 다양한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 Medium"/>
              </a:rPr>
              <a:t>DAILY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일상 업무 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System 유지비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납품 문서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Token 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AI Agent Interface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정보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72 Brand Medium"/>
              </a:rPr>
              <a:t>ISSUE without App Builder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신규 업체 추가 Process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IT 인력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IT 추가개발 요청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개발 요청·순위 조율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개발 대기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추가개발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신규 형식 Logic 구현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운영 지연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변경 사항 운영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기준 보완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기준수정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기준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재작업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72 Brand Medium"/>
              </a:rPr>
              <a:t>ISSUE with App Builder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신규 업체 추가 Process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보완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App Builder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코드 수정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배포 전 검증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Sandbox 테스트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변경 코드 · 처리 결과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배포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흐름 적용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재처리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077902"/>
            <a:ext cx="164580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APP BUILDER CAPABILITY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변경 자동 보완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AI Coding으로 처리 기준을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배포 · 재처리 연결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신규 App 배포 후 업무 흐름에 반영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1780" y="3495198"/>
            <a:ext cx="736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89582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56848"/>
            <a:ext cx="132921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CUSTOMER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수주 조건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물량 · 가격 · 납기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수주 조건 확인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요청 · 계약 조건 · 협의 이력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수주 · 가격 · 수익성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현재 계약 조건과 수익성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수주 조건 초안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영업 Team 검토 결과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540" y="15025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생산관리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생산 가능 여부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수주 조건 · 우선순위 · 검토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생산계획 · Line 여력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기존 고객 납기 약속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 가능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생산관리 Team 검토 결과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58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구매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자재 확보 가능 여부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필요 자재 · 공급 Risk · 대응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재고 · 발주 · 공급사 · 단가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대체 가능성 · 납기 · 원가 영향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공급 가능 조건 · 원가 영향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구매 Team 검토 결과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SAP BTP 기반의 구현 구조와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760220"/>
            <a:ext cx="20802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Standard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Kyma App-in-App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3054" y="120919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5444" y="120919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72 Brand Medium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11307" y="120919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755" y="1716643"/>
            <a:ext cx="54864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660" y="1701403"/>
            <a:ext cx="74068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1704" y="1701403"/>
            <a:ext cx="14054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908" y="1656397"/>
            <a:ext cx="135957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272" y="1816417"/>
            <a:ext cx="124884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7466" y="1807368"/>
            <a:ext cx="140529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80" y="2160031"/>
            <a:ext cx="61579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3612" y="2144791"/>
            <a:ext cx="11347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4590" y="2144791"/>
            <a:ext cx="93964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8164" y="2099786"/>
            <a:ext cx="1455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3167" y="2259806"/>
            <a:ext cx="140493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4745" y="2250757"/>
            <a:ext cx="11307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630" y="2603063"/>
            <a:ext cx="103477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4187" y="2588180"/>
            <a:ext cx="14536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0604" y="2588180"/>
            <a:ext cx="186773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370" y="2543175"/>
            <a:ext cx="157864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26348" y="2703195"/>
            <a:ext cx="193857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613" y="3046809"/>
            <a:ext cx="5429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5414" y="3031569"/>
            <a:ext cx="87118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4222" y="3031569"/>
            <a:ext cx="11203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3650" y="2986563"/>
            <a:ext cx="130397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3546" y="3137535"/>
            <a:ext cx="127301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176" y="3490198"/>
            <a:ext cx="2997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8449" y="3474958"/>
            <a:ext cx="184499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3715" y="3474958"/>
            <a:ext cx="16015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57317" y="3429952"/>
            <a:ext cx="167663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3994" y="3589972"/>
            <a:ext cx="15034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6406" y="3580923"/>
            <a:ext cx="122729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382" y="3933586"/>
            <a:ext cx="8093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7094" y="3918346"/>
            <a:ext cx="66782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813" y="3918346"/>
            <a:ext cx="117931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3527" y="3873341"/>
            <a:ext cx="136433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3396" y="4033361"/>
            <a:ext cx="154459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BTP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744" y="4376975"/>
            <a:ext cx="73866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1464" y="4361735"/>
            <a:ext cx="121896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2559" y="4361735"/>
            <a:ext cx="10637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46971" y="4476750"/>
            <a:ext cx="14973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Launchpad · SAP BTP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7338" y="4467701"/>
            <a:ext cx="1545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B90FF"/>
                </a:solidFill>
                <a:latin typeface="72 Brand Medium"/>
              </a:rPr>
              <a:t>TCO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(CSP + S/4 연동 개발·운영) &gt;</a:t>
            </a:r>
            <a:r>
              <a:rPr sz="1739" b="1" i="0">
                <a:solidFill>
                  <a:srgbClr val="1B90FF"/>
                </a:solidFill>
                <a:latin typeface="72 Brand Medium"/>
              </a:rPr>
              <a:t>TCO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(SAP BTP)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3054" y="125491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5444" y="125491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72 Brand Medium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11307" y="125491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325" y="1890831"/>
            <a:ext cx="9673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3983" y="1815703"/>
            <a:ext cx="9139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2291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279" y="1815703"/>
            <a:ext cx="97226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5757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5659" y="1846183"/>
            <a:ext cx="15400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3596" y="1990963"/>
            <a:ext cx="21641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5304" y="1966674"/>
            <a:ext cx="170961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083" y="2500431"/>
            <a:ext cx="1027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8472" y="2425303"/>
            <a:ext cx="146494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2291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5510" y="2425303"/>
            <a:ext cx="14579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5757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3635" y="2455783"/>
            <a:ext cx="154412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73" y="2600563"/>
            <a:ext cx="19246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5430" y="2576274"/>
            <a:ext cx="16093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863" y="3110031"/>
            <a:ext cx="11143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5980" y="3034903"/>
            <a:ext cx="135004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89916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5496" y="3034903"/>
            <a:ext cx="167794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3382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9110" y="3065383"/>
            <a:ext cx="15530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3210163"/>
            <a:ext cx="19136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322" y="3185874"/>
            <a:ext cx="14294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930" y="3719631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7634" y="3644503"/>
            <a:ext cx="154674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34063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49434" y="3644503"/>
            <a:ext cx="15300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47529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565" y="3674983"/>
            <a:ext cx="15061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24311" y="3819763"/>
            <a:ext cx="214264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1878" y="3795474"/>
            <a:ext cx="12963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B90FF"/>
                </a:solidFill>
                <a:latin typeface="72 Brand Medium"/>
              </a:rPr>
              <a:t>OPEX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(CSP + S/4·LoB 연동 운영) &gt;</a:t>
            </a:r>
            <a:r>
              <a:rPr sz="1739" b="1" i="0">
                <a:solidFill>
                  <a:srgbClr val="1B90FF"/>
                </a:solidFill>
                <a:latin typeface="72 Brand Medium"/>
              </a:rPr>
              <a:t>OPEX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(SAP BTP)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조직의 문제에서 SCM 실행과 Business Value까지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5780" y="1190148"/>
            <a:ext cx="11140440" cy="257175"/>
          </a:xfrm>
          <a:prstGeom prst="rect">
            <a:avLst/>
          </a:prstGeom>
          <a:solidFill>
            <a:srgbClr val="F5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1470183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844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110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2376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5642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844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110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911667"/>
            <a:ext cx="444246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780" y="2353151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844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5642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5844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110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2376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642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730" y="3834288"/>
            <a:ext cx="2459235" cy="100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730" y="5155406"/>
            <a:ext cx="2459235" cy="7565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Business Context &amp; Challenges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9559" y="938688"/>
            <a:ext cx="2214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65D78"/>
                </a:solidFill>
                <a:latin typeface="72 Brand"/>
              </a:rPr>
              <a:t>BUSINESS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0246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A6ED1"/>
                </a:solidFill>
                <a:latin typeface="72 Brand"/>
              </a:rPr>
              <a:t>원가 경쟁력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3584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A6ED1"/>
                </a:solidFill>
                <a:latin typeface="72 Brand"/>
              </a:rPr>
              <a:t>운영 안정성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6921" y="1220628"/>
            <a:ext cx="6349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A6ED1"/>
                </a:solidFill>
                <a:latin typeface="72 Brand"/>
              </a:rPr>
              <a:t>고객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076" y="1220628"/>
            <a:ext cx="172259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A6ED1"/>
                </a:solidFill>
                <a:latin typeface="72 Brand"/>
              </a:rPr>
              <a:t>기술 · 지속가능 Leadership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1804987"/>
            <a:ext cx="17881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Organizational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영업 · 수요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Demand Forecast · 수주 변동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구매 · 공급계획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공급 연속성 · 협력사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생산 · 품질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Production Capacity · 품질 Issue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SCM · 고객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납기 준수 · 물류 예외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재무 · 경영관리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원가 · 손익 변동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IT ·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System 가용성 · Data 신뢰성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2687955"/>
            <a:ext cx="10577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Team 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영업 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수주 변동 · 고객 요청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수요계획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Forecast · 수요 조정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생산계획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계획 변경 · 생산 우선순위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구매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지연 자재 · 긴급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품질관리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품질 Issue · 시정 조치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SCM Team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재고 부족 · 물류 예외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영업관리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Order 반영 · 납기 회신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IT·Data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Data 오류 · Interface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9496" y="3358038"/>
            <a:ext cx="103036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동일한 전사 KPI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97943" y="3327558"/>
            <a:ext cx="42263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3647C"/>
                </a:solidFill>
                <a:latin typeface="72 Brand"/>
              </a:rPr>
              <a:t>를 조직과 Team은 각자의 Data·업무 상태·우선순위 관점에서 다르게 판단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62324" y="3601878"/>
            <a:ext cx="17891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B9512B"/>
                </a:solidFill>
                <a:latin typeface="72 Brand"/>
              </a:rPr>
              <a:t>BUSINESS CHALLENGES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180" y="4239577"/>
            <a:ext cx="1389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Business Challenges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72526" y="4922996"/>
            <a:ext cx="23688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B90FF"/>
                </a:solidFill>
                <a:latin typeface="72 Brand"/>
              </a:rPr>
              <a:t>AUTONOMOUS OPERATIONS 방식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8180" y="5434607"/>
            <a:ext cx="20101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Autonomous Operating 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Shared AI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2563415"/>
            <a:ext cx="1023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Team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799635"/>
            <a:ext cx="12137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Wiki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026925"/>
            <a:ext cx="22960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Team KPI · SOP · Issue ·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685222"/>
            <a:ext cx="128718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Enterprise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921442"/>
            <a:ext cx="20297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HANA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4148732"/>
            <a:ext cx="228135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Compliance · IT · HR의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업무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2970" y="3083718"/>
            <a:ext cx="9677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5551" y="3335178"/>
            <a:ext cx="158257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1B90FF"/>
                </a:solidFill>
                <a:latin typeface="72 Brand Medium"/>
              </a:rPr>
              <a:t>Live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2117" y="3628310"/>
            <a:ext cx="128944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질문·업무 지시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815" y="3228022"/>
            <a:ext cx="6766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분석 ·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591" y="1441608"/>
            <a:ext cx="14192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Analysis &amp;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677828"/>
            <a:ext cx="15256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Harness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905119"/>
            <a:ext cx="20033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분석·업무 지시 · Non-SAP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2563415"/>
            <a:ext cx="12805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799635"/>
            <a:ext cx="11735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n8n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업무 자동화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685222"/>
            <a:ext cx="17861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App Development &amp;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921442"/>
            <a:ext cx="17990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App Builder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4148732"/>
            <a:ext cx="137124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업무 App 운영 ·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807029"/>
            <a:ext cx="9455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SAP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5043249"/>
            <a:ext cx="1305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Joule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270539"/>
            <a:ext cx="13207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SAP 업무 Interface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Cross-Team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생산관리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구매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영업관리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SCM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경영관리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Autonomous SCM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5988"/>
            <a:ext cx="19985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App Builder Agent · 입고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23648"/>
            <a:ext cx="3038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납품서·ASN 양식 변경에 따른 입고 App 변경·배포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OCR 실패 · 양식 변경 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입고 담당자 변경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88568"/>
            <a:ext cx="192786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App Builder로 처리 Logic 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검증 · 운영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기준 수정 · 입고 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입고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04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SCM Exception Handling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2195988"/>
            <a:ext cx="149983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Wiki Agent · 공급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523648"/>
            <a:ext cx="28625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지식·이력 기반 입고 지연·재고·납기 Risk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입고 지연 · 재고 부족 문의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521868"/>
            <a:ext cx="19914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Wiki에서 SOP · 과거 Ticket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S/4 재고 · 발주 · 납기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대체 공급 · 출하 우선순위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담당자 대응 지시 · 결과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공급 예외 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068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Demand-to-Supply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2195988"/>
            <a:ext cx="206787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Harness Agent · 수요·납기 변동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523648"/>
            <a:ext cx="31307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수요·납기 변경의 생산·구매·물류 영향 분석 → 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고객 수요 · 납기 변경 접수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521868"/>
            <a:ext cx="26956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Production Capacity · 재고 · 공급 Risk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영업 · 생산 · 구매 · 물류 영향 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4055268"/>
            <a:ext cx="17094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부서별 작업 지시 · Wiki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321968"/>
            <a:ext cx="1784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반복 Issue App Builder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부서 간 업무 조율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8810" y="2084784"/>
            <a:ext cx="9024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Manual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System 조회 · 근거 수집 · 업무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7858FF"/>
                </a:solidFill>
                <a:latin typeface="72 Brand Medium"/>
              </a:rPr>
              <a:t>Autonomous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Agent의 Context 연결 · 허용된 작업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7858FF"/>
                </a:solidFill>
                <a:latin typeface="72 Brand Medium"/>
              </a:rPr>
              <a:t>사람은 예외·핵심 판단에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03068"/>
            <a:ext cx="10710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0F2"/>
                </a:solidFill>
                <a:latin typeface="72 Brand"/>
              </a:rPr>
              <a:t>Business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9746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처리 시간 단축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312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수작업 조율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64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일관된 업무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0169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AI 역량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