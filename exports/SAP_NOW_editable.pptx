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01 — Autonomous Enterprise SAP BTP Agent Demo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02 — Presentation Agenda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03 — Autonomous Enterprise &amp; Governance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04 — AI-First → AI-Native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05 — Four Core Capabilities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06 — Agent Workflow &amp; Governance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07 — Business Context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08 — App &amp; AI Development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09 — Agentic Execution — Integrated Operating Model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10 — Agentic Execution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11 — Joule — SAP Data 접근과 업무 실행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12 — HANA Knowledge Graph — Business Context 연결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13 — Harness — 업무 판단과 실행 조율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14 — App Builder — App 변경과 배포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15 — Harness Deep Agent — 복합 분석과 계획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16 — Harness A2A — Cross-Team 협업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17 — SAP BTP Architecture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18 — SAP BTP — Standard Architecture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19 — SAP BTP — Kyma App-in-App Architecture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 — SAP BTP — Platform Value &amp; TCO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21 — SAP BTP — Operations &amp; OPEX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22 — Demo &amp; Business Value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23 — Demo — Business Context &amp; Challenges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24 — Shared AI Foundation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25 — Demo — Cross-Team Operating Model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26 — Demo — Autonomous SCM Scenarios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27 — Demo 01 — Inbound Process Adaptation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28 — Demo 02 — SCM Exception Handling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29 — Demo 03 — Demand-to-Supply Orchestration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30 — Demo — Business Value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98420"/>
            <a:ext cx="4468058" cy="6629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81" sz="3240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Autonomous Enterprise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3314700"/>
            <a:ext cx="2563058" cy="4114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920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SAP BTP Agent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305300"/>
            <a:ext cx="1145024" cy="3200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80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2026. 09. 29.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2948701" cy="5029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0" sz="2400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Presentation Agenda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689258"/>
            <a:ext cx="283845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1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18260" y="1548288"/>
            <a:ext cx="4166235" cy="3276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859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Autonomous Enterprise &amp;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18260" y="1875948"/>
            <a:ext cx="220122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AI-Native · Business Context · Governance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481738"/>
            <a:ext cx="283845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1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18260" y="2340768"/>
            <a:ext cx="2012870" cy="3276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859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Agentic Execution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18260" y="2668428"/>
            <a:ext cx="2380535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Integrated Operating Model · Agent 역할 · A2A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3274218"/>
            <a:ext cx="283845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1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18260" y="3133248"/>
            <a:ext cx="2424112" cy="3276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859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SAP BTP Architecture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18260" y="3460908"/>
            <a:ext cx="2648426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Logical Architecture · Implementation · Operations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4066698"/>
            <a:ext cx="283845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1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04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18260" y="3925728"/>
            <a:ext cx="2651640" cy="3276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859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Demo &amp; Business Value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18260" y="4253388"/>
            <a:ext cx="2833092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Business Challenges · SCM Demo · Business Outcomes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660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242060"/>
            <a:ext cx="5838467" cy="5486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6" sz="2640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Autonomous Enterprise &amp; Governance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2468880"/>
            <a:ext cx="5455324" cy="3048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2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AI-Native 기업의 핵심 역량과 Business Context · 통제된 Execution Loop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29500" y="952500"/>
            <a:ext cx="274200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18940" y="960120"/>
            <a:ext cx="3073955" cy="2362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60" b="1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Autonomous Enterprise &amp; Governance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29500" y="1356360"/>
            <a:ext cx="274200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18940" y="1363980"/>
            <a:ext cx="1402913" cy="2362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6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Agentic Execution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29500" y="1760220"/>
            <a:ext cx="274200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18940" y="1767840"/>
            <a:ext cx="1681519" cy="2362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6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SAP BTP Architecture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29500" y="2164080"/>
            <a:ext cx="274200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18940" y="2171700"/>
            <a:ext cx="1835586" cy="2362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6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Demo &amp; Business Value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660" b="1" i="0">
                <a:solidFill>
                  <a:srgbClr val="FFFFFF"/>
                </a:solidFill>
                <a:latin typeface="Liberation Sans"/>
                <a:ea typeface="Noto Sans CJK KR"/>
                <a:cs typeface="Liberation Sans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2739032" cy="5029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0" sz="2400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AI-First → AI-Native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12280" y="1600914"/>
            <a:ext cx="820816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1" i="0">
                <a:solidFill>
                  <a:srgbClr val="7858FF"/>
                </a:solidFill>
                <a:latin typeface="Noto Sans CJK KR"/>
                <a:ea typeface="Noto Sans CJK KR"/>
                <a:cs typeface="Noto Sans CJK KR"/>
              </a:rPr>
              <a:t>01 · Software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12280" y="1844754"/>
            <a:ext cx="2001321" cy="3048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739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Software that Does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12280" y="2180034"/>
            <a:ext cx="3120270" cy="2895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사람의 목표 설정 · Agent의 허용된 작업 실행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12280" y="2800230"/>
            <a:ext cx="905589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1" i="0">
                <a:solidFill>
                  <a:srgbClr val="7858FF"/>
                </a:solidFill>
                <a:latin typeface="Noto Sans CJK KR"/>
                <a:ea typeface="Noto Sans CJK KR"/>
                <a:cs typeface="Noto Sans CJK KR"/>
              </a:rPr>
              <a:t>02 · Landscape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12280" y="3044070"/>
            <a:ext cx="2210633" cy="3048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739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Landscape Boundary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12280" y="3379350"/>
            <a:ext cx="2675096" cy="2895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System · 조직 · Process 간 업무 연결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12280" y="3999547"/>
            <a:ext cx="752236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1" i="0">
                <a:solidFill>
                  <a:srgbClr val="7858FF"/>
                </a:solidFill>
                <a:latin typeface="Noto Sans CJK KR"/>
                <a:ea typeface="Noto Sans CJK KR"/>
                <a:cs typeface="Noto Sans CJK KR"/>
              </a:rPr>
              <a:t>03 · Context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12280" y="4243387"/>
            <a:ext cx="1927383" cy="3048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739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System of Context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12280" y="4578667"/>
            <a:ext cx="2163960" cy="2895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Data · 의미 · 관계 · 정책 연결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660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415188"/>
            <a:ext cx="2693670" cy="1943100"/>
          </a:xfrm>
          <a:prstGeom prst="rect">
            <a:avLst/>
          </a:prstGeom>
          <a:solidFill>
            <a:srgbClr val="FFFFFF"/>
          </a:solidFill>
          <a:ln w="7620">
            <a:solidFill>
              <a:srgbClr val="D5DDE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415188"/>
            <a:ext cx="2693670" cy="3810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333750" y="3415188"/>
            <a:ext cx="2693670" cy="1943100"/>
          </a:xfrm>
          <a:prstGeom prst="rect">
            <a:avLst/>
          </a:prstGeom>
          <a:solidFill>
            <a:srgbClr val="FFFFFF"/>
          </a:solidFill>
          <a:ln w="7620">
            <a:solidFill>
              <a:srgbClr val="D5DDE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333750" y="3415188"/>
            <a:ext cx="2693670" cy="3810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164580" y="3415188"/>
            <a:ext cx="2693670" cy="1943100"/>
          </a:xfrm>
          <a:prstGeom prst="rect">
            <a:avLst/>
          </a:prstGeom>
          <a:solidFill>
            <a:srgbClr val="FFFFFF"/>
          </a:solidFill>
          <a:ln w="7620">
            <a:solidFill>
              <a:srgbClr val="D5DDE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164580" y="3415188"/>
            <a:ext cx="2693670" cy="3810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995410" y="3415188"/>
            <a:ext cx="2693670" cy="1943100"/>
          </a:xfrm>
          <a:prstGeom prst="rect">
            <a:avLst/>
          </a:prstGeom>
          <a:solidFill>
            <a:srgbClr val="FFFFFF"/>
          </a:solidFill>
          <a:ln w="7620">
            <a:solidFill>
              <a:srgbClr val="D5DDE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995410" y="3415188"/>
            <a:ext cx="2693670" cy="3810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457200"/>
            <a:ext cx="3114198" cy="5029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0" sz="2400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Four Core Capabilities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33203" y="1733430"/>
            <a:ext cx="121312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Agent Interoperability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33203" y="2007750"/>
            <a:ext cx="2897147" cy="3124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80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Agent 연결과 Workflow 통제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33203" y="2381130"/>
            <a:ext cx="2202537" cy="2895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권한·정책·승인 기반 실행 조율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" y="3727608"/>
            <a:ext cx="235469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00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Agent Workflow &amp; Governance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" y="3994308"/>
            <a:ext cx="2239208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Agent · Tool 연결과 Workflow 설계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93770" y="3727608"/>
            <a:ext cx="1409223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00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Business Context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93770" y="3994308"/>
            <a:ext cx="1764625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Data · 지식 · 관계 기반 판단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24600" y="3727608"/>
            <a:ext cx="175902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00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App &amp; AI Development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24600" y="3994308"/>
            <a:ext cx="1905952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새로운 App · 기능 개발 및 변경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55430" y="3727608"/>
            <a:ext cx="1451490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00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Agentic Execution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55430" y="3994308"/>
            <a:ext cx="2460545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계획된 업무 수행 · 결과 검증 · 예외 처리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8180" y="5650825"/>
            <a:ext cx="1565314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Cross-Cutting Governance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312074" y="5617368"/>
            <a:ext cx="4369117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Context 접근 · App 변경 · 업무 실행 전체에 권한·정책·승인·추적을 적용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660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4252912" cy="5029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0" sz="2400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Agent Workflow &amp; Governance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80120" y="2022871"/>
            <a:ext cx="3035379" cy="2971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68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Agent Workflow &amp; Governance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80120" y="2647711"/>
            <a:ext cx="2128956" cy="3048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2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End-to-End Orchestration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80120" y="2982991"/>
            <a:ext cx="1962030" cy="2667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Joule Agent 연결 · 실행 조율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80120" y="3543061"/>
            <a:ext cx="2159198" cy="3048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2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Embedded AI + Custom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80120" y="3878341"/>
            <a:ext cx="2932033" cy="2667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Embedded AI · Custom AI (AI Foundation)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80120" y="4438411"/>
            <a:ext cx="1904047" cy="3048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2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Security &amp; Compliance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80120" y="4773691"/>
            <a:ext cx="3078003" cy="2667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공통 보안·규정 준수 기반 Agent Workflow 운영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660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2437566" cy="5029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0" sz="2400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Business Context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968132" y="2022157"/>
            <a:ext cx="915352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1" i="0">
                <a:solidFill>
                  <a:srgbClr val="7858FF"/>
                </a:solidFill>
                <a:latin typeface="Noto Sans CJK KR"/>
                <a:ea typeface="Noto Sans CJK KR"/>
                <a:cs typeface="Noto Sans CJK KR"/>
              </a:rPr>
              <a:t>Apps · Data ·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968132" y="2311717"/>
            <a:ext cx="3398400" cy="3505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51" sz="2039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실행 결과를 다음 판단의 근거로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77206" y="2830472"/>
            <a:ext cx="1082635" cy="3200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80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Understand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36680" y="2830472"/>
            <a:ext cx="794504" cy="3200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80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Retrieve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77206" y="3226712"/>
            <a:ext cx="719494" cy="3200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80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Reason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36680" y="3226712"/>
            <a:ext cx="488275" cy="3200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80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Plan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77206" y="3622952"/>
            <a:ext cx="756642" cy="3200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80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Execute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36680" y="3622952"/>
            <a:ext cx="780216" cy="3200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80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Validate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68132" y="4072532"/>
            <a:ext cx="2629852" cy="2667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위험·낮은 확신·정책 예외 → 담당자 판단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660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34600" y="1645324"/>
            <a:ext cx="3454479" cy="959643"/>
          </a:xfrm>
          <a:prstGeom prst="rect">
            <a:avLst/>
          </a:prstGeom>
          <a:solidFill>
            <a:srgbClr val="F5FAFF"/>
          </a:solidFill>
          <a:ln w="7620">
            <a:solidFill>
              <a:srgbClr val="D1E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34600" y="1645324"/>
            <a:ext cx="3454479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34600" y="2742128"/>
            <a:ext cx="3454479" cy="959643"/>
          </a:xfrm>
          <a:prstGeom prst="rect">
            <a:avLst/>
          </a:prstGeom>
          <a:solidFill>
            <a:srgbClr val="F5FAFF"/>
          </a:solidFill>
          <a:ln w="7620">
            <a:solidFill>
              <a:srgbClr val="D1E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34600" y="2742128"/>
            <a:ext cx="3454479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34600" y="3838932"/>
            <a:ext cx="3454479" cy="959643"/>
          </a:xfrm>
          <a:prstGeom prst="rect">
            <a:avLst/>
          </a:prstGeom>
          <a:solidFill>
            <a:srgbClr val="F5FAFF"/>
          </a:solidFill>
          <a:ln w="7620">
            <a:solidFill>
              <a:srgbClr val="D1E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34600" y="3838932"/>
            <a:ext cx="3454479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34600" y="4935735"/>
            <a:ext cx="3454479" cy="959643"/>
          </a:xfrm>
          <a:prstGeom prst="rect">
            <a:avLst/>
          </a:prstGeom>
          <a:solidFill>
            <a:srgbClr val="F5FAFF"/>
          </a:solidFill>
          <a:ln w="7620">
            <a:solidFill>
              <a:srgbClr val="D1E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34600" y="4935735"/>
            <a:ext cx="3454479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269265" y="624840"/>
            <a:ext cx="450294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DRAFT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457200"/>
            <a:ext cx="3189446" cy="5029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0" sz="2400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App &amp; AI Development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1022508"/>
            <a:ext cx="4733567" cy="3200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8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업무 요구를 새로운 App과 기능으로 구현 · 검증 후 업무에 적용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5802868"/>
            <a:ext cx="3375540" cy="2667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App Builder · 업무 요구를 실행 가능한 기능으로 확장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79380" y="1805344"/>
            <a:ext cx="65055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01 · Define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79380" y="2026324"/>
            <a:ext cx="1186815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8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변경 요구 정의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79380" y="2291119"/>
            <a:ext cx="1789866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필요한 기능과 변경 범위 정의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79380" y="2902148"/>
            <a:ext cx="1061204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02 · Build &amp; Extend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79380" y="3123128"/>
            <a:ext cx="1784032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8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App · Skill · Workflow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79380" y="3387923"/>
            <a:ext cx="1903452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AI 기반 App · 기능 개발과 변경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79380" y="3998952"/>
            <a:ext cx="1278731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03 · Validate &amp; Approve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79380" y="4219932"/>
            <a:ext cx="976907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8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검증과 승인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79380" y="4484727"/>
            <a:ext cx="2314455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분리된 환경에서 기능 검증 · 변경 승인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79380" y="5095755"/>
            <a:ext cx="1110376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04 · Deploy &amp; Reuse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79380" y="5316735"/>
            <a:ext cx="1138118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8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배포와 재사용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79380" y="5581530"/>
            <a:ext cx="2315527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검증된 App 배포 · 업무 적용과 재사용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660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34600" y="1650920"/>
            <a:ext cx="3454479" cy="959643"/>
          </a:xfrm>
          <a:prstGeom prst="rect">
            <a:avLst/>
          </a:prstGeom>
          <a:solidFill>
            <a:srgbClr val="F5FAFF"/>
          </a:solidFill>
          <a:ln w="7620">
            <a:solidFill>
              <a:srgbClr val="D1E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34600" y="1650920"/>
            <a:ext cx="3454479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34600" y="2747724"/>
            <a:ext cx="3454479" cy="959643"/>
          </a:xfrm>
          <a:prstGeom prst="rect">
            <a:avLst/>
          </a:prstGeom>
          <a:solidFill>
            <a:srgbClr val="F5FAFF"/>
          </a:solidFill>
          <a:ln w="7620">
            <a:solidFill>
              <a:srgbClr val="D1E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34600" y="2747724"/>
            <a:ext cx="3454479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34600" y="3844528"/>
            <a:ext cx="3454479" cy="959643"/>
          </a:xfrm>
          <a:prstGeom prst="rect">
            <a:avLst/>
          </a:prstGeom>
          <a:solidFill>
            <a:srgbClr val="F5FAFF"/>
          </a:solidFill>
          <a:ln w="7620">
            <a:solidFill>
              <a:srgbClr val="D1E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34600" y="3844528"/>
            <a:ext cx="3454479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34600" y="4941331"/>
            <a:ext cx="3454479" cy="959643"/>
          </a:xfrm>
          <a:prstGeom prst="rect">
            <a:avLst/>
          </a:prstGeom>
          <a:solidFill>
            <a:srgbClr val="F5FAFF"/>
          </a:solidFill>
          <a:ln w="7620">
            <a:solidFill>
              <a:srgbClr val="D1E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34600" y="4941331"/>
            <a:ext cx="3454479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457200"/>
            <a:ext cx="6689169" cy="5029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0" sz="2400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Agentic Execution — Integrated Operating Model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1022508"/>
            <a:ext cx="3642479" cy="3200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8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SAP 업무 연결 · 판단과 조율 · 기능 확장의 통합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79380" y="1810940"/>
            <a:ext cx="1201340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01 · Business Request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79380" y="2031920"/>
            <a:ext cx="815578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8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업무 요청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79380" y="2296715"/>
            <a:ext cx="1372909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목표와 기대 결과 전달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79380" y="2907744"/>
            <a:ext cx="1406009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02 · Reason &amp; Orchestrate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79380" y="3128724"/>
            <a:ext cx="774620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8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Harness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79380" y="3393519"/>
            <a:ext cx="2420540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Business Context 기반 판단·실행 조율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79380" y="4004548"/>
            <a:ext cx="1503402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03 · SAP Access &amp; Execution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79380" y="4225528"/>
            <a:ext cx="1146690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8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Joule + Tools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79380" y="4490323"/>
            <a:ext cx="2104429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SAP Data 조회 · 허용된 업무 수행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79380" y="5101351"/>
            <a:ext cx="1211341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04 · Validate &amp; Record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79380" y="5322331"/>
            <a:ext cx="976907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8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검증과 기록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79380" y="5587126"/>
            <a:ext cx="1683662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결과 검증·기록 · 예외 전달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660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226820"/>
            <a:ext cx="3738919" cy="7239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90" sz="3600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Agentic Execution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2468880"/>
            <a:ext cx="4560093" cy="3048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2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통합 운영 모델과 Human + Agent 역할 분담 · 판단·실행·협업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29500" y="952500"/>
            <a:ext cx="274200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18940" y="960120"/>
            <a:ext cx="2861667" cy="2362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6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Autonomous Enterprise &amp; Governance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29500" y="1356360"/>
            <a:ext cx="274200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18940" y="1363980"/>
            <a:ext cx="1517927" cy="2362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60" b="1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Agentic Execution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29500" y="1760220"/>
            <a:ext cx="274200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18940" y="1767840"/>
            <a:ext cx="1681519" cy="2362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6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SAP BTP Architecture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29500" y="2164080"/>
            <a:ext cx="274200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18940" y="2171700"/>
            <a:ext cx="1835586" cy="2362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6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Demo &amp; Business Value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660" b="1" i="0">
                <a:solidFill>
                  <a:srgbClr val="FFFFFF"/>
                </a:solidFill>
                <a:latin typeface="Liberation Sans"/>
                <a:ea typeface="Noto Sans CJK KR"/>
                <a:cs typeface="Liberation Sans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1258728"/>
            <a:ext cx="1295400" cy="4038600"/>
          </a:xfrm>
          <a:prstGeom prst="rect">
            <a:avLst/>
          </a:prstGeom>
          <a:solidFill>
            <a:srgbClr val="FFFFFF"/>
          </a:solidFill>
          <a:ln w="7620">
            <a:solidFill>
              <a:srgbClr val="D1E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1258728"/>
            <a:ext cx="1295400" cy="3048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076699" y="1693068"/>
            <a:ext cx="1809750" cy="1409700"/>
          </a:xfrm>
          <a:prstGeom prst="roundRect">
            <a:avLst>
              <a:gd name="adj" fmla="val 1621"/>
            </a:avLst>
          </a:prstGeom>
          <a:solidFill>
            <a:srgbClr val="FFF8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076699" y="1693068"/>
            <a:ext cx="1809750" cy="22860"/>
          </a:xfrm>
          <a:prstGeom prst="rect">
            <a:avLst/>
          </a:prstGeom>
          <a:solidFill>
            <a:srgbClr val="E973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77890" y="1693068"/>
            <a:ext cx="1809750" cy="1409700"/>
          </a:xfrm>
          <a:prstGeom prst="roundRect">
            <a:avLst>
              <a:gd name="adj" fmla="val 1621"/>
            </a:avLst>
          </a:prstGeom>
          <a:solidFill>
            <a:srgbClr val="FFF8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77890" y="1693068"/>
            <a:ext cx="1809750" cy="22860"/>
          </a:xfrm>
          <a:prstGeom prst="rect">
            <a:avLst/>
          </a:prstGeom>
          <a:solidFill>
            <a:srgbClr val="E973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879080" y="1693068"/>
            <a:ext cx="1809750" cy="1409700"/>
          </a:xfrm>
          <a:prstGeom prst="roundRect">
            <a:avLst>
              <a:gd name="adj" fmla="val 1621"/>
            </a:avLst>
          </a:prstGeom>
          <a:solidFill>
            <a:srgbClr val="FFF8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879080" y="1693068"/>
            <a:ext cx="1809750" cy="22860"/>
          </a:xfrm>
          <a:prstGeom prst="rect">
            <a:avLst/>
          </a:prstGeom>
          <a:solidFill>
            <a:srgbClr val="E973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780270" y="1693068"/>
            <a:ext cx="1809750" cy="1409700"/>
          </a:xfrm>
          <a:prstGeom prst="roundRect">
            <a:avLst>
              <a:gd name="adj" fmla="val 1621"/>
            </a:avLst>
          </a:prstGeom>
          <a:solidFill>
            <a:srgbClr val="FFF8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780270" y="1693068"/>
            <a:ext cx="1809750" cy="22860"/>
          </a:xfrm>
          <a:prstGeom prst="rect">
            <a:avLst/>
          </a:prstGeom>
          <a:solidFill>
            <a:srgbClr val="E973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107179" y="3773328"/>
            <a:ext cx="1794510" cy="1409700"/>
          </a:xfrm>
          <a:prstGeom prst="roundRect">
            <a:avLst>
              <a:gd name="adj" fmla="val 1621"/>
            </a:avLst>
          </a:prstGeom>
          <a:solidFill>
            <a:srgbClr val="F5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07179" y="3773328"/>
            <a:ext cx="1794510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93130" y="3773328"/>
            <a:ext cx="1794510" cy="1409700"/>
          </a:xfrm>
          <a:prstGeom prst="roundRect">
            <a:avLst>
              <a:gd name="adj" fmla="val 1621"/>
            </a:avLst>
          </a:prstGeom>
          <a:solidFill>
            <a:srgbClr val="F5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993130" y="3773328"/>
            <a:ext cx="1794510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879080" y="3773328"/>
            <a:ext cx="1794510" cy="1409700"/>
          </a:xfrm>
          <a:prstGeom prst="roundRect">
            <a:avLst>
              <a:gd name="adj" fmla="val 1621"/>
            </a:avLst>
          </a:prstGeom>
          <a:solidFill>
            <a:srgbClr val="F5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879080" y="3773328"/>
            <a:ext cx="1794510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765030" y="3773328"/>
            <a:ext cx="1794510" cy="1409700"/>
          </a:xfrm>
          <a:prstGeom prst="roundRect">
            <a:avLst>
              <a:gd name="adj" fmla="val 1621"/>
            </a:avLst>
          </a:prstGeom>
          <a:solidFill>
            <a:srgbClr val="F5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765030" y="3773328"/>
            <a:ext cx="1794510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457200"/>
            <a:ext cx="4675941" cy="5029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0" sz="2400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Joule — SAP Data 접근과 업무 실행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2354" y="2908815"/>
            <a:ext cx="938331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Business Trigger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6886" y="3183135"/>
            <a:ext cx="809386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2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SAP 조회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6876" y="3491745"/>
            <a:ext cx="969406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Data · 실행 요청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16003" y="3064668"/>
            <a:ext cx="1265634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SAP Business Question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22539" y="3308508"/>
            <a:ext cx="1452681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“Pump Lead Time은?”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37660" y="1426368"/>
            <a:ext cx="860583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A64B00"/>
                </a:solidFill>
                <a:latin typeface="Liberation Sans"/>
                <a:ea typeface="Noto Sans CJK KR"/>
                <a:cs typeface="Liberation Sans"/>
              </a:rPr>
              <a:t>Without Joule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37660" y="2175629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A64B00"/>
                </a:solidFill>
                <a:latin typeface="Noto Sans CJK KR"/>
                <a:ea typeface="Noto Sans CJK KR"/>
                <a:cs typeface="Noto Sans CJK KR"/>
              </a:rPr>
              <a:t>01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37660" y="2396609"/>
            <a:ext cx="1022270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SAP 화면 이동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37660" y="2600444"/>
            <a:ext cx="1271944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필요 Data를 각각 조회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38850" y="2175629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A64B00"/>
                </a:solidFill>
                <a:latin typeface="Noto Sans CJK KR"/>
                <a:ea typeface="Noto Sans CJK KR"/>
                <a:cs typeface="Noto Sans CJK KR"/>
              </a:rPr>
              <a:t>02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038850" y="2396609"/>
            <a:ext cx="1174194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수작업 Data 확인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38850" y="2600444"/>
            <a:ext cx="142529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입고 · 재고 · 계획을 확인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40040" y="2175629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A64B00"/>
                </a:solidFill>
                <a:latin typeface="Noto Sans CJK KR"/>
                <a:ea typeface="Noto Sans CJK KR"/>
                <a:cs typeface="Noto Sans CJK KR"/>
              </a:rPr>
              <a:t>03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940040" y="2396609"/>
            <a:ext cx="828198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수작업 반영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940040" y="2600444"/>
            <a:ext cx="134600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확정된 내용을 직접 처리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841230" y="2175629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A64B00"/>
                </a:solidFill>
                <a:latin typeface="Noto Sans CJK KR"/>
                <a:ea typeface="Noto Sans CJK KR"/>
                <a:cs typeface="Noto Sans CJK KR"/>
              </a:rPr>
              <a:t>04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841230" y="2396609"/>
            <a:ext cx="828198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결과 재공유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841230" y="2600444"/>
            <a:ext cx="1233844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처리 결과를 다시 전달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168140" y="3506628"/>
            <a:ext cx="691157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With Joule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183380" y="4255889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183380" y="4476869"/>
            <a:ext cx="1061680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SAP Data 조회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183380" y="4680704"/>
            <a:ext cx="134600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필요한 현재 정보를 연결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069330" y="4255889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069330" y="4476869"/>
            <a:ext cx="1001672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분석 근거 전달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69330" y="4680704"/>
            <a:ext cx="1508283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Harness 판단에 Data 제공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955279" y="4255889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03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955279" y="4476869"/>
            <a:ext cx="1001672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업무 실행 연결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955279" y="4680704"/>
            <a:ext cx="145780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확정된 판단을 SAP로 전달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841230" y="4255889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841230" y="4476869"/>
            <a:ext cx="1001672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처리 결과 반환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841230" y="4680704"/>
            <a:ext cx="1233844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업무 흐름에 즉시 반영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02920" y="6077902"/>
            <a:ext cx="1395174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50" sz="840" b="1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Joule Key Capabilities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324100" y="5983605"/>
            <a:ext cx="1638300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00" b="1" i="0">
                <a:solidFill>
                  <a:srgbClr val="1D2D3E"/>
                </a:solidFill>
                <a:latin typeface="Liberation Sans"/>
                <a:ea typeface="Noto Sans CJK KR"/>
                <a:cs typeface="Liberation Sans"/>
              </a:rPr>
              <a:t>Real-Time SAP Data Access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324100" y="6126480"/>
            <a:ext cx="2496026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556B82"/>
                </a:solidFill>
                <a:latin typeface="Noto Sans CJK KR"/>
                <a:ea typeface="Noto Sans CJK KR"/>
                <a:cs typeface="Noto Sans CJK KR"/>
              </a:rPr>
              <a:t>현재 Data와 업무 상태를 필요한 맥락으로 제공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078980" y="5983605"/>
            <a:ext cx="1606153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00" b="1" i="0">
                <a:solidFill>
                  <a:srgbClr val="1D2D3E"/>
                </a:solidFill>
                <a:latin typeface="Liberation Sans"/>
                <a:ea typeface="Noto Sans CJK KR"/>
                <a:cs typeface="Liberation Sans"/>
              </a:rPr>
              <a:t>SAP Transaction Execution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078980" y="6126480"/>
            <a:ext cx="2457569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556B82"/>
                </a:solidFill>
                <a:latin typeface="Noto Sans CJK KR"/>
                <a:ea typeface="Noto Sans CJK KR"/>
                <a:cs typeface="Noto Sans CJK KR"/>
              </a:rPr>
              <a:t>확정된 판단을 SAP 처리와 결과 반환으로 연결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920418" y="6614160"/>
            <a:ext cx="210621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660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1258728"/>
            <a:ext cx="1295400" cy="4640818"/>
          </a:xfrm>
          <a:prstGeom prst="rect">
            <a:avLst/>
          </a:prstGeom>
          <a:solidFill>
            <a:srgbClr val="FFFFFF"/>
          </a:solidFill>
          <a:ln w="7620">
            <a:solidFill>
              <a:srgbClr val="D1E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1258728"/>
            <a:ext cx="1295400" cy="3048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076699" y="1654968"/>
            <a:ext cx="1809750" cy="993219"/>
          </a:xfrm>
          <a:prstGeom prst="roundRect">
            <a:avLst>
              <a:gd name="adj" fmla="val 2301"/>
            </a:avLst>
          </a:prstGeom>
          <a:solidFill>
            <a:srgbClr val="FFF8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076699" y="1654968"/>
            <a:ext cx="1809750" cy="22860"/>
          </a:xfrm>
          <a:prstGeom prst="rect">
            <a:avLst/>
          </a:prstGeom>
          <a:solidFill>
            <a:srgbClr val="E973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77890" y="1654968"/>
            <a:ext cx="1809750" cy="993219"/>
          </a:xfrm>
          <a:prstGeom prst="roundRect">
            <a:avLst>
              <a:gd name="adj" fmla="val 2301"/>
            </a:avLst>
          </a:prstGeom>
          <a:solidFill>
            <a:srgbClr val="FFF8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77890" y="1654968"/>
            <a:ext cx="1809750" cy="22860"/>
          </a:xfrm>
          <a:prstGeom prst="rect">
            <a:avLst/>
          </a:prstGeom>
          <a:solidFill>
            <a:srgbClr val="E973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879080" y="1654968"/>
            <a:ext cx="1809750" cy="993219"/>
          </a:xfrm>
          <a:prstGeom prst="roundRect">
            <a:avLst>
              <a:gd name="adj" fmla="val 2301"/>
            </a:avLst>
          </a:prstGeom>
          <a:solidFill>
            <a:srgbClr val="FFF8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879080" y="1654968"/>
            <a:ext cx="1809750" cy="22860"/>
          </a:xfrm>
          <a:prstGeom prst="rect">
            <a:avLst/>
          </a:prstGeom>
          <a:solidFill>
            <a:srgbClr val="E973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780270" y="1654968"/>
            <a:ext cx="1809750" cy="993219"/>
          </a:xfrm>
          <a:prstGeom prst="roundRect">
            <a:avLst>
              <a:gd name="adj" fmla="val 2301"/>
            </a:avLst>
          </a:prstGeom>
          <a:solidFill>
            <a:srgbClr val="FFF8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780270" y="1654968"/>
            <a:ext cx="1809750" cy="22860"/>
          </a:xfrm>
          <a:prstGeom prst="rect">
            <a:avLst/>
          </a:prstGeom>
          <a:solidFill>
            <a:srgbClr val="E973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076699" y="3242548"/>
            <a:ext cx="1809750" cy="993219"/>
          </a:xfrm>
          <a:prstGeom prst="roundRect">
            <a:avLst>
              <a:gd name="adj" fmla="val 2301"/>
            </a:avLst>
          </a:prstGeom>
          <a:solidFill>
            <a:srgbClr val="FFF1F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076699" y="3242548"/>
            <a:ext cx="1809750" cy="22860"/>
          </a:xfrm>
          <a:prstGeom prst="rect">
            <a:avLst/>
          </a:prstGeom>
          <a:solidFill>
            <a:srgbClr val="D23B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77890" y="3242548"/>
            <a:ext cx="1809750" cy="993219"/>
          </a:xfrm>
          <a:prstGeom prst="roundRect">
            <a:avLst>
              <a:gd name="adj" fmla="val 2301"/>
            </a:avLst>
          </a:prstGeom>
          <a:solidFill>
            <a:srgbClr val="FFF1F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977890" y="3242548"/>
            <a:ext cx="1809750" cy="22860"/>
          </a:xfrm>
          <a:prstGeom prst="rect">
            <a:avLst/>
          </a:prstGeom>
          <a:solidFill>
            <a:srgbClr val="D23B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879080" y="3242548"/>
            <a:ext cx="1809750" cy="993219"/>
          </a:xfrm>
          <a:prstGeom prst="roundRect">
            <a:avLst>
              <a:gd name="adj" fmla="val 2301"/>
            </a:avLst>
          </a:prstGeom>
          <a:solidFill>
            <a:srgbClr val="FFF1F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879080" y="3242548"/>
            <a:ext cx="1809750" cy="22860"/>
          </a:xfrm>
          <a:prstGeom prst="rect">
            <a:avLst/>
          </a:prstGeom>
          <a:solidFill>
            <a:srgbClr val="D23B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780270" y="3242548"/>
            <a:ext cx="1809750" cy="993219"/>
          </a:xfrm>
          <a:prstGeom prst="roundRect">
            <a:avLst>
              <a:gd name="adj" fmla="val 2301"/>
            </a:avLst>
          </a:prstGeom>
          <a:solidFill>
            <a:srgbClr val="FFF1F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780270" y="3242548"/>
            <a:ext cx="1809750" cy="22860"/>
          </a:xfrm>
          <a:prstGeom prst="rect">
            <a:avLst/>
          </a:prstGeom>
          <a:solidFill>
            <a:srgbClr val="D23B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107179" y="4852987"/>
            <a:ext cx="1794510" cy="947499"/>
          </a:xfrm>
          <a:prstGeom prst="roundRect">
            <a:avLst>
              <a:gd name="adj" fmla="val 2412"/>
            </a:avLst>
          </a:prstGeom>
          <a:solidFill>
            <a:srgbClr val="F5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107179" y="4852987"/>
            <a:ext cx="1794510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993130" y="4852987"/>
            <a:ext cx="1794510" cy="947499"/>
          </a:xfrm>
          <a:prstGeom prst="roundRect">
            <a:avLst>
              <a:gd name="adj" fmla="val 2412"/>
            </a:avLst>
          </a:prstGeom>
          <a:solidFill>
            <a:srgbClr val="F5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993130" y="4852987"/>
            <a:ext cx="1794510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7879080" y="4852987"/>
            <a:ext cx="1794510" cy="947499"/>
          </a:xfrm>
          <a:prstGeom prst="roundRect">
            <a:avLst>
              <a:gd name="adj" fmla="val 2412"/>
            </a:avLst>
          </a:prstGeom>
          <a:solidFill>
            <a:srgbClr val="F5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879080" y="4852987"/>
            <a:ext cx="1794510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9765030" y="4852987"/>
            <a:ext cx="1794510" cy="947499"/>
          </a:xfrm>
          <a:prstGeom prst="roundRect">
            <a:avLst>
              <a:gd name="adj" fmla="val 2412"/>
            </a:avLst>
          </a:prstGeom>
          <a:solidFill>
            <a:srgbClr val="F5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765030" y="4852987"/>
            <a:ext cx="1794510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2920" y="457200"/>
            <a:ext cx="6770012" cy="5029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0" sz="2400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HANA Knowledge Graph — Business Context 연결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2354" y="3209925"/>
            <a:ext cx="938331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Business Trigger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8792" y="3484245"/>
            <a:ext cx="785455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2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전사 질문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7702" y="3792854"/>
            <a:ext cx="1087635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신규 협력업체 등록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428875" y="3365777"/>
            <a:ext cx="1039891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Business Question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112168" y="3609617"/>
            <a:ext cx="1673423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“업체 등록 기준·담당자는?”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137660" y="1403508"/>
            <a:ext cx="881062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A64B00"/>
                </a:solidFill>
                <a:latin typeface="Liberation Sans"/>
                <a:ea typeface="Noto Sans CJK KR"/>
                <a:cs typeface="Liberation Sans"/>
              </a:rPr>
              <a:t>Without Agent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137660" y="1860708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A64B00"/>
                </a:solidFill>
                <a:latin typeface="Noto Sans CJK KR"/>
                <a:ea typeface="Noto Sans CJK KR"/>
                <a:cs typeface="Noto Sans CJK KR"/>
              </a:rPr>
              <a:t>01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37660" y="2081688"/>
            <a:ext cx="1001672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자료 개별 조회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137660" y="2285523"/>
            <a:ext cx="1459706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IT·품질·Compliance 조회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038850" y="1860708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A64B00"/>
                </a:solidFill>
                <a:latin typeface="Noto Sans CJK KR"/>
                <a:ea typeface="Noto Sans CJK KR"/>
                <a:cs typeface="Noto Sans CJK KR"/>
              </a:rPr>
              <a:t>02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038850" y="2081688"/>
            <a:ext cx="1001672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담당 조직 문의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038850" y="2285523"/>
            <a:ext cx="1233844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부서별 등록 기준 확인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940040" y="1860708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A64B00"/>
                </a:solidFill>
                <a:latin typeface="Noto Sans CJK KR"/>
                <a:ea typeface="Noto Sans CJK KR"/>
                <a:cs typeface="Noto Sans CJK KR"/>
              </a:rPr>
              <a:t>03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940040" y="2081688"/>
            <a:ext cx="1134784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관계 수작업 정리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940040" y="2285523"/>
            <a:ext cx="1476375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업체 · 기준 · System 연결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841230" y="1860708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A64B00"/>
                </a:solidFill>
                <a:latin typeface="Noto Sans CJK KR"/>
                <a:ea typeface="Noto Sans CJK KR"/>
                <a:cs typeface="Noto Sans CJK KR"/>
              </a:rPr>
              <a:t>04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841230" y="2081688"/>
            <a:ext cx="1001672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등록 근거 작성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841230" y="2285523"/>
            <a:ext cx="1380172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담당자 확인 후 요청 제출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137660" y="2991088"/>
            <a:ext cx="1870590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A52222"/>
                </a:solidFill>
                <a:latin typeface="Liberation Sans"/>
                <a:ea typeface="Noto Sans CJK KR"/>
                <a:cs typeface="Liberation Sans"/>
              </a:rPr>
              <a:t>Agent without Knowledge Graph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137660" y="3448288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A52222"/>
                </a:solidFill>
                <a:latin typeface="Noto Sans CJK KR"/>
                <a:ea typeface="Noto Sans CJK KR"/>
                <a:cs typeface="Noto Sans CJK KR"/>
              </a:rPr>
              <a:t>01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137660" y="3669268"/>
            <a:ext cx="694967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문서 검색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137660" y="3873103"/>
            <a:ext cx="1492329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개별 문서의 관련 정보 검색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038850" y="3448288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A52222"/>
                </a:solidFill>
                <a:latin typeface="Noto Sans CJK KR"/>
                <a:ea typeface="Noto Sans CJK KR"/>
                <a:cs typeface="Noto Sans CJK KR"/>
              </a:rPr>
              <a:t>02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038850" y="3669268"/>
            <a:ext cx="1134784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문서별 답변 요약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038850" y="3873103"/>
            <a:ext cx="1329570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담당자 · 기준 후보 정리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940040" y="3448288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A52222"/>
                </a:solidFill>
                <a:latin typeface="Noto Sans CJK KR"/>
                <a:ea typeface="Noto Sans CJK KR"/>
                <a:cs typeface="Noto Sans CJK KR"/>
              </a:rPr>
              <a:t>03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940040" y="3669268"/>
            <a:ext cx="1001672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관계 추가 확인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940040" y="3873103"/>
            <a:ext cx="1571625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업체 · 정책 · 조직 관계 검증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841230" y="3448288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A52222"/>
                </a:solidFill>
                <a:latin typeface="Noto Sans CJK KR"/>
                <a:ea typeface="Noto Sans CJK KR"/>
                <a:cs typeface="Noto Sans CJK KR"/>
              </a:rPr>
              <a:t>04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841230" y="3669268"/>
            <a:ext cx="1134784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사람의 근거 종합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841230" y="3873103"/>
            <a:ext cx="1492329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조건별 적용 기준 최종 확인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168140" y="4601527"/>
            <a:ext cx="1701165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Agent with Knowledge Graph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183380" y="5104447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01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183380" y="5325427"/>
            <a:ext cx="1401484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Enterprise Ontology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183380" y="5529262"/>
            <a:ext cx="168378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조직 · 정책 · 등록 기준 구조화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069330" y="5104447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069330" y="5325427"/>
            <a:ext cx="1001672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관계 기반 탐색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069330" y="5529262"/>
            <a:ext cx="1448752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업체·기준·담당 조직 연결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955279" y="5104447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03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955279" y="5325427"/>
            <a:ext cx="1134784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조건별 근거 확인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955279" y="5529262"/>
            <a:ext cx="1604486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관계 경로와 연결된 근거 확인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841230" y="5104447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04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841230" y="5325427"/>
            <a:ext cx="1134784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등록 근거 재사용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841230" y="5529262"/>
            <a:ext cx="134600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검증된 관계 정보 재활용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02920" y="6077902"/>
            <a:ext cx="1623179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50" sz="840" b="1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HANA KG Key Capabilities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324100" y="5983605"/>
            <a:ext cx="1220628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00" b="1" i="0">
                <a:solidFill>
                  <a:srgbClr val="1D2D3E"/>
                </a:solidFill>
                <a:latin typeface="Liberation Sans"/>
                <a:ea typeface="Noto Sans CJK KR"/>
                <a:cs typeface="Liberation Sans"/>
              </a:rPr>
              <a:t>Enterprise Ontology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324100" y="6126480"/>
            <a:ext cx="227873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556B82"/>
                </a:solidFill>
                <a:latin typeface="Noto Sans CJK KR"/>
                <a:ea typeface="Noto Sans CJK KR"/>
                <a:cs typeface="Noto Sans CJK KR"/>
              </a:rPr>
              <a:t>조직 · 정책 · 기준을 관계 중심으로 구조화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078980" y="5983605"/>
            <a:ext cx="1767125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00" b="1" i="0">
                <a:solidFill>
                  <a:srgbClr val="1D2D3E"/>
                </a:solidFill>
                <a:latin typeface="Liberation Sans"/>
                <a:ea typeface="Noto Sans CJK KR"/>
                <a:cs typeface="Liberation Sans"/>
              </a:rPr>
              <a:t>Relationship-Based Discovery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078980" y="6126480"/>
            <a:ext cx="2190154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556B82"/>
                </a:solidFill>
                <a:latin typeface="Noto Sans CJK KR"/>
                <a:ea typeface="Noto Sans CJK KR"/>
                <a:cs typeface="Noto Sans CJK KR"/>
              </a:rPr>
              <a:t>담당자 · System · 등록 근거를 함께 확인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660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1258728"/>
            <a:ext cx="1295400" cy="4640818"/>
          </a:xfrm>
          <a:prstGeom prst="rect">
            <a:avLst/>
          </a:prstGeom>
          <a:solidFill>
            <a:srgbClr val="FFFFFF"/>
          </a:solidFill>
          <a:ln w="7620">
            <a:solidFill>
              <a:srgbClr val="D1E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1258728"/>
            <a:ext cx="1295400" cy="3048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076699" y="1654968"/>
            <a:ext cx="1809750" cy="993219"/>
          </a:xfrm>
          <a:prstGeom prst="roundRect">
            <a:avLst>
              <a:gd name="adj" fmla="val 2301"/>
            </a:avLst>
          </a:prstGeom>
          <a:solidFill>
            <a:srgbClr val="FFF8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076699" y="1654968"/>
            <a:ext cx="1809750" cy="22860"/>
          </a:xfrm>
          <a:prstGeom prst="rect">
            <a:avLst/>
          </a:prstGeom>
          <a:solidFill>
            <a:srgbClr val="E973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77890" y="1654968"/>
            <a:ext cx="1809750" cy="993219"/>
          </a:xfrm>
          <a:prstGeom prst="roundRect">
            <a:avLst>
              <a:gd name="adj" fmla="val 2301"/>
            </a:avLst>
          </a:prstGeom>
          <a:solidFill>
            <a:srgbClr val="FFF8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77890" y="1654968"/>
            <a:ext cx="1809750" cy="22860"/>
          </a:xfrm>
          <a:prstGeom prst="rect">
            <a:avLst/>
          </a:prstGeom>
          <a:solidFill>
            <a:srgbClr val="E973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879080" y="1654968"/>
            <a:ext cx="1809750" cy="993219"/>
          </a:xfrm>
          <a:prstGeom prst="roundRect">
            <a:avLst>
              <a:gd name="adj" fmla="val 2301"/>
            </a:avLst>
          </a:prstGeom>
          <a:solidFill>
            <a:srgbClr val="FFF8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879080" y="1654968"/>
            <a:ext cx="1809750" cy="22860"/>
          </a:xfrm>
          <a:prstGeom prst="rect">
            <a:avLst/>
          </a:prstGeom>
          <a:solidFill>
            <a:srgbClr val="E973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780270" y="1654968"/>
            <a:ext cx="1809750" cy="993219"/>
          </a:xfrm>
          <a:prstGeom prst="roundRect">
            <a:avLst>
              <a:gd name="adj" fmla="val 2301"/>
            </a:avLst>
          </a:prstGeom>
          <a:solidFill>
            <a:srgbClr val="FFF8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780270" y="1654968"/>
            <a:ext cx="1809750" cy="22860"/>
          </a:xfrm>
          <a:prstGeom prst="rect">
            <a:avLst/>
          </a:prstGeom>
          <a:solidFill>
            <a:srgbClr val="E973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076699" y="3242548"/>
            <a:ext cx="1809750" cy="993219"/>
          </a:xfrm>
          <a:prstGeom prst="roundRect">
            <a:avLst>
              <a:gd name="adj" fmla="val 2301"/>
            </a:avLst>
          </a:prstGeom>
          <a:solidFill>
            <a:srgbClr val="FFF1F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076699" y="3242548"/>
            <a:ext cx="1809750" cy="22860"/>
          </a:xfrm>
          <a:prstGeom prst="rect">
            <a:avLst/>
          </a:prstGeom>
          <a:solidFill>
            <a:srgbClr val="D23B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77890" y="3242548"/>
            <a:ext cx="1809750" cy="993219"/>
          </a:xfrm>
          <a:prstGeom prst="roundRect">
            <a:avLst>
              <a:gd name="adj" fmla="val 2301"/>
            </a:avLst>
          </a:prstGeom>
          <a:solidFill>
            <a:srgbClr val="FFF1F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977890" y="3242548"/>
            <a:ext cx="1809750" cy="22860"/>
          </a:xfrm>
          <a:prstGeom prst="rect">
            <a:avLst/>
          </a:prstGeom>
          <a:solidFill>
            <a:srgbClr val="D23B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879080" y="3242548"/>
            <a:ext cx="1809750" cy="993219"/>
          </a:xfrm>
          <a:prstGeom prst="roundRect">
            <a:avLst>
              <a:gd name="adj" fmla="val 2301"/>
            </a:avLst>
          </a:prstGeom>
          <a:solidFill>
            <a:srgbClr val="FFF1F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879080" y="3242548"/>
            <a:ext cx="1809750" cy="22860"/>
          </a:xfrm>
          <a:prstGeom prst="rect">
            <a:avLst/>
          </a:prstGeom>
          <a:solidFill>
            <a:srgbClr val="D23B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780270" y="3242548"/>
            <a:ext cx="1809750" cy="993219"/>
          </a:xfrm>
          <a:prstGeom prst="roundRect">
            <a:avLst>
              <a:gd name="adj" fmla="val 2301"/>
            </a:avLst>
          </a:prstGeom>
          <a:solidFill>
            <a:srgbClr val="FFF1F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780270" y="3242548"/>
            <a:ext cx="1809750" cy="22860"/>
          </a:xfrm>
          <a:prstGeom prst="rect">
            <a:avLst/>
          </a:prstGeom>
          <a:solidFill>
            <a:srgbClr val="D23B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107179" y="4852987"/>
            <a:ext cx="1794510" cy="947499"/>
          </a:xfrm>
          <a:prstGeom prst="roundRect">
            <a:avLst>
              <a:gd name="adj" fmla="val 2412"/>
            </a:avLst>
          </a:prstGeom>
          <a:solidFill>
            <a:srgbClr val="F5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107179" y="4852987"/>
            <a:ext cx="1794510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993130" y="4852987"/>
            <a:ext cx="1794510" cy="947499"/>
          </a:xfrm>
          <a:prstGeom prst="roundRect">
            <a:avLst>
              <a:gd name="adj" fmla="val 2412"/>
            </a:avLst>
          </a:prstGeom>
          <a:solidFill>
            <a:srgbClr val="F5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993130" y="4852987"/>
            <a:ext cx="1794510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7879080" y="4852987"/>
            <a:ext cx="1794510" cy="947499"/>
          </a:xfrm>
          <a:prstGeom prst="roundRect">
            <a:avLst>
              <a:gd name="adj" fmla="val 2412"/>
            </a:avLst>
          </a:prstGeom>
          <a:solidFill>
            <a:srgbClr val="F5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879080" y="4852987"/>
            <a:ext cx="1794510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9765030" y="4852987"/>
            <a:ext cx="1794510" cy="947499"/>
          </a:xfrm>
          <a:prstGeom prst="roundRect">
            <a:avLst>
              <a:gd name="adj" fmla="val 2412"/>
            </a:avLst>
          </a:prstGeom>
          <a:solidFill>
            <a:srgbClr val="F5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765030" y="4852987"/>
            <a:ext cx="1794510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2920" y="457200"/>
            <a:ext cx="4329707" cy="5029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0" sz="2400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Harness — 업무 판단과 실행 조율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2354" y="3209925"/>
            <a:ext cx="938331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Business Trigger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1270" y="3484245"/>
            <a:ext cx="1140499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2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오늘 업무 실행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9369" y="3792854"/>
            <a:ext cx="1084302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Routine 업무 요청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427327" y="3365777"/>
            <a:ext cx="1043106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Execution Request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170152" y="3609617"/>
            <a:ext cx="1557575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“오늘 Routine 업무 실행”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137660" y="1403508"/>
            <a:ext cx="881062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A64B00"/>
                </a:solidFill>
                <a:latin typeface="Liberation Sans"/>
                <a:ea typeface="Noto Sans CJK KR"/>
                <a:cs typeface="Liberation Sans"/>
              </a:rPr>
              <a:t>Without Agent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137660" y="1860708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A64B00"/>
                </a:solidFill>
                <a:latin typeface="Noto Sans CJK KR"/>
                <a:ea typeface="Noto Sans CJK KR"/>
                <a:cs typeface="Noto Sans CJK KR"/>
              </a:rPr>
              <a:t>01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37660" y="2081688"/>
            <a:ext cx="1134784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업무 수작업 수집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137660" y="2285523"/>
            <a:ext cx="1465064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Wiki · SAP 상태 개별 확인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038850" y="1860708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A64B00"/>
                </a:solidFill>
                <a:latin typeface="Noto Sans CJK KR"/>
                <a:ea typeface="Noto Sans CJK KR"/>
                <a:cs typeface="Noto Sans CJK KR"/>
              </a:rPr>
              <a:t>02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038850" y="2081688"/>
            <a:ext cx="1401246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담당자 우선순위 판단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038850" y="2285523"/>
            <a:ext cx="142529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마감 · 영향도 · 예외 검토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940040" y="1860708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A64B00"/>
                </a:solidFill>
                <a:latin typeface="Noto Sans CJK KR"/>
                <a:ea typeface="Noto Sans CJK KR"/>
                <a:cs typeface="Noto Sans CJK KR"/>
              </a:rPr>
              <a:t>03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940040" y="2081688"/>
            <a:ext cx="1001672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실행 방식 협의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940040" y="2285523"/>
            <a:ext cx="1638776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자동화·담당자 처리 경로 조율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841230" y="1860708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A64B00"/>
                </a:solidFill>
                <a:latin typeface="Noto Sans CJK KR"/>
                <a:ea typeface="Noto Sans CJK KR"/>
                <a:cs typeface="Noto Sans CJK KR"/>
              </a:rPr>
              <a:t>04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841230" y="2081688"/>
            <a:ext cx="1009650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지시·결과 확인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841230" y="2285523"/>
            <a:ext cx="1526500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업무 전달 후 처리 상태 확인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137660" y="2991088"/>
            <a:ext cx="1348620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A52222"/>
                </a:solidFill>
                <a:latin typeface="Liberation Sans"/>
                <a:ea typeface="Noto Sans CJK KR"/>
                <a:cs typeface="Liberation Sans"/>
              </a:rPr>
              <a:t>Agent without Harness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137660" y="3448288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A52222"/>
                </a:solidFill>
                <a:latin typeface="Noto Sans CJK KR"/>
                <a:ea typeface="Noto Sans CJK KR"/>
                <a:cs typeface="Noto Sans CJK KR"/>
              </a:rPr>
              <a:t>01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137660" y="3669268"/>
            <a:ext cx="1001672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개별 요청 입력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137660" y="3873103"/>
            <a:ext cx="1638776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사용자가 조회·분석 작업 지정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038850" y="3448288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A52222"/>
                </a:solidFill>
                <a:latin typeface="Noto Sans CJK KR"/>
                <a:ea typeface="Noto Sans CJK KR"/>
                <a:cs typeface="Noto Sans CJK KR"/>
              </a:rPr>
              <a:t>02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038850" y="3669268"/>
            <a:ext cx="1448633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작업별 답변·Tool 실행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038850" y="3873103"/>
            <a:ext cx="1233844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요청 단위의 결과 반환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940040" y="3448288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A52222"/>
                </a:solidFill>
                <a:latin typeface="Noto Sans CJK KR"/>
                <a:ea typeface="Noto Sans CJK KR"/>
                <a:cs typeface="Noto Sans CJK KR"/>
              </a:rPr>
              <a:t>03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940040" y="3669268"/>
            <a:ext cx="1441489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사람의 실행 경로 조율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940040" y="3873103"/>
            <a:ext cx="1514236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다음 작업·Tool·담당자 선택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841230" y="3448288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A52222"/>
                </a:solidFill>
                <a:latin typeface="Noto Sans CJK KR"/>
                <a:ea typeface="Noto Sans CJK KR"/>
                <a:cs typeface="Noto Sans CJK KR"/>
              </a:rPr>
              <a:t>04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841230" y="3669268"/>
            <a:ext cx="1134784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사람의 후속 확인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841230" y="3873103"/>
            <a:ext cx="1560909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결과 취합·실패 대응·재요청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168140" y="4601527"/>
            <a:ext cx="1179075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Agent with Harness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183380" y="5104447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01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183380" y="5325427"/>
            <a:ext cx="1242179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업무·Context 수집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183380" y="5529262"/>
            <a:ext cx="1468993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Wiki · KG · SAP 상태 연결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069330" y="5104447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069330" y="5325427"/>
            <a:ext cx="1275992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계획·우선순위 결정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069330" y="5529262"/>
            <a:ext cx="142529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마감 · 영향도 · 정책 반영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955279" y="5104447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03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955279" y="5325427"/>
            <a:ext cx="1001672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실행 경로 조율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955279" y="5529262"/>
            <a:ext cx="1360408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승인된 Tool·Agent 연결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841230" y="5104447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04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841230" y="5325427"/>
            <a:ext cx="1009650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검증·예외 처리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841230" y="5529262"/>
            <a:ext cx="1734383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결과 기록 · 필요 시 담당자 판단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02920" y="6077902"/>
            <a:ext cx="1550431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50" sz="840" b="1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Harness Key Capabilities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324100" y="5983605"/>
            <a:ext cx="1502687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00" b="1" i="0">
                <a:solidFill>
                  <a:srgbClr val="1D2D3E"/>
                </a:solidFill>
                <a:latin typeface="Liberation Sans"/>
                <a:ea typeface="Noto Sans CJK KR"/>
                <a:cs typeface="Liberation Sans"/>
              </a:rPr>
              <a:t>Evidence-Based Analysis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324100" y="6126480"/>
            <a:ext cx="246864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556B82"/>
                </a:solidFill>
                <a:latin typeface="Noto Sans CJK KR"/>
                <a:ea typeface="Noto Sans CJK KR"/>
                <a:cs typeface="Noto Sans CJK KR"/>
              </a:rPr>
              <a:t>Wiki · KG · SAP 정보를 연결해 가능 여부 판단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078980" y="5983605"/>
            <a:ext cx="1449466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00" b="1" i="0">
                <a:solidFill>
                  <a:srgbClr val="1D2D3E"/>
                </a:solidFill>
                <a:latin typeface="Liberation Sans"/>
                <a:ea typeface="Noto Sans CJK KR"/>
                <a:cs typeface="Liberation Sans"/>
              </a:rPr>
              <a:t>Execution Orchestration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078980" y="6126480"/>
            <a:ext cx="2345769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556B82"/>
                </a:solidFill>
                <a:latin typeface="Noto Sans CJK KR"/>
                <a:ea typeface="Noto Sans CJK KR"/>
                <a:cs typeface="Noto Sans CJK KR"/>
              </a:rPr>
              <a:t>보완 범위와 업무 지시를 실행 흐름으로 연결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660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1462920"/>
            <a:ext cx="1371600" cy="4312920"/>
          </a:xfrm>
          <a:prstGeom prst="rect">
            <a:avLst/>
          </a:prstGeom>
          <a:noFill/>
          <a:ln w="7620">
            <a:solidFill>
              <a:srgbClr val="D1E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1462920"/>
            <a:ext cx="1371600" cy="3048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131820" y="1904880"/>
            <a:ext cx="2727960" cy="784860"/>
          </a:xfrm>
          <a:prstGeom prst="roundRect">
            <a:avLst>
              <a:gd name="adj" fmla="val 2912"/>
            </a:avLst>
          </a:prstGeom>
          <a:solidFill>
            <a:srgbClr val="F5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131820" y="1904880"/>
            <a:ext cx="2727960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81700" y="1904880"/>
            <a:ext cx="2727960" cy="784860"/>
          </a:xfrm>
          <a:prstGeom prst="roundRect">
            <a:avLst>
              <a:gd name="adj" fmla="val 2912"/>
            </a:avLst>
          </a:prstGeom>
          <a:solidFill>
            <a:srgbClr val="F5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81700" y="1904880"/>
            <a:ext cx="2727960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831580" y="1904880"/>
            <a:ext cx="2727960" cy="784860"/>
          </a:xfrm>
          <a:prstGeom prst="roundRect">
            <a:avLst>
              <a:gd name="adj" fmla="val 2912"/>
            </a:avLst>
          </a:prstGeom>
          <a:solidFill>
            <a:srgbClr val="F5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831580" y="1904880"/>
            <a:ext cx="2727960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131820" y="3383160"/>
            <a:ext cx="1303020" cy="784860"/>
          </a:xfrm>
          <a:prstGeom prst="roundRect">
            <a:avLst>
              <a:gd name="adj" fmla="val 2912"/>
            </a:avLst>
          </a:prstGeom>
          <a:solidFill>
            <a:srgbClr val="FFF1F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131820" y="3383160"/>
            <a:ext cx="1303020" cy="22860"/>
          </a:xfrm>
          <a:prstGeom prst="rect">
            <a:avLst/>
          </a:prstGeom>
          <a:solidFill>
            <a:srgbClr val="D23B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556760" y="3383160"/>
            <a:ext cx="1303020" cy="784860"/>
          </a:xfrm>
          <a:prstGeom prst="roundRect">
            <a:avLst>
              <a:gd name="adj" fmla="val 2912"/>
            </a:avLst>
          </a:prstGeom>
          <a:solidFill>
            <a:srgbClr val="FFF1F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56760" y="3383160"/>
            <a:ext cx="1303020" cy="22860"/>
          </a:xfrm>
          <a:prstGeom prst="rect">
            <a:avLst/>
          </a:prstGeom>
          <a:solidFill>
            <a:srgbClr val="D23B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81700" y="3383160"/>
            <a:ext cx="1303020" cy="784860"/>
          </a:xfrm>
          <a:prstGeom prst="roundRect">
            <a:avLst>
              <a:gd name="adj" fmla="val 2912"/>
            </a:avLst>
          </a:prstGeom>
          <a:solidFill>
            <a:srgbClr val="FFF1F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981700" y="3383160"/>
            <a:ext cx="1303020" cy="22860"/>
          </a:xfrm>
          <a:prstGeom prst="rect">
            <a:avLst/>
          </a:prstGeom>
          <a:solidFill>
            <a:srgbClr val="D23B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406640" y="3383160"/>
            <a:ext cx="1303020" cy="784860"/>
          </a:xfrm>
          <a:prstGeom prst="roundRect">
            <a:avLst>
              <a:gd name="adj" fmla="val 2912"/>
            </a:avLst>
          </a:prstGeom>
          <a:solidFill>
            <a:srgbClr val="FFF1F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406640" y="3383160"/>
            <a:ext cx="1303020" cy="22860"/>
          </a:xfrm>
          <a:prstGeom prst="rect">
            <a:avLst/>
          </a:prstGeom>
          <a:solidFill>
            <a:srgbClr val="D23B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831580" y="3383160"/>
            <a:ext cx="1303020" cy="784860"/>
          </a:xfrm>
          <a:prstGeom prst="roundRect">
            <a:avLst>
              <a:gd name="adj" fmla="val 2912"/>
            </a:avLst>
          </a:prstGeom>
          <a:solidFill>
            <a:srgbClr val="FFF1F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831580" y="3383160"/>
            <a:ext cx="1303020" cy="22860"/>
          </a:xfrm>
          <a:prstGeom prst="rect">
            <a:avLst/>
          </a:prstGeom>
          <a:solidFill>
            <a:srgbClr val="D23B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0256520" y="3383160"/>
            <a:ext cx="1303020" cy="784860"/>
          </a:xfrm>
          <a:prstGeom prst="roundRect">
            <a:avLst>
              <a:gd name="adj" fmla="val 2912"/>
            </a:avLst>
          </a:prstGeom>
          <a:solidFill>
            <a:srgbClr val="FFF1F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0256520" y="3383160"/>
            <a:ext cx="1303020" cy="22860"/>
          </a:xfrm>
          <a:prstGeom prst="rect">
            <a:avLst/>
          </a:prstGeom>
          <a:solidFill>
            <a:srgbClr val="D23B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131820" y="4861440"/>
            <a:ext cx="1587936" cy="784860"/>
          </a:xfrm>
          <a:prstGeom prst="roundRect">
            <a:avLst>
              <a:gd name="adj" fmla="val 2912"/>
            </a:avLst>
          </a:prstGeom>
          <a:solidFill>
            <a:srgbClr val="FFF8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131820" y="4861440"/>
            <a:ext cx="1587936" cy="22860"/>
          </a:xfrm>
          <a:prstGeom prst="rect">
            <a:avLst/>
          </a:prstGeom>
          <a:solidFill>
            <a:srgbClr val="E973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4841676" y="4861440"/>
            <a:ext cx="1588055" cy="784860"/>
          </a:xfrm>
          <a:prstGeom prst="roundRect">
            <a:avLst>
              <a:gd name="adj" fmla="val 2912"/>
            </a:avLst>
          </a:prstGeom>
          <a:solidFill>
            <a:srgbClr val="FFF8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841676" y="4861440"/>
            <a:ext cx="1588055" cy="22860"/>
          </a:xfrm>
          <a:prstGeom prst="rect">
            <a:avLst/>
          </a:prstGeom>
          <a:solidFill>
            <a:srgbClr val="E973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551652" y="4861440"/>
            <a:ext cx="1587936" cy="784860"/>
          </a:xfrm>
          <a:prstGeom prst="roundRect">
            <a:avLst>
              <a:gd name="adj" fmla="val 2912"/>
            </a:avLst>
          </a:prstGeom>
          <a:solidFill>
            <a:srgbClr val="FFF8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551652" y="4861440"/>
            <a:ext cx="1587936" cy="22860"/>
          </a:xfrm>
          <a:prstGeom prst="rect">
            <a:avLst/>
          </a:prstGeom>
          <a:solidFill>
            <a:srgbClr val="E973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261508" y="4861440"/>
            <a:ext cx="1588055" cy="784860"/>
          </a:xfrm>
          <a:prstGeom prst="roundRect">
            <a:avLst>
              <a:gd name="adj" fmla="val 2912"/>
            </a:avLst>
          </a:prstGeom>
          <a:solidFill>
            <a:srgbClr val="FFF8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261508" y="4861440"/>
            <a:ext cx="1588055" cy="22860"/>
          </a:xfrm>
          <a:prstGeom prst="rect">
            <a:avLst/>
          </a:prstGeom>
          <a:solidFill>
            <a:srgbClr val="E973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9971484" y="4861440"/>
            <a:ext cx="1587936" cy="784860"/>
          </a:xfrm>
          <a:prstGeom prst="roundRect">
            <a:avLst>
              <a:gd name="adj" fmla="val 2912"/>
            </a:avLst>
          </a:prstGeom>
          <a:solidFill>
            <a:srgbClr val="FFF8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971484" y="4861440"/>
            <a:ext cx="1587936" cy="22860"/>
          </a:xfrm>
          <a:prstGeom prst="rect">
            <a:avLst/>
          </a:prstGeom>
          <a:solidFill>
            <a:srgbClr val="E973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2920" y="661392"/>
            <a:ext cx="4199334" cy="5029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0" sz="2400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App Builder — App 변경과 배포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9383" y="3375540"/>
            <a:ext cx="940474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COMMON START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9370" y="3680340"/>
            <a:ext cx="1140499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2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납품 문서 수신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235755" y="2293500"/>
            <a:ext cx="719018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Image 문서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057400" y="4510920"/>
            <a:ext cx="1075729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A64B00"/>
                </a:solidFill>
                <a:latin typeface="Liberation Sans"/>
                <a:ea typeface="Noto Sans CJK KR"/>
                <a:cs typeface="Liberation Sans"/>
              </a:rPr>
              <a:t>CSV · 다양한 형식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192780" y="1641990"/>
            <a:ext cx="422433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DAILY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645693" y="1592460"/>
            <a:ext cx="1315521" cy="2819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0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일상 업무 Process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118854" y="1981080"/>
            <a:ext cx="809505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System 유지비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208020" y="2189321"/>
            <a:ext cx="443745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OCR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208020" y="2393156"/>
            <a:ext cx="863203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납품 문서 인식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28515" y="1981080"/>
            <a:ext cx="649724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Token 비용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057900" y="2189321"/>
            <a:ext cx="1272897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AI Agent Interface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057900" y="2393156"/>
            <a:ext cx="863203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업무 정보 연결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907780" y="2189321"/>
            <a:ext cx="694967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입고 반영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907780" y="2393156"/>
            <a:ext cx="863203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운영 계획 반영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192780" y="3120270"/>
            <a:ext cx="1385054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FFFFFF"/>
                </a:solidFill>
                <a:latin typeface="Liberation Sans"/>
                <a:ea typeface="Noto Sans CJK KR"/>
                <a:cs typeface="Liberation Sans"/>
              </a:rPr>
              <a:t>ISSUE without App Builder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608314" y="3070740"/>
            <a:ext cx="1638657" cy="2819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0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신규 업체 추가 Process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958947" y="3459360"/>
            <a:ext cx="544472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A93D00"/>
                </a:solidFill>
                <a:latin typeface="Noto Sans CJK KR"/>
                <a:ea typeface="Noto Sans CJK KR"/>
                <a:cs typeface="Noto Sans CJK KR"/>
              </a:rPr>
              <a:t>형식 차이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208020" y="3667601"/>
            <a:ext cx="750331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OCR 실패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208020" y="3871436"/>
            <a:ext cx="112168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인식 불가 형식 감지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258871" y="3459360"/>
            <a:ext cx="669488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A93D00"/>
                </a:solidFill>
                <a:latin typeface="Noto Sans CJK KR"/>
                <a:ea typeface="Noto Sans CJK KR"/>
                <a:cs typeface="Noto Sans CJK KR"/>
              </a:rPr>
              <a:t>IT 인력 필요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632960" y="3667601"/>
            <a:ext cx="1127640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IT 추가개발 요청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632960" y="3871436"/>
            <a:ext cx="115597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개발 요청·순위 조율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808827" y="3459360"/>
            <a:ext cx="544472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A93D00"/>
                </a:solidFill>
                <a:latin typeface="Noto Sans CJK KR"/>
                <a:ea typeface="Noto Sans CJK KR"/>
                <a:cs typeface="Noto Sans CJK KR"/>
              </a:rPr>
              <a:t>개발 대기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057900" y="3667601"/>
            <a:ext cx="654724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추가개발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057900" y="3871436"/>
            <a:ext cx="1200388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신규 형식 Logic 구현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233767" y="3459360"/>
            <a:ext cx="544472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A93D00"/>
                </a:solidFill>
                <a:latin typeface="Noto Sans CJK KR"/>
                <a:ea typeface="Noto Sans CJK KR"/>
                <a:cs typeface="Noto Sans CJK KR"/>
              </a:rPr>
              <a:t>운영 지연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482840" y="3667601"/>
            <a:ext cx="388381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배포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482840" y="3871436"/>
            <a:ext cx="112168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변경 사항 운영 반영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658707" y="3459360"/>
            <a:ext cx="544472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A93D00"/>
                </a:solidFill>
                <a:latin typeface="Noto Sans CJK KR"/>
                <a:ea typeface="Noto Sans CJK KR"/>
                <a:cs typeface="Noto Sans CJK KR"/>
              </a:rPr>
              <a:t>기준 보완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907780" y="3667601"/>
            <a:ext cx="654724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기준수정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907780" y="3871436"/>
            <a:ext cx="863203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처리 기준 반영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211758" y="3459360"/>
            <a:ext cx="416361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A93D00"/>
                </a:solidFill>
                <a:latin typeface="Noto Sans CJK KR"/>
                <a:ea typeface="Noto Sans CJK KR"/>
                <a:cs typeface="Noto Sans CJK KR"/>
              </a:rPr>
              <a:t>재작업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332720" y="3667601"/>
            <a:ext cx="694967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입고 반영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332720" y="3871436"/>
            <a:ext cx="863203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운영 계획 반영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192780" y="4598550"/>
            <a:ext cx="1236702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FFFFFF"/>
                </a:solidFill>
                <a:latin typeface="Liberation Sans"/>
                <a:ea typeface="Noto Sans CJK KR"/>
                <a:cs typeface="Liberation Sans"/>
              </a:rPr>
              <a:t>ISSUE with App Builder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459962" y="4549020"/>
            <a:ext cx="1638657" cy="2819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0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신규 업체 추가 Process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243863" y="4937640"/>
            <a:ext cx="544472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A93D00"/>
                </a:solidFill>
                <a:latin typeface="Noto Sans CJK KR"/>
                <a:ea typeface="Noto Sans CJK KR"/>
                <a:cs typeface="Noto Sans CJK KR"/>
              </a:rPr>
              <a:t>형식 차이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208020" y="5145881"/>
            <a:ext cx="443745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OCR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208020" y="5349716"/>
            <a:ext cx="112168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인식 불가 형식 감지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953839" y="4937640"/>
            <a:ext cx="544472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A93D00"/>
                </a:solidFill>
                <a:latin typeface="Noto Sans CJK KR"/>
                <a:ea typeface="Noto Sans CJK KR"/>
                <a:cs typeface="Noto Sans CJK KR"/>
              </a:rPr>
              <a:t>자동 보완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917876" y="5145881"/>
            <a:ext cx="870465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App Builder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917876" y="5349716"/>
            <a:ext cx="60483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코드 수정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535703" y="4937640"/>
            <a:ext cx="672465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A93D00"/>
                </a:solidFill>
                <a:latin typeface="Noto Sans CJK KR"/>
                <a:ea typeface="Noto Sans CJK KR"/>
                <a:cs typeface="Noto Sans CJK KR"/>
              </a:rPr>
              <a:t>배포 전 검증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627852" y="5145881"/>
            <a:ext cx="1133355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Sandbox 테스트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627852" y="5349716"/>
            <a:ext cx="1475898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변경 코드 · 처리 결과 확인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373671" y="4937640"/>
            <a:ext cx="544472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A93D00"/>
                </a:solidFill>
                <a:latin typeface="Noto Sans CJK KR"/>
                <a:ea typeface="Noto Sans CJK KR"/>
                <a:cs typeface="Noto Sans CJK KR"/>
              </a:rPr>
              <a:t>자동 배포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337708" y="5145881"/>
            <a:ext cx="388381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배포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337708" y="5349716"/>
            <a:ext cx="863203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처리 흐름 적용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985420" y="4937640"/>
            <a:ext cx="642580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A93D00"/>
                </a:solidFill>
                <a:latin typeface="Noto Sans CJK KR"/>
                <a:ea typeface="Noto Sans CJK KR"/>
                <a:cs typeface="Noto Sans CJK KR"/>
              </a:rPr>
              <a:t>자동 재처리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047684" y="5145881"/>
            <a:ext cx="694967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입고 반영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047684" y="5349716"/>
            <a:ext cx="863203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운영 계획 반영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02920" y="6077902"/>
            <a:ext cx="1645800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50" sz="840" b="1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APP BUILDER CAPABILITY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2324100" y="5983605"/>
            <a:ext cx="816411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00" b="1" i="0">
                <a:solidFill>
                  <a:srgbClr val="1D2D3E"/>
                </a:solidFill>
                <a:latin typeface="Liberation Sans"/>
                <a:ea typeface="Noto Sans CJK KR"/>
                <a:cs typeface="Liberation Sans"/>
              </a:rPr>
              <a:t>변경 자동 보완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2324100" y="6126480"/>
            <a:ext cx="1781770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556B82"/>
                </a:solidFill>
                <a:latin typeface="Noto Sans CJK KR"/>
                <a:ea typeface="Noto Sans CJK KR"/>
                <a:cs typeface="Noto Sans CJK KR"/>
              </a:rPr>
              <a:t>AI Coding으로 처리 기준을 보완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078980" y="5983605"/>
            <a:ext cx="991433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00" b="1" i="0">
                <a:solidFill>
                  <a:srgbClr val="1D2D3E"/>
                </a:solidFill>
                <a:latin typeface="Liberation Sans"/>
                <a:ea typeface="Noto Sans CJK KR"/>
                <a:cs typeface="Liberation Sans"/>
              </a:rPr>
              <a:t>배포 · 재처리 연결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7078980" y="6126480"/>
            <a:ext cx="1898094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556B82"/>
                </a:solidFill>
                <a:latin typeface="Noto Sans CJK KR"/>
                <a:ea typeface="Noto Sans CJK KR"/>
                <a:cs typeface="Noto Sans CJK KR"/>
              </a:rPr>
              <a:t>신규 App 배포 후 업무 흐름에 반영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660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5352097" cy="5029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0" sz="2400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Harness Deep Agent — 복합 분석과 계획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5579" y="3258978"/>
            <a:ext cx="909161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34" sz="84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RISK REQUEST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1780" y="3495198"/>
            <a:ext cx="736639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8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고객 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1884" y="3775233"/>
            <a:ext cx="976431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매출채권 Risk 관리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76500" y="1502568"/>
            <a:ext cx="895826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50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Risk 질문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90800" y="1982628"/>
            <a:ext cx="86260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34" sz="84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RA QUESTION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90800" y="2195988"/>
            <a:ext cx="1413033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언제 부실 위험이 되는가?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90800" y="2375773"/>
            <a:ext cx="1390411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고객 신용 · 채권 · 거래 조건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66060" y="2761297"/>
            <a:ext cx="60483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질문 분해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66060" y="2973109"/>
            <a:ext cx="1067276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19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신용 · 연체 · 조건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66060" y="3246953"/>
            <a:ext cx="60483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분석 범위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66060" y="3435905"/>
            <a:ext cx="113442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고객 · 매출채권 · 계약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66060" y="3694152"/>
            <a:ext cx="60483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확인 과제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66060" y="3905964"/>
            <a:ext cx="1028223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19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위험 신호와 영향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56540" y="1456848"/>
            <a:ext cx="1329213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50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Deep Analysis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70840" y="1929288"/>
            <a:ext cx="1341953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34" sz="84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HARNESS DEEP AGENT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70840" y="2142648"/>
            <a:ext cx="1345287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분해된 질문별 근거 조회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770840" y="2322433"/>
            <a:ext cx="142779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각 정보원에 맞는 Query 실행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01320" y="2791777"/>
            <a:ext cx="486608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34" sz="84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QUERY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01320" y="3005137"/>
            <a:ext cx="641985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43" sz="108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LLM Wiki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717500" y="3208496"/>
            <a:ext cx="76616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RA · 협의 이력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39413" y="2791777"/>
            <a:ext cx="486608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34" sz="84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QUERY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39413" y="3005137"/>
            <a:ext cx="693420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43" sz="108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HANA KG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55593" y="3208496"/>
            <a:ext cx="652105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관계사·Risk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77507" y="2791777"/>
            <a:ext cx="486608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34" sz="84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QUERY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77507" y="3005137"/>
            <a:ext cx="422433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43" sz="108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Joule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93687" y="3208496"/>
            <a:ext cx="830580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채권·한도·주문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46100" y="4064317"/>
            <a:ext cx="60483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결과 수집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46100" y="4276129"/>
            <a:ext cx="1691282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19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세 정보원의 Query 결과 반환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46100" y="4549973"/>
            <a:ext cx="60483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근거 종합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6100" y="4738925"/>
            <a:ext cx="1400055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고객 신용 · 채권 · 관계 Risk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46100" y="4997172"/>
            <a:ext cx="531495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RA 결론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46100" y="5208984"/>
            <a:ext cx="1500901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19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위험 등급 · 대응 우선순위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836580" y="1502568"/>
            <a:ext cx="875942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50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대응 지시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950880" y="1982628"/>
            <a:ext cx="811291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34" sz="84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RISK ACTION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950880" y="2195988"/>
            <a:ext cx="1233130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실행 가능한 조치 제안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950880" y="2375773"/>
            <a:ext cx="1104542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Risk 수준에 맞춘 대응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26140" y="2761297"/>
            <a:ext cx="60483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한도 조정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26140" y="2973109"/>
            <a:ext cx="1262538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19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신용 한도 · 주문 보류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126140" y="3246953"/>
            <a:ext cx="60483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조건 보완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26140" y="3435905"/>
            <a:ext cx="1164193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결제 조건 · 담보 · 승인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126140" y="3694152"/>
            <a:ext cx="60483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업무 지시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26140" y="3905964"/>
            <a:ext cx="1381720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19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담당자 · 후속 조치 전달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836580" y="4629388"/>
            <a:ext cx="151411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34" sz="84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SKILL.MD ACCUMULATION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126140" y="4926568"/>
            <a:ext cx="917733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분석 Pattern 확정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126140" y="5167312"/>
            <a:ext cx="721399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Skill.md 축적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126140" y="5408056"/>
            <a:ext cx="868322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다음 질문 재사용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660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4446508" cy="5029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0" sz="2400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Harness A2A — Cross-Team 협업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2343" y="3181469"/>
            <a:ext cx="1255514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34" sz="84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CUSTOMER REQUEST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6752" y="3417689"/>
            <a:ext cx="1186815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8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수주 조건 변경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1053" y="3697724"/>
            <a:ext cx="938093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물량 · 가격 · 납기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76500" y="1502568"/>
            <a:ext cx="991314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50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영업 Team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90800" y="1982628"/>
            <a:ext cx="1182290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34" sz="84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WIKI · TICKET NOTE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90800" y="2195988"/>
            <a:ext cx="1120973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수주 조건 확인 요청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90800" y="2375773"/>
            <a:ext cx="1616511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고객 요청 · 계약 조건 · 협의 이력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28900" y="2761297"/>
            <a:ext cx="762119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JOULE 조회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28900" y="2973109"/>
            <a:ext cx="1186457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19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수주 · 가격 · 수익성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28900" y="3246953"/>
            <a:ext cx="60483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조건 확인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28900" y="3435905"/>
            <a:ext cx="1193006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현재 계약 조건과 수익성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28900" y="3694152"/>
            <a:ext cx="118264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HARNESS 결론 생성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28900" y="3974544"/>
            <a:ext cx="60483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분석 결과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28900" y="4186356"/>
            <a:ext cx="909042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19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수주 조건 초안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28900" y="4460200"/>
            <a:ext cx="637698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WIKI 답변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28900" y="4672012"/>
            <a:ext cx="1536144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19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영업 Team 검토 결과 공유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56540" y="1502568"/>
            <a:ext cx="1341834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50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생산관리 Team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770840" y="1982628"/>
            <a:ext cx="1182290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34" sz="84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WIKI · TICKET NOTE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770840" y="2195988"/>
            <a:ext cx="1120973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생산 가능 여부 요청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770840" y="2375773"/>
            <a:ext cx="1627822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수주 조건 · 우선순위 · 검토 Note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808940" y="2761297"/>
            <a:ext cx="762119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JOULE 조회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08940" y="2973109"/>
            <a:ext cx="1233011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19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생산계획 · Line 여력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08940" y="3246953"/>
            <a:ext cx="60483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조건 확인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08940" y="3435905"/>
            <a:ext cx="996791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기존 고객 납기 약속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08940" y="3694152"/>
            <a:ext cx="118264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HARNESS 결론 생성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808940" y="3974544"/>
            <a:ext cx="60483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분석 결과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08940" y="4186356"/>
            <a:ext cx="909042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19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생산 가능 조건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808940" y="4460200"/>
            <a:ext cx="637698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WIKI 답변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808940" y="4672012"/>
            <a:ext cx="1774507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19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생산관리 Team 검토 결과 공유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836580" y="1502568"/>
            <a:ext cx="991314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50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구매 Team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950880" y="1982628"/>
            <a:ext cx="1182290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34" sz="84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WIKI · TICKET NOTE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950880" y="2195988"/>
            <a:ext cx="1379100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자재 확보 가능 여부 요청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950880" y="2375773"/>
            <a:ext cx="1643181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필요 자재 · 공급 Risk · 대응 Note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988980" y="2761297"/>
            <a:ext cx="762119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JOULE 조회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988980" y="2973109"/>
            <a:ext cx="1539954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19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재고 · 발주 · 공급사 · 단가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988980" y="3246953"/>
            <a:ext cx="60483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조건 확인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988980" y="3435905"/>
            <a:ext cx="1488519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대체 가능성 · 납기 · 원가 영향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988980" y="3694152"/>
            <a:ext cx="118264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HARNESS 결론 생성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88980" y="3974544"/>
            <a:ext cx="60483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분석 결과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988980" y="4186356"/>
            <a:ext cx="1536858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19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공급 가능 조건 · 원가 영향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988980" y="4460200"/>
            <a:ext cx="637698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WIKI 답변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988980" y="4672012"/>
            <a:ext cx="1536144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19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구매 Team 검토 결과 공유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660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226820"/>
            <a:ext cx="4449841" cy="7239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90" sz="3600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SAP BTP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2468880"/>
            <a:ext cx="2519124" cy="3048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2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SAP BTP 기반의 구현 구조와 운영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29500" y="952500"/>
            <a:ext cx="274200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18940" y="960120"/>
            <a:ext cx="2861667" cy="2362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6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Autonomous Enterprise &amp; Governance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29500" y="1356360"/>
            <a:ext cx="274200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18940" y="1363980"/>
            <a:ext cx="1402913" cy="2362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6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Agentic Execution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29500" y="1760220"/>
            <a:ext cx="274200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18940" y="1767840"/>
            <a:ext cx="1790819" cy="2362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60" b="1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SAP BTP Architecture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29500" y="2164080"/>
            <a:ext cx="274200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18940" y="2171700"/>
            <a:ext cx="1835586" cy="2362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6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Demo &amp; Business Value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660" b="1" i="0">
                <a:solidFill>
                  <a:srgbClr val="FFFFFF"/>
                </a:solidFill>
                <a:latin typeface="Liberation Sans"/>
                <a:ea typeface="Noto Sans CJK KR"/>
                <a:cs typeface="Liberation Sans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4670226" cy="5029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0" sz="2400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SAP BTP — Standard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660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5810488" cy="5029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0" sz="2400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SAP BTP — Kyma App-in-App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660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4620577" cy="5029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0" sz="2400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SAP BTP — Platform Value &amp; TCO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533054" y="1209198"/>
            <a:ext cx="535900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52" sz="1500" b="1" i="0">
                <a:solidFill>
                  <a:srgbClr val="FFFFFF"/>
                </a:solidFill>
                <a:latin typeface="Liberation Sans"/>
                <a:ea typeface="Noto Sans CJK KR"/>
                <a:cs typeface="Liberation Sans"/>
              </a:rPr>
              <a:t>AWS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05444" y="1209198"/>
            <a:ext cx="617934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52" sz="1500" b="1" i="0">
                <a:solidFill>
                  <a:srgbClr val="FFFFFF"/>
                </a:solidFill>
                <a:latin typeface="Liberation Sans"/>
                <a:ea typeface="Noto Sans CJK KR"/>
                <a:cs typeface="Liberation Sans"/>
              </a:rPr>
              <a:t>Azure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50781" y="1254918"/>
            <a:ext cx="1489710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40" sz="1140" b="1" i="0">
                <a:solidFill>
                  <a:srgbClr val="FFFFFF"/>
                </a:solidFill>
                <a:latin typeface="Liberation Sans"/>
                <a:ea typeface="Noto Sans CJK KR"/>
                <a:cs typeface="Liberation Sans"/>
              </a:rPr>
              <a:t>S/4 연동 시 필요한 작업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11307" y="1209198"/>
            <a:ext cx="897493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52" sz="1500" b="1" i="0">
                <a:solidFill>
                  <a:srgbClr val="FFFFFF"/>
                </a:solidFill>
                <a:latin typeface="Liberation Sans"/>
                <a:ea typeface="Noto Sans CJK KR"/>
                <a:cs typeface="Liberation Sans"/>
              </a:rPr>
              <a:t>SAP BTP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4755" y="1716643"/>
            <a:ext cx="548640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1" i="0">
                <a:solidFill>
                  <a:srgbClr val="39779D"/>
                </a:solidFill>
                <a:latin typeface="Liberation Sans"/>
                <a:ea typeface="Noto Sans CJK KR"/>
                <a:cs typeface="Liberation Sans"/>
              </a:rPr>
              <a:t>Runtime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30660" y="1701403"/>
            <a:ext cx="740687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6" sz="1019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EKS · ECS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1704" y="1701403"/>
            <a:ext cx="1405413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6" sz="1019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AKS · Container Apps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15908" y="1656397"/>
            <a:ext cx="1359574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4" sz="960" b="1" i="0">
                <a:solidFill>
                  <a:srgbClr val="C65B00"/>
                </a:solidFill>
                <a:latin typeface="Liberation Sans"/>
                <a:ea typeface="Noto Sans CJK KR"/>
                <a:cs typeface="Liberation Sans"/>
              </a:rPr>
              <a:t>업무 App 개발·배포·운영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71272" y="1816417"/>
            <a:ext cx="1248846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1" i="0">
                <a:solidFill>
                  <a:srgbClr val="5B738B"/>
                </a:solidFill>
                <a:latin typeface="Liberation Sans"/>
                <a:ea typeface="Noto Sans CJK KR"/>
                <a:cs typeface="Liberation Sans"/>
              </a:rPr>
              <a:t>개발·Test·배포 체계 구성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17950" y="1609248"/>
            <a:ext cx="1284208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8" sz="1140" b="1" i="0">
                <a:solidFill>
                  <a:srgbClr val="1B90FF"/>
                </a:solidFill>
                <a:latin typeface="Liberation Sans"/>
                <a:ea typeface="Noto Sans CJK KR"/>
                <a:cs typeface="Liberation Sans"/>
              </a:rPr>
              <a:t>Kyma · SAP Build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57466" y="1807368"/>
            <a:ext cx="1405294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1" i="0">
                <a:solidFill>
                  <a:srgbClr val="475E75"/>
                </a:solidFill>
                <a:latin typeface="Liberation Sans"/>
                <a:ea typeface="Noto Sans CJK KR"/>
                <a:cs typeface="Liberation Sans"/>
              </a:rPr>
              <a:t>업무 App 변경·배포·운영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1180" y="2160031"/>
            <a:ext cx="615791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1" i="0">
                <a:solidFill>
                  <a:srgbClr val="39779D"/>
                </a:solidFill>
                <a:latin typeface="Liberation Sans"/>
                <a:ea typeface="Noto Sans CJK KR"/>
                <a:cs typeface="Liberation Sans"/>
              </a:rPr>
              <a:t>AI / Agent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33612" y="2144791"/>
            <a:ext cx="1134784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6" sz="1019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Amazon Bedrock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44590" y="2144791"/>
            <a:ext cx="939641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6" sz="1019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Azure OpenAI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68164" y="2099786"/>
            <a:ext cx="1455062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4" sz="960" b="1" i="0">
                <a:solidFill>
                  <a:srgbClr val="C65B00"/>
                </a:solidFill>
                <a:latin typeface="Liberation Sans"/>
                <a:ea typeface="Noto Sans CJK KR"/>
                <a:cs typeface="Liberation Sans"/>
              </a:rPr>
              <a:t>Agent 실행·업무 지시 구성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93167" y="2259806"/>
            <a:ext cx="1404937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1" i="0">
                <a:solidFill>
                  <a:srgbClr val="5B738B"/>
                </a:solidFill>
                <a:latin typeface="Liberation Sans"/>
                <a:ea typeface="Noto Sans CJK KR"/>
                <a:cs typeface="Liberation Sans"/>
              </a:rPr>
              <a:t>Prompt·실행 흐름 직접 설계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57704" y="2052637"/>
            <a:ext cx="1404818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8" sz="1140" b="1" i="0">
                <a:solidFill>
                  <a:srgbClr val="1B90FF"/>
                </a:solidFill>
                <a:latin typeface="Liberation Sans"/>
                <a:ea typeface="Noto Sans CJK KR"/>
                <a:cs typeface="Liberation Sans"/>
              </a:rPr>
              <a:t>SAP AI Core · Joule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94745" y="2250757"/>
            <a:ext cx="1130736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1" i="0">
                <a:solidFill>
                  <a:srgbClr val="475E75"/>
                </a:solidFill>
                <a:latin typeface="Liberation Sans"/>
                <a:ea typeface="Noto Sans CJK KR"/>
                <a:cs typeface="Liberation Sans"/>
              </a:rPr>
              <a:t>AI 실행과 업무 지시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1630" y="2603063"/>
            <a:ext cx="1034772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1" i="0">
                <a:solidFill>
                  <a:srgbClr val="39779D"/>
                </a:solidFill>
                <a:latin typeface="Liberation Sans"/>
                <a:ea typeface="Noto Sans CJK KR"/>
                <a:cs typeface="Liberation Sans"/>
              </a:rPr>
              <a:t>Knowledge Graph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74187" y="2588180"/>
            <a:ext cx="1453634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6" sz="1019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Neptune · OpenSearch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80604" y="2588180"/>
            <a:ext cx="1867733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6" sz="1019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Cosmos DB · Azure AI Search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06370" y="2543175"/>
            <a:ext cx="1578649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4" sz="960" b="1" i="0">
                <a:solidFill>
                  <a:srgbClr val="C65B00"/>
                </a:solidFill>
                <a:latin typeface="Liberation Sans"/>
                <a:ea typeface="Noto Sans CJK KR"/>
                <a:cs typeface="Liberation Sans"/>
              </a:rPr>
              <a:t>KPI·SOP·Ticket 관계 지식화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26348" y="2703195"/>
            <a:ext cx="1938575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1" i="0">
                <a:solidFill>
                  <a:srgbClr val="5B738B"/>
                </a:solidFill>
                <a:latin typeface="Liberation Sans"/>
                <a:ea typeface="Noto Sans CJK KR"/>
                <a:cs typeface="Liberation Sans"/>
              </a:rPr>
              <a:t>Business Context·근거·감사 구조 설계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89350" y="2496026"/>
            <a:ext cx="1741408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8" sz="1140" b="1" i="0">
                <a:solidFill>
                  <a:srgbClr val="1B90FF"/>
                </a:solidFill>
                <a:latin typeface="Liberation Sans"/>
                <a:ea typeface="Noto Sans CJK KR"/>
                <a:cs typeface="Liberation Sans"/>
              </a:rPr>
              <a:t>HANA Knowledge Graph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99627" y="2694146"/>
            <a:ext cx="1120973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1" i="0">
                <a:solidFill>
                  <a:srgbClr val="475E75"/>
                </a:solidFill>
                <a:latin typeface="Liberation Sans"/>
                <a:ea typeface="Noto Sans CJK KR"/>
                <a:cs typeface="Liberation Sans"/>
              </a:rPr>
              <a:t>관계 기반 업무 지식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7613" y="3046809"/>
            <a:ext cx="542925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1" i="0">
                <a:solidFill>
                  <a:srgbClr val="39779D"/>
                </a:solidFill>
                <a:latin typeface="Liberation Sans"/>
                <a:ea typeface="Noto Sans CJK KR"/>
                <a:cs typeface="Liberation Sans"/>
              </a:rPr>
              <a:t>SAP API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65414" y="3031569"/>
            <a:ext cx="871180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6" sz="1019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API Gateway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54222" y="3031569"/>
            <a:ext cx="1120378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6" sz="1019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API Management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43650" y="2986563"/>
            <a:ext cx="1303972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4" sz="960" b="1" i="0">
                <a:solidFill>
                  <a:srgbClr val="C65B00"/>
                </a:solidFill>
                <a:latin typeface="Liberation Sans"/>
                <a:ea typeface="Noto Sans CJK KR"/>
                <a:cs typeface="Liberation Sans"/>
              </a:rPr>
              <a:t>S/4 API·Data 의미 정합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65783" y="3146583"/>
            <a:ext cx="1459706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1" i="0">
                <a:solidFill>
                  <a:srgbClr val="5B738B"/>
                </a:solidFill>
                <a:latin typeface="Liberation Sans"/>
                <a:ea typeface="Noto Sans CJK KR"/>
                <a:cs typeface="Liberation Sans"/>
              </a:rPr>
              <a:t>형식 변환·오류 처리·변경 대응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92934" y="2939415"/>
            <a:ext cx="1534239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8" sz="1140" b="1" i="0">
                <a:solidFill>
                  <a:srgbClr val="1B90FF"/>
                </a:solidFill>
                <a:latin typeface="Liberation Sans"/>
                <a:ea typeface="Noto Sans CJK KR"/>
                <a:cs typeface="Liberation Sans"/>
              </a:rPr>
              <a:t>SAP API · Destination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323546" y="3137535"/>
            <a:ext cx="1273016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1" i="0">
                <a:solidFill>
                  <a:srgbClr val="475E75"/>
                </a:solidFill>
                <a:latin typeface="Liberation Sans"/>
                <a:ea typeface="Noto Sans CJK KR"/>
                <a:cs typeface="Liberation Sans"/>
              </a:rPr>
              <a:t>표준 연결과 Data 접근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29176" y="3490198"/>
            <a:ext cx="299799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1" i="0">
                <a:solidFill>
                  <a:srgbClr val="39779D"/>
                </a:solidFill>
                <a:latin typeface="Liberation Sans"/>
                <a:ea typeface="Noto Sans CJK KR"/>
                <a:cs typeface="Liberation Sans"/>
              </a:rPr>
              <a:t>EAI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878449" y="3474958"/>
            <a:ext cx="1844992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6" sz="1019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EventBridge · Step Functions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013715" y="3474958"/>
            <a:ext cx="1601509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6" sz="1019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Logic Apps · Service Bus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157317" y="3429952"/>
            <a:ext cx="1676638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4" sz="960" b="1" i="0">
                <a:solidFill>
                  <a:srgbClr val="C65B00"/>
                </a:solidFill>
                <a:latin typeface="Liberation Sans"/>
                <a:ea typeface="Noto Sans CJK KR"/>
                <a:cs typeface="Liberation Sans"/>
              </a:rPr>
              <a:t>업무 Event·예외 Process 설계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43994" y="3589972"/>
            <a:ext cx="1503402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1" i="0">
                <a:solidFill>
                  <a:srgbClr val="5B738B"/>
                </a:solidFill>
                <a:latin typeface="Liberation Sans"/>
                <a:ea typeface="Noto Sans CJK KR"/>
                <a:cs typeface="Liberation Sans"/>
              </a:rPr>
              <a:t>System 간 연계와 재처리 관리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358788" y="3382803"/>
            <a:ext cx="1202650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8" sz="1140" b="1" i="0">
                <a:solidFill>
                  <a:srgbClr val="1B90FF"/>
                </a:solidFill>
                <a:latin typeface="Liberation Sans"/>
                <a:ea typeface="Noto Sans CJK KR"/>
                <a:cs typeface="Liberation Sans"/>
              </a:rPr>
              <a:t>Integration Suite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346406" y="3580923"/>
            <a:ext cx="1227296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1" i="0">
                <a:solidFill>
                  <a:srgbClr val="475E75"/>
                </a:solidFill>
                <a:latin typeface="Liberation Sans"/>
                <a:ea typeface="Noto Sans CJK KR"/>
                <a:cs typeface="Liberation Sans"/>
              </a:rPr>
              <a:t>Process·Event 통합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74382" y="3933586"/>
            <a:ext cx="809386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1" i="0">
                <a:solidFill>
                  <a:srgbClr val="39779D"/>
                </a:solidFill>
                <a:latin typeface="Liberation Sans"/>
                <a:ea typeface="Noto Sans CJK KR"/>
                <a:cs typeface="Liberation Sans"/>
              </a:rPr>
              <a:t>Authorization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467094" y="3918346"/>
            <a:ext cx="667821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6" sz="1019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AWS IAM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24813" y="3918346"/>
            <a:ext cx="1179314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6" sz="1019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Microsoft Entra ID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13527" y="3873341"/>
            <a:ext cx="1364337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4" sz="960" b="1" i="0">
                <a:solidFill>
                  <a:srgbClr val="C65B00"/>
                </a:solidFill>
                <a:latin typeface="Liberation Sans"/>
                <a:ea typeface="Noto Sans CJK KR"/>
                <a:cs typeface="Liberation Sans"/>
              </a:rPr>
              <a:t>SAP 조직·권한 정책 정합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223396" y="4033361"/>
            <a:ext cx="1544597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1" i="0">
                <a:solidFill>
                  <a:srgbClr val="5B738B"/>
                </a:solidFill>
                <a:latin typeface="Liberation Sans"/>
                <a:ea typeface="Noto Sans CJK KR"/>
                <a:cs typeface="Liberation Sans"/>
              </a:rPr>
              <a:t>Cloud IAM과 SAP 권한 동기화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302472" y="3826192"/>
            <a:ext cx="1315164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8" sz="1140" b="1" i="0">
                <a:solidFill>
                  <a:srgbClr val="1B90FF"/>
                </a:solidFill>
                <a:latin typeface="Liberation Sans"/>
                <a:ea typeface="Noto Sans CJK KR"/>
                <a:cs typeface="Liberation Sans"/>
              </a:rPr>
              <a:t>BTP Authorization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396293" y="4024312"/>
            <a:ext cx="1127640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1" i="0">
                <a:solidFill>
                  <a:srgbClr val="475E75"/>
                </a:solidFill>
                <a:latin typeface="Liberation Sans"/>
                <a:ea typeface="Noto Sans CJK KR"/>
                <a:cs typeface="Liberation Sans"/>
              </a:rPr>
              <a:t>업무 권한·접근 통제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09744" y="4376975"/>
            <a:ext cx="738663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1" i="0">
                <a:solidFill>
                  <a:srgbClr val="39779D"/>
                </a:solidFill>
                <a:latin typeface="Liberation Sans"/>
                <a:ea typeface="Noto Sans CJK KR"/>
                <a:cs typeface="Liberation Sans"/>
              </a:rPr>
              <a:t>Governance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191464" y="4361735"/>
            <a:ext cx="1218961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6" sz="1019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CloudTrail · Config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282559" y="4361735"/>
            <a:ext cx="1063704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6" sz="1019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Purview · Policy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320670" y="4316730"/>
            <a:ext cx="1349930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4" sz="960" b="1" i="0">
                <a:solidFill>
                  <a:srgbClr val="C65B00"/>
                </a:solidFill>
                <a:latin typeface="Liberation Sans"/>
                <a:ea typeface="Noto Sans CJK KR"/>
                <a:cs typeface="Liberation Sans"/>
              </a:rPr>
              <a:t>감사·정책·접근 기준 관리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246971" y="4476750"/>
            <a:ext cx="1497330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1" i="0">
                <a:solidFill>
                  <a:srgbClr val="5B738B"/>
                </a:solidFill>
                <a:latin typeface="Liberation Sans"/>
                <a:ea typeface="Noto Sans CJK KR"/>
                <a:cs typeface="Liberation Sans"/>
              </a:rPr>
              <a:t>AI·Data 사용 기준의 지속 정합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668107" y="4269581"/>
            <a:ext cx="2584013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8" sz="1140" b="1" i="0">
                <a:solidFill>
                  <a:srgbClr val="1B90FF"/>
                </a:solidFill>
                <a:latin typeface="Liberation Sans"/>
                <a:ea typeface="Noto Sans CJK KR"/>
                <a:cs typeface="Liberation Sans"/>
              </a:rPr>
              <a:t>SAP AI Launchpad · SAP BTP cockpit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187338" y="4467701"/>
            <a:ext cx="1545550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1" i="0">
                <a:solidFill>
                  <a:srgbClr val="475E75"/>
                </a:solidFill>
                <a:latin typeface="Liberation Sans"/>
                <a:ea typeface="Noto Sans CJK KR"/>
                <a:cs typeface="Liberation Sans"/>
              </a:rPr>
              <a:t>AI·Data 사용 Governance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830597" y="4999434"/>
            <a:ext cx="4698325" cy="3048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52" sz="1739" b="1" i="0">
                <a:solidFill>
                  <a:srgbClr val="1B90FF"/>
                </a:solidFill>
                <a:latin typeface="Liberation Sans"/>
                <a:ea typeface="Noto Sans CJK KR"/>
                <a:cs typeface="Liberation Sans"/>
              </a:rPr>
              <a:t>TCO</a:t>
            </a:r>
            <a:r>
              <a:rPr spc="-52" sz="1739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(CSP + S/4 연동 개발·운영) &gt;</a:t>
            </a:r>
            <a:r>
              <a:rPr spc="-52" sz="1739" b="1" i="0">
                <a:solidFill>
                  <a:srgbClr val="1B90FF"/>
                </a:solidFill>
                <a:latin typeface="Liberation Sans"/>
                <a:ea typeface="Noto Sans CJK KR"/>
                <a:cs typeface="Liberation Sans"/>
              </a:rPr>
              <a:t>TCO</a:t>
            </a:r>
            <a:r>
              <a:rPr spc="-52" sz="1739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(SAP BTP)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660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4297084" cy="5029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0" sz="2400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SAP BTP — Operations &amp; OPEX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533054" y="1254918"/>
            <a:ext cx="535900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52" sz="1500" b="1" i="0">
                <a:solidFill>
                  <a:srgbClr val="FFFFFF"/>
                </a:solidFill>
                <a:latin typeface="Liberation Sans"/>
                <a:ea typeface="Noto Sans CJK KR"/>
                <a:cs typeface="Liberation Sans"/>
              </a:rPr>
              <a:t>AWS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05444" y="1254918"/>
            <a:ext cx="617934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52" sz="1500" b="1" i="0">
                <a:solidFill>
                  <a:srgbClr val="FFFFFF"/>
                </a:solidFill>
                <a:latin typeface="Liberation Sans"/>
                <a:ea typeface="Noto Sans CJK KR"/>
                <a:cs typeface="Liberation Sans"/>
              </a:rPr>
              <a:t>Azure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59698" y="1300638"/>
            <a:ext cx="1671994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40" sz="1140" b="1" i="0">
                <a:solidFill>
                  <a:srgbClr val="FFFFFF"/>
                </a:solidFill>
                <a:latin typeface="Liberation Sans"/>
                <a:ea typeface="Noto Sans CJK KR"/>
                <a:cs typeface="Liberation Sans"/>
              </a:rPr>
              <a:t>운영 시 추가로 필요한 작업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11307" y="1254918"/>
            <a:ext cx="897493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52" sz="1500" b="1" i="0">
                <a:solidFill>
                  <a:srgbClr val="FFFFFF"/>
                </a:solidFill>
                <a:latin typeface="Liberation Sans"/>
                <a:ea typeface="Noto Sans CJK KR"/>
                <a:cs typeface="Liberation Sans"/>
              </a:rPr>
              <a:t>SAP BTP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5325" y="1890831"/>
            <a:ext cx="967382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1" i="0">
                <a:solidFill>
                  <a:srgbClr val="39779D"/>
                </a:solidFill>
                <a:latin typeface="Noto Sans CJK KR"/>
                <a:ea typeface="Noto Sans CJK KR"/>
                <a:cs typeface="Noto Sans CJK KR"/>
              </a:rPr>
              <a:t>Service Support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43983" y="1815703"/>
            <a:ext cx="913923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6" sz="1019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AWS Support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42291" y="1975723"/>
            <a:ext cx="131730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1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Service별 지원·운영 도구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28279" y="1815703"/>
            <a:ext cx="972264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6" sz="1019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Azure Support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55757" y="1975723"/>
            <a:ext cx="131730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1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Service별 지원·운영 도구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25659" y="1846183"/>
            <a:ext cx="1540073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4" sz="960" b="1" i="0">
                <a:solidFill>
                  <a:srgbClr val="C65B00"/>
                </a:solidFill>
                <a:latin typeface="Liberation Sans"/>
                <a:ea typeface="Noto Sans CJK KR"/>
                <a:cs typeface="Liberation Sans"/>
              </a:rPr>
              <a:t>AI·App·S/4 Issue 통합 대응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13596" y="1990963"/>
            <a:ext cx="2164199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1" i="0">
                <a:solidFill>
                  <a:srgbClr val="5B738B"/>
                </a:solidFill>
                <a:latin typeface="Noto Sans CJK KR"/>
                <a:ea typeface="Noto Sans CJK KR"/>
                <a:cs typeface="Noto Sans CJK KR"/>
              </a:rPr>
              <a:t>장애 원인·책임 범위·재처리 흐름을 직접 정리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80708" y="1799034"/>
            <a:ext cx="958810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8" sz="1140" b="1" i="0">
                <a:solidFill>
                  <a:srgbClr val="1B90FF"/>
                </a:solidFill>
                <a:latin typeface="Liberation Sans"/>
                <a:ea typeface="Noto Sans CJK KR"/>
                <a:cs typeface="Liberation Sans"/>
              </a:rPr>
              <a:t>One Support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05304" y="1966674"/>
            <a:ext cx="1709618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1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App·통합·Platform 운영 기준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5083" y="2500431"/>
            <a:ext cx="1027985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1" i="0">
                <a:solidFill>
                  <a:srgbClr val="39779D"/>
                </a:solidFill>
                <a:latin typeface="Noto Sans CJK KR"/>
                <a:ea typeface="Noto Sans CJK KR"/>
                <a:cs typeface="Noto Sans CJK KR"/>
              </a:rPr>
              <a:t>Standard Change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68472" y="2425303"/>
            <a:ext cx="1464945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6" sz="1019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Cloud Service Updates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42291" y="2585323"/>
            <a:ext cx="131730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1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Service별 변경 공지·검증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085510" y="2425303"/>
            <a:ext cx="1457920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6" sz="1019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Azure Service Updates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55757" y="2585323"/>
            <a:ext cx="131730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1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Service별 변경 공지·검증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23635" y="2455783"/>
            <a:ext cx="1544121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4" sz="960" b="1" i="0">
                <a:solidFill>
                  <a:srgbClr val="C65B00"/>
                </a:solidFill>
                <a:latin typeface="Liberation Sans"/>
                <a:ea typeface="Noto Sans CJK KR"/>
                <a:cs typeface="Liberation Sans"/>
              </a:rPr>
              <a:t>표준·Version 변경 영향 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33373" y="2600563"/>
            <a:ext cx="1924645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1" i="0">
                <a:solidFill>
                  <a:srgbClr val="5B738B"/>
                </a:solidFill>
                <a:latin typeface="Noto Sans CJK KR"/>
                <a:ea typeface="Noto Sans CJK KR"/>
                <a:cs typeface="Noto Sans CJK KR"/>
              </a:rPr>
              <a:t>AI·연동·배포 설정을 업무 App별로 점검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952" y="2408634"/>
            <a:ext cx="1630203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8" sz="1140" b="1" i="0">
                <a:solidFill>
                  <a:srgbClr val="1B90FF"/>
                </a:solidFill>
                <a:latin typeface="Liberation Sans"/>
                <a:ea typeface="Noto Sans CJK KR"/>
                <a:cs typeface="Liberation Sans"/>
              </a:rPr>
              <a:t>Reference Architecture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55430" y="2576274"/>
            <a:ext cx="160936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1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표준 변경·Version 관리 기준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1863" y="3110031"/>
            <a:ext cx="1114305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1" i="0">
                <a:solidFill>
                  <a:srgbClr val="39779D"/>
                </a:solidFill>
                <a:latin typeface="Noto Sans CJK KR"/>
                <a:ea typeface="Noto Sans CJK KR"/>
                <a:cs typeface="Noto Sans CJK KR"/>
              </a:rPr>
              <a:t>S/4 Change Impact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125980" y="3034903"/>
            <a:ext cx="1350049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6" sz="1019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API Monitoring Tools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89916" y="3194923"/>
            <a:ext cx="122205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1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연계 오류·Log 개별 확인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975496" y="3034903"/>
            <a:ext cx="1677947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6" sz="1019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API Management · Monitor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03382" y="3194923"/>
            <a:ext cx="122205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1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연계 오류·Log 개별 확인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19110" y="3065383"/>
            <a:ext cx="1553051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4" sz="960" b="1" i="0">
                <a:solidFill>
                  <a:srgbClr val="C65B00"/>
                </a:solidFill>
                <a:latin typeface="Liberation Sans"/>
                <a:ea typeface="Noto Sans CJK KR"/>
                <a:cs typeface="Liberation Sans"/>
              </a:rPr>
              <a:t>S/4 API·Data 변경 영향 분석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038850" y="3210163"/>
            <a:ext cx="1913691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1" i="0">
                <a:solidFill>
                  <a:srgbClr val="5B738B"/>
                </a:solidFill>
                <a:latin typeface="Noto Sans CJK KR"/>
                <a:ea typeface="Noto Sans CJK KR"/>
                <a:cs typeface="Noto Sans CJK KR"/>
              </a:rPr>
              <a:t>AI·Knowledge·App 영향 및 Test 관리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25639" y="3018234"/>
            <a:ext cx="2068949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8" sz="1140" b="1" i="0">
                <a:solidFill>
                  <a:srgbClr val="1B90FF"/>
                </a:solidFill>
                <a:latin typeface="Liberation Sans"/>
                <a:ea typeface="Noto Sans CJK KR"/>
                <a:cs typeface="Liberation Sans"/>
              </a:rPr>
              <a:t>Destination · Integration Suite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45322" y="3185874"/>
            <a:ext cx="1429464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1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SAP 연결·변경 영향 관리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87930" y="3719631"/>
            <a:ext cx="1182290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1" i="0">
                <a:solidFill>
                  <a:srgbClr val="39779D"/>
                </a:solidFill>
                <a:latin typeface="Noto Sans CJK KR"/>
                <a:ea typeface="Noto Sans CJK KR"/>
                <a:cs typeface="Noto Sans CJK KR"/>
              </a:rPr>
              <a:t>AI &amp; App Operations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027634" y="3644503"/>
            <a:ext cx="1546740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6" sz="1019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CloudWatch · CloudTrail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034063" y="3804523"/>
            <a:ext cx="1533882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1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Infrastructure·감사 Log 관리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049434" y="3644503"/>
            <a:ext cx="1530072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6" sz="1019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Azure Monitor · Purview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047529" y="3804523"/>
            <a:ext cx="1533882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1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Infrastructure·감사 Log 관리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42565" y="3674983"/>
            <a:ext cx="1506140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4" sz="960" b="1" i="0">
                <a:solidFill>
                  <a:srgbClr val="C65B00"/>
                </a:solidFill>
                <a:latin typeface="Liberation Sans"/>
                <a:ea typeface="Noto Sans CJK KR"/>
                <a:cs typeface="Liberation Sans"/>
              </a:rPr>
              <a:t>AI·App·배포 이력 통합 관리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924311" y="3819763"/>
            <a:ext cx="2142648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1" i="0">
                <a:solidFill>
                  <a:srgbClr val="5B738B"/>
                </a:solidFill>
                <a:latin typeface="Noto Sans CJK KR"/>
                <a:ea typeface="Noto Sans CJK KR"/>
                <a:cs typeface="Noto Sans CJK KR"/>
              </a:rPr>
              <a:t>Model·Prompt·권한·배포 변경을 별도 운영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644413" y="3627834"/>
            <a:ext cx="2631281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8" sz="1140" b="1" i="0">
                <a:solidFill>
                  <a:srgbClr val="1B90FF"/>
                </a:solidFill>
                <a:latin typeface="Liberation Sans"/>
                <a:ea typeface="Noto Sans CJK KR"/>
                <a:cs typeface="Liberation Sans"/>
              </a:rPr>
              <a:t>SAP AI Launchpad · Kyma · SAP Build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311878" y="3795474"/>
            <a:ext cx="1296352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1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AI·App·배포 통합 운영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681531" y="4440793"/>
            <a:ext cx="4996576" cy="3048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52" sz="1739" b="1" i="0">
                <a:solidFill>
                  <a:srgbClr val="1B90FF"/>
                </a:solidFill>
                <a:latin typeface="Liberation Sans"/>
                <a:ea typeface="Noto Sans CJK KR"/>
                <a:cs typeface="Liberation Sans"/>
              </a:rPr>
              <a:t>OPEX</a:t>
            </a:r>
            <a:r>
              <a:rPr spc="-52" sz="1739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(CSP + S/4·LoB 연동 운영) &gt;</a:t>
            </a:r>
            <a:r>
              <a:rPr spc="-52" sz="1739" b="1" i="0">
                <a:solidFill>
                  <a:srgbClr val="1B90FF"/>
                </a:solidFill>
                <a:latin typeface="Liberation Sans"/>
                <a:ea typeface="Noto Sans CJK KR"/>
                <a:cs typeface="Liberation Sans"/>
              </a:rPr>
              <a:t>OPEX</a:t>
            </a:r>
            <a:r>
              <a:rPr spc="-52" sz="1739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(SAP BTP)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660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226820"/>
            <a:ext cx="4892397" cy="7239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90" sz="3600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Demo &amp; Business Value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2468880"/>
            <a:ext cx="3667720" cy="3048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2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조직의 문제에서 SCM 실행과 Business Value까지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29500" y="952500"/>
            <a:ext cx="274200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18940" y="960120"/>
            <a:ext cx="2861667" cy="2362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6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Autonomous Enterprise &amp; Governance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29500" y="1356360"/>
            <a:ext cx="274200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18940" y="1363980"/>
            <a:ext cx="1402913" cy="2362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6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Agentic Execution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29500" y="1760220"/>
            <a:ext cx="274200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18940" y="1767840"/>
            <a:ext cx="1681519" cy="2362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6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SAP BTP Architecture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29500" y="2164080"/>
            <a:ext cx="274200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18940" y="2171700"/>
            <a:ext cx="1945124" cy="2362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60" b="1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Demo &amp; Business Value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660" b="1" i="0">
                <a:solidFill>
                  <a:srgbClr val="FFFFFF"/>
                </a:solidFill>
                <a:latin typeface="Liberation Sans"/>
                <a:ea typeface="Noto Sans CJK KR"/>
                <a:cs typeface="Liberation Sans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62940" y="1235868"/>
            <a:ext cx="10866120" cy="165735"/>
          </a:xfrm>
          <a:prstGeom prst="rect">
            <a:avLst/>
          </a:prstGeom>
          <a:noFill/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25780" y="1470183"/>
            <a:ext cx="2209800" cy="86010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758440" y="1470183"/>
            <a:ext cx="2209800" cy="41862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991100" y="1470183"/>
            <a:ext cx="2209800" cy="41862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223760" y="1470183"/>
            <a:ext cx="2209800" cy="41862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456420" y="1470183"/>
            <a:ext cx="2209800" cy="41862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58440" y="1911667"/>
            <a:ext cx="2209800" cy="41862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991100" y="1911667"/>
            <a:ext cx="2209800" cy="41862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223760" y="1911667"/>
            <a:ext cx="4442460" cy="41862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25780" y="2353151"/>
            <a:ext cx="2209800" cy="86010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758440" y="2353151"/>
            <a:ext cx="2209800" cy="41862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991100" y="2353151"/>
            <a:ext cx="2209800" cy="41862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223760" y="2353151"/>
            <a:ext cx="2209800" cy="41862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456420" y="2353151"/>
            <a:ext cx="2209800" cy="41862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758440" y="2794635"/>
            <a:ext cx="2209800" cy="41862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91100" y="2794635"/>
            <a:ext cx="2209800" cy="41862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223760" y="2794635"/>
            <a:ext cx="2209800" cy="41862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456420" y="2794635"/>
            <a:ext cx="2209800" cy="41862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6730" y="3834288"/>
            <a:ext cx="2459235" cy="100869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06730" y="5155406"/>
            <a:ext cx="2459235" cy="75652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457200"/>
            <a:ext cx="5510212" cy="5029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0" sz="2400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Demo — Business Context &amp; Challenges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49559" y="938688"/>
            <a:ext cx="221468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96" sz="960" b="1" i="0">
                <a:solidFill>
                  <a:srgbClr val="365D78"/>
                </a:solidFill>
                <a:latin typeface="Noto Sans CJK KR"/>
                <a:ea typeface="Noto Sans CJK KR"/>
                <a:cs typeface="Noto Sans CJK KR"/>
              </a:rPr>
              <a:t>BUSINESS OPERATING MODEL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80246" y="1220628"/>
            <a:ext cx="754141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19" b="1" i="0">
                <a:solidFill>
                  <a:srgbClr val="0A6ED1"/>
                </a:solidFill>
                <a:latin typeface="Noto Sans CJK KR"/>
                <a:ea typeface="Noto Sans CJK KR"/>
                <a:cs typeface="Noto Sans CJK KR"/>
              </a:rPr>
              <a:t>원가 경쟁력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63584" y="1220628"/>
            <a:ext cx="754141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19" b="1" i="0">
                <a:solidFill>
                  <a:srgbClr val="0A6ED1"/>
                </a:solidFill>
                <a:latin typeface="Noto Sans CJK KR"/>
                <a:ea typeface="Noto Sans CJK KR"/>
                <a:cs typeface="Noto Sans CJK KR"/>
              </a:rPr>
              <a:t>운영 안정성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46921" y="1220628"/>
            <a:ext cx="634960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19" b="1" i="0">
                <a:solidFill>
                  <a:srgbClr val="0A6ED1"/>
                </a:solidFill>
                <a:latin typeface="Noto Sans CJK KR"/>
                <a:ea typeface="Noto Sans CJK KR"/>
                <a:cs typeface="Noto Sans CJK KR"/>
              </a:rPr>
              <a:t>고객 가치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11076" y="1220628"/>
            <a:ext cx="1722596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19" b="1" i="0">
                <a:solidFill>
                  <a:srgbClr val="0A6ED1"/>
                </a:solidFill>
                <a:latin typeface="Noto Sans CJK KR"/>
                <a:ea typeface="Noto Sans CJK KR"/>
                <a:cs typeface="Noto Sans CJK KR"/>
              </a:rPr>
              <a:t>기술 · 지속가능 Leadership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2940" y="1804987"/>
            <a:ext cx="1788199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41" sz="1019" b="1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Organizational Performance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74018" y="1500663"/>
            <a:ext cx="700444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315F7C"/>
                </a:solidFill>
                <a:latin typeface="Noto Sans CJK KR"/>
                <a:ea typeface="Noto Sans CJK KR"/>
                <a:cs typeface="Noto Sans CJK KR"/>
              </a:rPr>
              <a:t>영업 · 수요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070860" y="1671875"/>
            <a:ext cx="1706880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315F7C"/>
                </a:solidFill>
                <a:latin typeface="Noto Sans CJK KR"/>
                <a:ea typeface="Noto Sans CJK KR"/>
                <a:cs typeface="Noto Sans CJK KR"/>
              </a:rPr>
              <a:t>Demand Forecast · 수주 변동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94521" y="1500663"/>
            <a:ext cx="92487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315F7C"/>
                </a:solidFill>
                <a:latin typeface="Noto Sans CJK KR"/>
                <a:ea typeface="Noto Sans CJK KR"/>
                <a:cs typeface="Noto Sans CJK KR"/>
              </a:rPr>
              <a:t>구매 · 공급계획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30559" y="1671875"/>
            <a:ext cx="145268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315F7C"/>
                </a:solidFill>
                <a:latin typeface="Noto Sans CJK KR"/>
                <a:ea typeface="Noto Sans CJK KR"/>
                <a:cs typeface="Noto Sans CJK KR"/>
              </a:rPr>
              <a:t>공급 연속성 · 협력사 Risk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39338" y="1500663"/>
            <a:ext cx="700444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315F7C"/>
                </a:solidFill>
                <a:latin typeface="Noto Sans CJK KR"/>
                <a:ea typeface="Noto Sans CJK KR"/>
                <a:cs typeface="Noto Sans CJK KR"/>
              </a:rPr>
              <a:t>생산 · 품질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20927" y="1671875"/>
            <a:ext cx="1937385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315F7C"/>
                </a:solidFill>
                <a:latin typeface="Noto Sans CJK KR"/>
                <a:ea typeface="Noto Sans CJK KR"/>
                <a:cs typeface="Noto Sans CJK KR"/>
              </a:rPr>
              <a:t>Production Capacity · 품질 Issue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273188" y="1500663"/>
            <a:ext cx="698063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315F7C"/>
                </a:solidFill>
                <a:latin typeface="Noto Sans CJK KR"/>
                <a:ea typeface="Noto Sans CJK KR"/>
                <a:cs typeface="Noto Sans CJK KR"/>
              </a:rPr>
              <a:t>SCM · 고객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13513" y="1671875"/>
            <a:ext cx="1217414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315F7C"/>
                </a:solidFill>
                <a:latin typeface="Noto Sans CJK KR"/>
                <a:ea typeface="Noto Sans CJK KR"/>
                <a:cs typeface="Noto Sans CJK KR"/>
              </a:rPr>
              <a:t>납기 준수 · 물류 예외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461861" y="1942147"/>
            <a:ext cx="92487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315F7C"/>
                </a:solidFill>
                <a:latin typeface="Noto Sans CJK KR"/>
                <a:ea typeface="Noto Sans CJK KR"/>
                <a:cs typeface="Noto Sans CJK KR"/>
              </a:rPr>
              <a:t>재무 · 경영관리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444835" y="2113359"/>
            <a:ext cx="958929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315F7C"/>
                </a:solidFill>
                <a:latin typeface="Noto Sans CJK KR"/>
                <a:ea typeface="Noto Sans CJK KR"/>
                <a:cs typeface="Noto Sans CJK KR"/>
              </a:rPr>
              <a:t>원가 · 손익 변동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859184" y="1942147"/>
            <a:ext cx="59543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315F7C"/>
                </a:solidFill>
                <a:latin typeface="Noto Sans CJK KR"/>
                <a:ea typeface="Noto Sans CJK KR"/>
                <a:cs typeface="Noto Sans CJK KR"/>
              </a:rPr>
              <a:t>IT · Data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335428" y="2113359"/>
            <a:ext cx="1643062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315F7C"/>
                </a:solidFill>
                <a:latin typeface="Noto Sans CJK KR"/>
                <a:ea typeface="Noto Sans CJK KR"/>
                <a:cs typeface="Noto Sans CJK KR"/>
              </a:rPr>
              <a:t>System 가용성 · Data 신뢰성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2940" y="2687955"/>
            <a:ext cx="1057751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41" sz="1019" b="1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Team Execution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78423" y="2383631"/>
            <a:ext cx="691634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26F88"/>
                </a:solidFill>
                <a:latin typeface="Noto Sans CJK KR"/>
                <a:ea typeface="Noto Sans CJK KR"/>
                <a:cs typeface="Noto Sans CJK KR"/>
              </a:rPr>
              <a:t>영업 Team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315533" y="2554843"/>
            <a:ext cx="1217414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26F88"/>
                </a:solidFill>
                <a:latin typeface="Noto Sans CJK KR"/>
                <a:ea typeface="Noto Sans CJK KR"/>
                <a:cs typeface="Noto Sans CJK KR"/>
              </a:rPr>
              <a:t>수주 변동 · 고객 요청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98926" y="2383631"/>
            <a:ext cx="91594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26F88"/>
                </a:solidFill>
                <a:latin typeface="Noto Sans CJK KR"/>
                <a:ea typeface="Noto Sans CJK KR"/>
                <a:cs typeface="Noto Sans CJK KR"/>
              </a:rPr>
              <a:t>수요계획 Team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562004" y="2554843"/>
            <a:ext cx="118979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26F88"/>
                </a:solidFill>
                <a:latin typeface="Noto Sans CJK KR"/>
                <a:ea typeface="Noto Sans CJK KR"/>
                <a:cs typeface="Noto Sans CJK KR"/>
              </a:rPr>
              <a:t>Forecast · 수요 조정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931586" y="2383631"/>
            <a:ext cx="91594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26F88"/>
                </a:solidFill>
                <a:latin typeface="Noto Sans CJK KR"/>
                <a:ea typeface="Noto Sans CJK KR"/>
                <a:cs typeface="Noto Sans CJK KR"/>
              </a:rPr>
              <a:t>생산계획 Team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668696" y="2554843"/>
            <a:ext cx="144172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26F88"/>
                </a:solidFill>
                <a:latin typeface="Noto Sans CJK KR"/>
                <a:ea typeface="Noto Sans CJK KR"/>
                <a:cs typeface="Noto Sans CJK KR"/>
              </a:rPr>
              <a:t>계획 변경 · 생산 우선순위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276403" y="2383631"/>
            <a:ext cx="691634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26F88"/>
                </a:solidFill>
                <a:latin typeface="Noto Sans CJK KR"/>
                <a:ea typeface="Noto Sans CJK KR"/>
                <a:cs typeface="Noto Sans CJK KR"/>
              </a:rPr>
              <a:t>구매 Team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013513" y="2554843"/>
            <a:ext cx="1217414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26F88"/>
                </a:solidFill>
                <a:latin typeface="Noto Sans CJK KR"/>
                <a:ea typeface="Noto Sans CJK KR"/>
                <a:cs typeface="Noto Sans CJK KR"/>
              </a:rPr>
              <a:t>지연 자재 · 긴급 발주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466266" y="2825115"/>
            <a:ext cx="91594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26F88"/>
                </a:solidFill>
                <a:latin typeface="Noto Sans CJK KR"/>
                <a:ea typeface="Noto Sans CJK KR"/>
                <a:cs typeface="Noto Sans CJK KR"/>
              </a:rPr>
              <a:t>품질관리 Team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295769" y="2996326"/>
            <a:ext cx="1256942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26F88"/>
                </a:solidFill>
                <a:latin typeface="Noto Sans CJK KR"/>
                <a:ea typeface="Noto Sans CJK KR"/>
                <a:cs typeface="Noto Sans CJK KR"/>
              </a:rPr>
              <a:t>품질 Issue · 시정 조치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798581" y="2825115"/>
            <a:ext cx="716756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26F88"/>
                </a:solidFill>
                <a:latin typeface="Noto Sans CJK KR"/>
                <a:ea typeface="Noto Sans CJK KR"/>
                <a:cs typeface="Noto Sans CJK KR"/>
              </a:rPr>
              <a:t>SCM Team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548193" y="2996326"/>
            <a:ext cx="1217414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26F88"/>
                </a:solidFill>
                <a:latin typeface="Noto Sans CJK KR"/>
                <a:ea typeface="Noto Sans CJK KR"/>
                <a:cs typeface="Noto Sans CJK KR"/>
              </a:rPr>
              <a:t>재고 부족 · 물류 예외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931586" y="2825115"/>
            <a:ext cx="91594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26F88"/>
                </a:solidFill>
                <a:latin typeface="Noto Sans CJK KR"/>
                <a:ea typeface="Noto Sans CJK KR"/>
                <a:cs typeface="Noto Sans CJK KR"/>
              </a:rPr>
              <a:t>영업관리 Team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729656" y="2996326"/>
            <a:ext cx="1319926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26F88"/>
                </a:solidFill>
                <a:latin typeface="Noto Sans CJK KR"/>
                <a:ea typeface="Noto Sans CJK KR"/>
                <a:cs typeface="Noto Sans CJK KR"/>
              </a:rPr>
              <a:t>Order 반영 · 납기 회신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186035" y="2825115"/>
            <a:ext cx="872370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26F88"/>
                </a:solidFill>
                <a:latin typeface="Noto Sans CJK KR"/>
                <a:ea typeface="Noto Sans CJK KR"/>
                <a:cs typeface="Noto Sans CJK KR"/>
              </a:rPr>
              <a:t>IT·Data Team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869685" y="2996326"/>
            <a:ext cx="1505069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26F88"/>
                </a:solidFill>
                <a:latin typeface="Noto Sans CJK KR"/>
                <a:ea typeface="Noto Sans CJK KR"/>
                <a:cs typeface="Noto Sans CJK KR"/>
              </a:rPr>
              <a:t>Data 오류 · Interface 대응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589496" y="3358038"/>
            <a:ext cx="1030366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2" sz="1080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동일한 전사 KPI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497943" y="3327558"/>
            <a:ext cx="4226361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2" sz="1080" b="0" i="0">
                <a:solidFill>
                  <a:srgbClr val="43647C"/>
                </a:solidFill>
                <a:latin typeface="Liberation Sans"/>
                <a:ea typeface="Noto Sans CJK KR"/>
                <a:cs typeface="Liberation Sans"/>
              </a:rPr>
              <a:t>를 조직과 Team은 각자의 Data·업무 상태·우선순위 관점에서 다르게 판단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62324" y="3601878"/>
            <a:ext cx="1789152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96" sz="960" b="1" i="0">
                <a:solidFill>
                  <a:srgbClr val="B9512B"/>
                </a:solidFill>
                <a:latin typeface="Noto Sans CJK KR"/>
                <a:ea typeface="Noto Sans CJK KR"/>
                <a:cs typeface="Noto Sans CJK KR"/>
              </a:rPr>
              <a:t>BUSINESS CHALLENGES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78180" y="4239577"/>
            <a:ext cx="1389578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43" sz="1080" b="1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Business Challenges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274575" y="3860958"/>
            <a:ext cx="5779055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19" b="0" i="0">
                <a:solidFill>
                  <a:srgbClr val="6C3826"/>
                </a:solidFill>
                <a:latin typeface="Noto Sans CJK KR"/>
                <a:ea typeface="Noto Sans CJK KR"/>
                <a:cs typeface="Noto Sans CJK KR"/>
              </a:rPr>
              <a:t>조직·Team별 Data와 Business Context가 분리되어, 동일 KPI에 대한 전체 최적화 판단과 협업이 어려움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274575" y="4113133"/>
            <a:ext cx="5267563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19" b="0" i="0">
                <a:solidFill>
                  <a:srgbClr val="6C3826"/>
                </a:solidFill>
                <a:latin typeface="Noto Sans CJK KR"/>
                <a:ea typeface="Noto Sans CJK KR"/>
                <a:cs typeface="Noto Sans CJK KR"/>
              </a:rPr>
              <a:t>수요·공급·생산·물류의 변동 발생 시, 영향 범위와 우선순위를 사람이 수작업으로 재확인해야 함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274575" y="4365307"/>
            <a:ext cx="5086588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19" b="0" i="0">
                <a:solidFill>
                  <a:srgbClr val="6C3826"/>
                </a:solidFill>
                <a:latin typeface="Noto Sans CJK KR"/>
                <a:ea typeface="Noto Sans CJK KR"/>
                <a:cs typeface="Noto Sans CJK KR"/>
              </a:rPr>
              <a:t>요청·처리 이력이 개인과 System에 분산되어, 반복 업무의 기준과 전문성이 재활용되지 못함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274575" y="4617481"/>
            <a:ext cx="5789175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19" b="0" i="0">
                <a:solidFill>
                  <a:srgbClr val="6C3826"/>
                </a:solidFill>
                <a:latin typeface="Noto Sans CJK KR"/>
                <a:ea typeface="Noto Sans CJK KR"/>
                <a:cs typeface="Noto Sans CJK KR"/>
              </a:rPr>
              <a:t>업무 변화에 따른 App·업무 Logic 수정이 IT 개발 요청과 배포 절차에 의존하여 대응 Lead Time이 길어짐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972526" y="4922996"/>
            <a:ext cx="236886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96" sz="960" b="1" i="0">
                <a:solidFill>
                  <a:srgbClr val="1B90FF"/>
                </a:solidFill>
                <a:latin typeface="Noto Sans CJK KR"/>
                <a:ea typeface="Noto Sans CJK KR"/>
                <a:cs typeface="Noto Sans CJK KR"/>
              </a:rPr>
              <a:t>AUTONOMOUS OPERATIONS 방식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78180" y="5434607"/>
            <a:ext cx="2010132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43" sz="1080" b="1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Autonomous Operating Model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274575" y="5182076"/>
            <a:ext cx="4713089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19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Team별 Wiki를 중심으로 KPI·업무 상태·요청 이력을 연결하는 Agent 기반 협업 구조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274575" y="5434250"/>
            <a:ext cx="5283874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19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Team별 App Builder AI Coding으로 업무 변화에 맞춰 App을 보완·배포하고 개발 비용을 절감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274575" y="5686425"/>
            <a:ext cx="6630233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19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Team별 Harness 구조로 분석·업무 지시·결과 Wiki 저장을 연결하고, 업무 이력의 Lifecycle을 사내 Knowledge로 축적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660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3070621" cy="5029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0" sz="2400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Shared AI Foundation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70560" y="2563415"/>
            <a:ext cx="1023580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1" i="0">
                <a:solidFill>
                  <a:srgbClr val="39779D"/>
                </a:solidFill>
                <a:latin typeface="Noto Sans CJK KR"/>
                <a:ea typeface="Noto Sans CJK KR"/>
                <a:cs typeface="Noto Sans CJK KR"/>
              </a:rPr>
              <a:t>Team Knowledge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0560" y="2799635"/>
            <a:ext cx="1213723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55" sz="1380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Wiki Assistant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0560" y="3026925"/>
            <a:ext cx="2296001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1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Team KPI · SOP · Issue · Meeting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0560" y="3685222"/>
            <a:ext cx="1287184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1" i="0">
                <a:solidFill>
                  <a:srgbClr val="39779D"/>
                </a:solidFill>
                <a:latin typeface="Noto Sans CJK KR"/>
                <a:ea typeface="Noto Sans CJK KR"/>
                <a:cs typeface="Noto Sans CJK KR"/>
              </a:rPr>
              <a:t>Enterprise Knowledge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0560" y="3921442"/>
            <a:ext cx="2029777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55" sz="1380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HANA Knowledge Graph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0560" y="4148732"/>
            <a:ext cx="2281356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1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Compliance · IT · HR의 Ontology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31478" y="3228022"/>
            <a:ext cx="576381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50" sz="840" b="1" i="0">
                <a:solidFill>
                  <a:srgbClr val="39779D"/>
                </a:solidFill>
                <a:latin typeface="Noto Sans CJK KR"/>
                <a:ea typeface="Noto Sans CJK KR"/>
                <a:cs typeface="Noto Sans CJK KR"/>
              </a:rPr>
              <a:t>업무 근거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72970" y="3083718"/>
            <a:ext cx="967740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1" i="0">
                <a:solidFill>
                  <a:srgbClr val="39779D"/>
                </a:solidFill>
                <a:latin typeface="Noto Sans CJK KR"/>
                <a:ea typeface="Noto Sans CJK KR"/>
                <a:cs typeface="Noto Sans CJK KR"/>
              </a:rPr>
              <a:t>User Experience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65551" y="3335178"/>
            <a:ext cx="1582578" cy="3276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74" sz="1859" b="1" i="0">
                <a:solidFill>
                  <a:srgbClr val="1B90FF"/>
                </a:solidFill>
                <a:latin typeface="Liberation Sans"/>
                <a:ea typeface="Noto Sans CJK KR"/>
                <a:cs typeface="Liberation Sans"/>
              </a:rPr>
              <a:t>Live Assistant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12117" y="3628310"/>
            <a:ext cx="1289446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1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질문·업무 지시 접점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815" y="3228022"/>
            <a:ext cx="676632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50" sz="840" b="1" i="0">
                <a:solidFill>
                  <a:srgbClr val="39779D"/>
                </a:solidFill>
                <a:latin typeface="Noto Sans CJK KR"/>
                <a:ea typeface="Noto Sans CJK KR"/>
                <a:cs typeface="Noto Sans CJK KR"/>
              </a:rPr>
              <a:t>분석 · 지시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26591" y="1441608"/>
            <a:ext cx="1419225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1" i="0">
                <a:solidFill>
                  <a:srgbClr val="39779D"/>
                </a:solidFill>
                <a:latin typeface="Noto Sans CJK KR"/>
                <a:ea typeface="Noto Sans CJK KR"/>
                <a:cs typeface="Noto Sans CJK KR"/>
              </a:rPr>
              <a:t>Analysis &amp; Orchestration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26591" y="1677828"/>
            <a:ext cx="1525666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55" sz="1380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Harness Assistant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26591" y="1905119"/>
            <a:ext cx="2003345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1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분석·업무 지시 · Non-SAP 연결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26591" y="2563415"/>
            <a:ext cx="128051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1" i="0">
                <a:solidFill>
                  <a:srgbClr val="39779D"/>
                </a:solidFill>
                <a:latin typeface="Noto Sans CJK KR"/>
                <a:ea typeface="Noto Sans CJK KR"/>
                <a:cs typeface="Noto Sans CJK KR"/>
              </a:rPr>
              <a:t>Workflow Automation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26591" y="2799635"/>
            <a:ext cx="1173599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55" sz="1380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n8n Assistant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26591" y="3026925"/>
            <a:ext cx="1082040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1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업무 자동화 실행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26591" y="3685222"/>
            <a:ext cx="1786175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1" i="0">
                <a:solidFill>
                  <a:srgbClr val="39779D"/>
                </a:solidFill>
                <a:latin typeface="Noto Sans CJK KR"/>
                <a:ea typeface="Noto Sans CJK KR"/>
                <a:cs typeface="Noto Sans CJK KR"/>
              </a:rPr>
              <a:t>App Development &amp; Operations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26591" y="3921442"/>
            <a:ext cx="1799034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55" sz="1380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App Builder Assistant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26591" y="4148732"/>
            <a:ext cx="1371242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1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업무 App 운영 · 개발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26591" y="4807029"/>
            <a:ext cx="945594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1" i="0">
                <a:solidFill>
                  <a:srgbClr val="39779D"/>
                </a:solidFill>
                <a:latin typeface="Noto Sans CJK KR"/>
                <a:ea typeface="Noto Sans CJK KR"/>
                <a:cs typeface="Noto Sans CJK KR"/>
              </a:rPr>
              <a:t>SAP Integration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26591" y="5043249"/>
            <a:ext cx="1305639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55" sz="1380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Joule Assistant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26591" y="5270539"/>
            <a:ext cx="1320760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1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SAP 업무 Interface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660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5288041" cy="5029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0" sz="2400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Demo — Cross-Team Operating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01040" y="1464468"/>
            <a:ext cx="991314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50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영업 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37340" y="1464468"/>
            <a:ext cx="1341834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50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생산관리 Team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6020" y="1464468"/>
            <a:ext cx="991314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50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구매 Team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1040" y="3293268"/>
            <a:ext cx="1341834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50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영업관리 Team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37340" y="3247548"/>
            <a:ext cx="1060608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50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SCM Team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66020" y="3293268"/>
            <a:ext cx="1341834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50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경영관리 Team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660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5183505" cy="5029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0" sz="2400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Demo — Autonomous SCM Scenarios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95888"/>
            <a:ext cx="715565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96" sz="960" b="1" i="0">
                <a:solidFill>
                  <a:srgbClr val="39779D"/>
                </a:solidFill>
                <a:latin typeface="Liberation Sans"/>
                <a:ea typeface="Noto Sans CJK KR"/>
                <a:cs typeface="Liberation Sans"/>
              </a:rPr>
              <a:t>Demo 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62588"/>
            <a:ext cx="2509837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0" sz="1500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Inbound Process Adaptation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95988"/>
            <a:ext cx="1998583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8" sz="1140" b="1" i="0">
                <a:solidFill>
                  <a:srgbClr val="1B90FF"/>
                </a:solidFill>
                <a:latin typeface="Liberation Sans"/>
                <a:ea typeface="Noto Sans CJK KR"/>
                <a:cs typeface="Liberation Sans"/>
              </a:rPr>
              <a:t>App Builder Agent · 입고 처리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523648"/>
            <a:ext cx="3038117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1" i="0">
                <a:solidFill>
                  <a:srgbClr val="365775"/>
                </a:solidFill>
                <a:latin typeface="Noto Sans CJK KR"/>
                <a:ea typeface="Noto Sans CJK KR"/>
                <a:cs typeface="Noto Sans CJK KR"/>
              </a:rPr>
              <a:t>납품서·ASN 양식 변경에 따른 입고 App 변경·배포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3255168"/>
            <a:ext cx="1614130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7" sz="1080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OCR 실패 · 양식 변경 감지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3521868"/>
            <a:ext cx="1330880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7" sz="1080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입고 담당자 변경 요청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3788568"/>
            <a:ext cx="1927860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7" sz="1080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App Builder로 처리 Logic 수정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4055268"/>
            <a:ext cx="1004768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7" sz="1080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검증 · 운영 배포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4321968"/>
            <a:ext cx="1285041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7" sz="1080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기준 수정 · 입고 반영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53752" y="4459128"/>
            <a:ext cx="659368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86" sz="960" b="1" i="0">
                <a:solidFill>
                  <a:srgbClr val="286B92"/>
                </a:solidFill>
                <a:latin typeface="Liberation Sans"/>
                <a:ea typeface="Noto Sans CJK KR"/>
                <a:cs typeface="Liberation Sans"/>
              </a:rPr>
              <a:t>입고 처리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16040" y="1395888"/>
            <a:ext cx="715565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96" sz="960" b="1" i="0">
                <a:solidFill>
                  <a:srgbClr val="39779D"/>
                </a:solidFill>
                <a:latin typeface="Liberation Sans"/>
                <a:ea typeface="Noto Sans CJK KR"/>
                <a:cs typeface="Liberation Sans"/>
              </a:rPr>
              <a:t>Demo 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16040" y="1662588"/>
            <a:ext cx="2208728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0" sz="1500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SCM Exception Handling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16040" y="2195988"/>
            <a:ext cx="1499830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8" sz="1140" b="1" i="0">
                <a:solidFill>
                  <a:srgbClr val="1B90FF"/>
                </a:solidFill>
                <a:latin typeface="Liberation Sans"/>
                <a:ea typeface="Noto Sans CJK KR"/>
                <a:cs typeface="Liberation Sans"/>
              </a:rPr>
              <a:t>Wiki Agent · 공급 예외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16040" y="2523648"/>
            <a:ext cx="2862500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1" i="0">
                <a:solidFill>
                  <a:srgbClr val="365775"/>
                </a:solidFill>
                <a:latin typeface="Noto Sans CJK KR"/>
                <a:ea typeface="Noto Sans CJK KR"/>
                <a:cs typeface="Noto Sans CJK KR"/>
              </a:rPr>
              <a:t>지식·이력 기반 입고 지연·재고·납기 Risk 대응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44640" y="3255168"/>
            <a:ext cx="1565195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7" sz="1080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입고 지연 · 재고 부족 문의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44640" y="3521868"/>
            <a:ext cx="1991439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7" sz="1080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Wiki에서 SOP · 과거 Ticket 조회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44640" y="3788568"/>
            <a:ext cx="1872376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7" sz="1080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S/4 재고 · 발주 · 납기 현황 확인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44640" y="4055268"/>
            <a:ext cx="1810702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7" sz="1080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대체 공급 · 출하 우선순위 판단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44640" y="4321968"/>
            <a:ext cx="1687949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7" sz="1080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담당자 대응 지시 · 결과 기록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47284" y="4459128"/>
            <a:ext cx="950475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86" sz="960" b="1" i="0">
                <a:solidFill>
                  <a:srgbClr val="286B92"/>
                </a:solidFill>
                <a:latin typeface="Liberation Sans"/>
                <a:ea typeface="Noto Sans CJK KR"/>
                <a:cs typeface="Liberation Sans"/>
              </a:rPr>
              <a:t>공급 예외 대응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00680" y="1395888"/>
            <a:ext cx="715565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96" sz="960" b="1" i="0">
                <a:solidFill>
                  <a:srgbClr val="39779D"/>
                </a:solidFill>
                <a:latin typeface="Liberation Sans"/>
                <a:ea typeface="Noto Sans CJK KR"/>
                <a:cs typeface="Liberation Sans"/>
              </a:rPr>
              <a:t>Demo 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00680" y="1662588"/>
            <a:ext cx="2888694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0" sz="1500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Demand-to-Supply Orchestration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00680" y="2195988"/>
            <a:ext cx="2067877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8" sz="1140" b="1" i="0">
                <a:solidFill>
                  <a:srgbClr val="1B90FF"/>
                </a:solidFill>
                <a:latin typeface="Liberation Sans"/>
                <a:ea typeface="Noto Sans CJK KR"/>
                <a:cs typeface="Liberation Sans"/>
              </a:rPr>
              <a:t>Harness Agent · 수요·납기 변동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00680" y="2523648"/>
            <a:ext cx="3130748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1" i="0">
                <a:solidFill>
                  <a:srgbClr val="365775"/>
                </a:solidFill>
                <a:latin typeface="Noto Sans CJK KR"/>
                <a:ea typeface="Noto Sans CJK KR"/>
                <a:cs typeface="Noto Sans CJK KR"/>
              </a:rPr>
              <a:t>수요·납기 변경의 생산·구매·물류 영향 분석 → 실행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29280" y="3255168"/>
            <a:ext cx="1565195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7" sz="1080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고객 수요 · 납기 변경 접수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29280" y="3521868"/>
            <a:ext cx="2695694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7" sz="1080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Production Capacity · 재고 · 공급 Risk 분석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29280" y="3788568"/>
            <a:ext cx="1999178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7" sz="1080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영업 · 생산 · 구매 · 물류 영향 종합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29280" y="4055268"/>
            <a:ext cx="1709499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7" sz="1080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부서별 작업 지시 · Wiki 기록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29280" y="4321968"/>
            <a:ext cx="1784985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7" sz="1080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반복 Issue App Builder 개선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463807" y="4459128"/>
            <a:ext cx="1118473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86" sz="960" b="1" i="0">
                <a:solidFill>
                  <a:srgbClr val="286B92"/>
                </a:solidFill>
                <a:latin typeface="Liberation Sans"/>
                <a:ea typeface="Noto Sans CJK KR"/>
                <a:cs typeface="Liberation Sans"/>
              </a:rPr>
              <a:t>부서 간 업무 조율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660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286000" y="1866899"/>
            <a:ext cx="7620000" cy="4286250"/>
          </a:xfrm>
          <a:prstGeom prst="roundRect">
            <a:avLst>
              <a:gd name="adj" fmla="val 2133"/>
            </a:avLst>
          </a:prstGeom>
          <a:solidFill>
            <a:srgbClr val="F1F7FD"/>
          </a:solidFill>
          <a:ln w="15240">
            <a:solidFill>
              <a:srgbClr val="91C8F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286000" y="1866899"/>
            <a:ext cx="7620000" cy="15240"/>
          </a:xfrm>
          <a:prstGeom prst="rect">
            <a:avLst/>
          </a:prstGeom>
          <a:solidFill>
            <a:srgbClr val="91C8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Isosceles Triangle 3"/>
          <p:cNvSpPr/>
          <p:nvPr/>
        </p:nvSpPr>
        <p:spPr>
          <a:xfrm rot="5400000">
            <a:off x="5935980" y="3484245"/>
            <a:ext cx="381000" cy="304800"/>
          </a:xfrm>
          <a:prstGeom prst="triangle">
            <a:avLst/>
          </a:prstGeom>
          <a:solidFill>
            <a:srgbClr val="0070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457200"/>
            <a:ext cx="5607486" cy="5029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0" sz="2400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Demo 01 — Inbound Process Adaptation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014888"/>
            <a:ext cx="2434590" cy="3048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20" b="1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App Builder Agent · 입고 처리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334928"/>
            <a:ext cx="3324701" cy="2819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0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납품서·ASN 양식 변경에 따른 입고 App 변경·배포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25320" y="4025265"/>
            <a:ext cx="1463278" cy="2971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680" b="1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Demo 01 영상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72707" y="4375785"/>
            <a:ext cx="1368504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영상 삽입 영역 · 16:9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660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286000" y="1866899"/>
            <a:ext cx="7620000" cy="4286250"/>
          </a:xfrm>
          <a:prstGeom prst="roundRect">
            <a:avLst>
              <a:gd name="adj" fmla="val 2133"/>
            </a:avLst>
          </a:prstGeom>
          <a:solidFill>
            <a:srgbClr val="F1F7FD"/>
          </a:solidFill>
          <a:ln w="15240">
            <a:solidFill>
              <a:srgbClr val="91C8F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286000" y="1866899"/>
            <a:ext cx="7620000" cy="15240"/>
          </a:xfrm>
          <a:prstGeom prst="rect">
            <a:avLst/>
          </a:prstGeom>
          <a:solidFill>
            <a:srgbClr val="91C8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Isosceles Triangle 3"/>
          <p:cNvSpPr/>
          <p:nvPr/>
        </p:nvSpPr>
        <p:spPr>
          <a:xfrm rot="5400000">
            <a:off x="5935980" y="3484245"/>
            <a:ext cx="381000" cy="304800"/>
          </a:xfrm>
          <a:prstGeom prst="triangle">
            <a:avLst/>
          </a:prstGeom>
          <a:solidFill>
            <a:srgbClr val="0070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457200"/>
            <a:ext cx="5066704" cy="5029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0" sz="2400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Demo 02 — SCM Exception Handling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014888"/>
            <a:ext cx="2173009" cy="3048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20" b="1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Wiki Agent · 공급 예외 대응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334928"/>
            <a:ext cx="3129319" cy="2819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0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지식·이력 기반 입고 지연·재고·납기 Risk 대응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25320" y="4025265"/>
            <a:ext cx="1463278" cy="2971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680" b="1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Demo 02 영상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72707" y="4375785"/>
            <a:ext cx="1368504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영상 삽입 영역 · 16:9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660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286000" y="1866899"/>
            <a:ext cx="7620000" cy="4286250"/>
          </a:xfrm>
          <a:prstGeom prst="roundRect">
            <a:avLst>
              <a:gd name="adj" fmla="val 2133"/>
            </a:avLst>
          </a:prstGeom>
          <a:solidFill>
            <a:srgbClr val="F1F7FD"/>
          </a:solidFill>
          <a:ln w="15240">
            <a:solidFill>
              <a:srgbClr val="91C8F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286000" y="1866899"/>
            <a:ext cx="7620000" cy="15240"/>
          </a:xfrm>
          <a:prstGeom prst="rect">
            <a:avLst/>
          </a:prstGeom>
          <a:solidFill>
            <a:srgbClr val="91C8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Isosceles Triangle 3"/>
          <p:cNvSpPr/>
          <p:nvPr/>
        </p:nvSpPr>
        <p:spPr>
          <a:xfrm rot="5400000">
            <a:off x="5935980" y="3484245"/>
            <a:ext cx="381000" cy="304800"/>
          </a:xfrm>
          <a:prstGeom prst="triangle">
            <a:avLst/>
          </a:prstGeom>
          <a:solidFill>
            <a:srgbClr val="0070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457200"/>
            <a:ext cx="6267688" cy="5029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0" sz="2400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Demo 03 — Demand-to-Supply Orchestration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014888"/>
            <a:ext cx="2538650" cy="3048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20" b="1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Harness Agent · 수요·공급 조율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334928"/>
            <a:ext cx="3396019" cy="2819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0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수요·납기 변경의 생산·구매·물류 영향 분석과 실행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25320" y="4025265"/>
            <a:ext cx="1463278" cy="2971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680" b="1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Demo 03 영상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72707" y="4375785"/>
            <a:ext cx="1368504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영상 삽입 영역 · 16:9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660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3368040" cy="5029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0" sz="2400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Demo — Business Value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8810" y="2084784"/>
            <a:ext cx="902493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1" i="0">
                <a:solidFill>
                  <a:srgbClr val="7858FF"/>
                </a:solidFill>
                <a:latin typeface="Noto Sans CJK KR"/>
                <a:ea typeface="Noto Sans CJK KR"/>
                <a:cs typeface="Noto Sans CJK KR"/>
              </a:rPr>
              <a:t>Business Value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8810" y="2374344"/>
            <a:ext cx="2200870" cy="3505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51" sz="2039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Manual Operations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8810" y="2755939"/>
            <a:ext cx="2851665" cy="3200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8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System 조회 · 근거 수집 · 업무 전달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8810" y="3451979"/>
            <a:ext cx="2779871" cy="3505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51" sz="2039" b="0" i="0">
                <a:solidFill>
                  <a:srgbClr val="7858FF"/>
                </a:solidFill>
                <a:latin typeface="Liberation Sans"/>
                <a:ea typeface="Noto Sans CJK KR"/>
                <a:cs typeface="Liberation Sans"/>
              </a:rPr>
              <a:t>Autonomous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8810" y="3833574"/>
            <a:ext cx="3222902" cy="3200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8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Agent의 Context 연결 · 허용된 작업 실행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8810" y="4133373"/>
            <a:ext cx="2261235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80" b="1" i="0">
                <a:solidFill>
                  <a:srgbClr val="7858FF"/>
                </a:solidFill>
                <a:latin typeface="Liberation Sans"/>
                <a:ea typeface="Noto Sans CJK KR"/>
                <a:cs typeface="Liberation Sans"/>
              </a:rPr>
              <a:t>사람은 예외·핵심 판단에 집중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5503068"/>
            <a:ext cx="1071086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780" b="1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Business Outcomes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79746" y="5464968"/>
            <a:ext cx="1048583" cy="2819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00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처리 시간 단축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3129" y="5464968"/>
            <a:ext cx="1188720" cy="2819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00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수작업 조율 감소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26649" y="5464968"/>
            <a:ext cx="1188720" cy="2819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00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일관된 업무 실행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0169" y="5464968"/>
            <a:ext cx="1045725" cy="2819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00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AI 역량 재사용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660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30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SAP NOW — Editable text and shapes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