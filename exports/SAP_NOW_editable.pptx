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— Autonomous Enterprise SAP BTP Agent Demo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— Presentation Agenda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— Autonomous Enterprise &amp; Governance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— AI-First → AI-Native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— Four Core Capabilities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— Agent Workflow &amp; Governance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— Business Context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— App &amp; AI Development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— Agentic Execution — Integrated Operating Model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— Agentic Execution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— Joule — SAP Data 접근과 업무 실행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— HANA Knowledge Graph — Business Context 연결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— Harness — 업무 판단과 실행 조율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— App Builder — App 변경과 배포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— Harness Deep Agent — 복합 분석과 계획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— Harness A2A — Cross-Team 협업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— SAP BTP Architecture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— SAP BTP — Standard Architecture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— SAP BTP — Kyma App-in-App Architecture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— SAP BTP — Platform Value &amp; TCO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— SAP BTP — Operations &amp; OPEX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— Demo &amp; Business Value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— Demo — Business Context &amp; Challenges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— Shared AI Foundation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— Demo — Cross-Team Operating Model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— Demo — Autonomous SCM Scenarios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— Demo — Business Value</a:t>
            </a:r>
          </a:p>
          <a:p>
            <a:r>
              <a:t>All HTML text is editable; card backgrounds and borders are native shapes. Text embedded in source images remains part of those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98420"/>
            <a:ext cx="4468058" cy="662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40" b="0" i="0">
                <a:solidFill>
                  <a:srgbClr val="000000"/>
                </a:solidFill>
                <a:latin typeface="72 Brand Medium"/>
              </a:rPr>
              <a:t>Autonomous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14700"/>
            <a:ext cx="2563058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000000"/>
                </a:solidFill>
                <a:latin typeface="72 Brand"/>
              </a:rPr>
              <a:t>SAP BTP Agent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05300"/>
            <a:ext cx="1145024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2026. 09. 29.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2948701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89258"/>
            <a:ext cx="28384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8260" y="1548288"/>
            <a:ext cx="4166235" cy="3276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59" b="0" i="0">
                <a:solidFill>
                  <a:srgbClr val="000000"/>
                </a:solidFill>
                <a:latin typeface="72 Brand Medium"/>
              </a:rPr>
              <a:t>Autonomous Enterprise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8260" y="1875948"/>
            <a:ext cx="220122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AI-Native · Business Context ·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81738"/>
            <a:ext cx="28384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8260" y="2340768"/>
            <a:ext cx="2012870" cy="3276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59" b="0" i="0">
                <a:solidFill>
                  <a:srgbClr val="000000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8260" y="2668428"/>
            <a:ext cx="238053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Integrated Operating Model · Agent 역할 · A2A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74218"/>
            <a:ext cx="28384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" y="3133248"/>
            <a:ext cx="2424112" cy="3276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59" b="0" i="0">
                <a:solidFill>
                  <a:srgbClr val="000000"/>
                </a:solidFill>
                <a:latin typeface="72 Brand Medium"/>
              </a:rPr>
              <a:t>SAP BTP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8260" y="3460908"/>
            <a:ext cx="264842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Logical Architecture · Implementation ·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66698"/>
            <a:ext cx="28384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8260" y="3925728"/>
            <a:ext cx="2651640" cy="3276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59" b="0" i="0">
                <a:solidFill>
                  <a:srgbClr val="000000"/>
                </a:solidFill>
                <a:latin typeface="72 Brand Medium"/>
              </a:rPr>
              <a:t>Demo &amp; Business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8260" y="4253388"/>
            <a:ext cx="283309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Business Challenges · SCM Demo · Business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42060"/>
            <a:ext cx="5838467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0" b="0" i="0">
                <a:solidFill>
                  <a:srgbClr val="000000"/>
                </a:solidFill>
                <a:latin typeface="72 Brand Medium"/>
              </a:rPr>
              <a:t>Autonomous Enterprise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5455324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475E75"/>
                </a:solidFill>
                <a:latin typeface="72 Brand"/>
              </a:rPr>
              <a:t>AI-Native 기업의 핵심 역량과 Business Context · 통제된 Execution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952500"/>
            <a:ext cx="3363396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01</a:t>
            </a:r>
            <a:r>
              <a:rPr sz="1260" b="1" i="0">
                <a:solidFill>
                  <a:srgbClr val="0070F2"/>
                </a:solidFill>
                <a:latin typeface="72 Brand Medium"/>
              </a:rPr>
              <a:t>Autonomous Enterprise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1356360"/>
            <a:ext cx="1692354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02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0" y="1760220"/>
            <a:ext cx="197096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03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SAP BTP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0" y="2164080"/>
            <a:ext cx="212502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04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Demo &amp; 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FFFF"/>
                </a:solidFill>
                <a:latin typeface="72 Brand Medium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2739032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AI-First → AI-Native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1600914"/>
            <a:ext cx="82081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858FF"/>
                </a:solidFill>
                <a:latin typeface="72 Brand"/>
              </a:rPr>
              <a:t>01 ·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2280" y="1844754"/>
            <a:ext cx="2001321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000000"/>
                </a:solidFill>
                <a:latin typeface="72 Brand Medium"/>
              </a:rPr>
              <a:t>Software that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2180034"/>
            <a:ext cx="3120270" cy="289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75E75"/>
                </a:solidFill>
                <a:latin typeface="72 Brand"/>
              </a:rPr>
              <a:t>사람의 목표 설정 · Agent의 허용된 작업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800230"/>
            <a:ext cx="90558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858FF"/>
                </a:solidFill>
                <a:latin typeface="72 Brand"/>
              </a:rPr>
              <a:t>02 ·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3044070"/>
            <a:ext cx="2210633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000000"/>
                </a:solidFill>
                <a:latin typeface="72 Brand Medium"/>
              </a:rPr>
              <a:t>Landscape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3379350"/>
            <a:ext cx="2675096" cy="289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75E75"/>
                </a:solidFill>
                <a:latin typeface="72 Brand"/>
              </a:rPr>
              <a:t>System · 조직 · Process 간 업무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999547"/>
            <a:ext cx="75223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858FF"/>
                </a:solidFill>
                <a:latin typeface="72 Brand"/>
              </a:rPr>
              <a:t>03 ·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243387"/>
            <a:ext cx="1927383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000000"/>
                </a:solidFill>
                <a:latin typeface="72 Brand Medium"/>
              </a:rPr>
              <a:t>System of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578667"/>
            <a:ext cx="2163960" cy="289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75E75"/>
                </a:solidFill>
                <a:latin typeface="72 Brand"/>
              </a:rPr>
              <a:t>Data · 의미 · 관계 · 정책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15188"/>
            <a:ext cx="2693670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5DD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15188"/>
            <a:ext cx="2693670" cy="3810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3750" y="3415188"/>
            <a:ext cx="2693670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5DD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33750" y="3415188"/>
            <a:ext cx="2693670" cy="3810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64580" y="3415188"/>
            <a:ext cx="2693670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5DD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64580" y="3415188"/>
            <a:ext cx="2693670" cy="3810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95410" y="3415188"/>
            <a:ext cx="2693670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5DD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5410" y="3415188"/>
            <a:ext cx="2693670" cy="3810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7200"/>
            <a:ext cx="3114198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Four Core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3203" y="1733430"/>
            <a:ext cx="121312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Agent Interoperability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3203" y="2007750"/>
            <a:ext cx="2897147" cy="312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72 Brand Medium"/>
              </a:rPr>
              <a:t>Agent 연결과 Workflow 통제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3203" y="2381130"/>
            <a:ext cx="2202537" cy="289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75E75"/>
                </a:solidFill>
                <a:latin typeface="72 Brand"/>
              </a:rPr>
              <a:t>권한·정책·승인 기반 실행 조율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" y="3727608"/>
            <a:ext cx="235469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72 Brand Medium"/>
              </a:rPr>
              <a:t>Agent Workflow &amp;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" y="3994308"/>
            <a:ext cx="223920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Agent · Tool 연결과 Workflow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770" y="3727608"/>
            <a:ext cx="1409223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72 Brand Medium"/>
              </a:rPr>
              <a:t>Business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770" y="3994308"/>
            <a:ext cx="176462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Data · 지식 · 관계 기반 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727608"/>
            <a:ext cx="175902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72 Brand Medium"/>
              </a:rPr>
              <a:t>App &amp; AI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3994308"/>
            <a:ext cx="1905952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새로운 App · 기능 개발 및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430" y="3727608"/>
            <a:ext cx="145149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3994308"/>
            <a:ext cx="246054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계획된 업무 수행 · 결과 검증 · 예외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" y="5650825"/>
            <a:ext cx="1565314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 Medium"/>
              </a:rPr>
              <a:t>Cross-Cutting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2074" y="5617368"/>
            <a:ext cx="436911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Context 접근 · App 변경 · 업무 실행 전체에 권한·정책·승인·추적을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4252912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Agent Workflow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0120" y="2022871"/>
            <a:ext cx="3035379" cy="2971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000000"/>
                </a:solidFill>
                <a:latin typeface="72 Brand Medium"/>
              </a:rPr>
              <a:t>Agent Workflow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80120" y="2647711"/>
            <a:ext cx="2128956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70F2"/>
                </a:solidFill>
                <a:latin typeface="72 Brand"/>
              </a:rPr>
              <a:t>End-to-End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80120" y="2982991"/>
            <a:ext cx="19620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75E75"/>
                </a:solidFill>
                <a:latin typeface="72 Brand"/>
              </a:rPr>
              <a:t>Joule Agent 연결 · 실행 조율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80120" y="3543061"/>
            <a:ext cx="2159198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70F2"/>
                </a:solidFill>
                <a:latin typeface="72 Brand"/>
              </a:rPr>
              <a:t>Embedded AI + Custom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0120" y="3878341"/>
            <a:ext cx="293203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75E75"/>
                </a:solidFill>
                <a:latin typeface="72 Brand"/>
              </a:rPr>
              <a:t>Embedded AI · Custom AI (AI Foundation)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0120" y="4438411"/>
            <a:ext cx="1904047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70F2"/>
                </a:solidFill>
                <a:latin typeface="72 Brand"/>
              </a:rPr>
              <a:t>Security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0120" y="4773691"/>
            <a:ext cx="307800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75E75"/>
                </a:solidFill>
                <a:latin typeface="72 Brand"/>
              </a:rPr>
              <a:t>공통 보안·규정 준수 기반 Agent Workflow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2437566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68132" y="2022157"/>
            <a:ext cx="91535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858FF"/>
                </a:solidFill>
                <a:latin typeface="72 Brand"/>
              </a:rPr>
              <a:t>Apps · Data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68132" y="2311717"/>
            <a:ext cx="3398400" cy="350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72 Brand Medium"/>
              </a:rPr>
              <a:t>실행 결과를 다음 판단의 근거로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7206" y="2830472"/>
            <a:ext cx="1082635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6680" y="2830472"/>
            <a:ext cx="794504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Retrieve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7206" y="3226712"/>
            <a:ext cx="719494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6680" y="3226712"/>
            <a:ext cx="488275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7206" y="3622952"/>
            <a:ext cx="756642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6680" y="3622952"/>
            <a:ext cx="7802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8132" y="4072532"/>
            <a:ext cx="262985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75E75"/>
                </a:solidFill>
                <a:latin typeface="72 Brand"/>
              </a:rPr>
              <a:t>위험·낮은 확신·정책 예외 → 담당자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34600" y="1645324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34600" y="1645324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34600" y="2742128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34600" y="2742128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34600" y="3838932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4600" y="3838932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34600" y="4935735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4600" y="4935735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9265" y="624840"/>
            <a:ext cx="45029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"/>
            <a:ext cx="3189446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App &amp; AI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22508"/>
            <a:ext cx="4733567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E75"/>
                </a:solidFill>
                <a:latin typeface="72 Brand"/>
              </a:rPr>
              <a:t>업무 요구를 새로운 App과 기능으로 구현 · 검증 후 업무에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2868"/>
            <a:ext cx="337554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75E75"/>
                </a:solidFill>
                <a:latin typeface="72 Brand"/>
              </a:rPr>
              <a:t>App Builder · 업무 요구를 실행 가능한 기능으로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9380" y="1805344"/>
            <a:ext cx="65055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01 · 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9380" y="2026324"/>
            <a:ext cx="118681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변경 요구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9380" y="2291119"/>
            <a:ext cx="1789866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필요한 기능과 변경 범위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9380" y="2902148"/>
            <a:ext cx="106120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02 · Build &amp; Extend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9380" y="3123128"/>
            <a:ext cx="1784032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App · Skill ·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9380" y="3387923"/>
            <a:ext cx="1903452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AI 기반 App · 기능 개발과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9380" y="3998952"/>
            <a:ext cx="127873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03 · Validate &amp; 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9380" y="4219932"/>
            <a:ext cx="97690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검증과 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9380" y="4484727"/>
            <a:ext cx="231445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분리된 환경에서 기능 검증 · 변경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9380" y="5095755"/>
            <a:ext cx="111037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04 · Deploy &amp; Reuse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9380" y="5316735"/>
            <a:ext cx="113811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배포와 재사용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9380" y="5581530"/>
            <a:ext cx="231552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검증된 App 배포 · 업무 적용과 재사용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34600" y="1650920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34600" y="1650920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34600" y="2747724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34600" y="2747724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34600" y="3844528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4600" y="3844528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34600" y="4941331"/>
            <a:ext cx="3454479" cy="959643"/>
          </a:xfrm>
          <a:prstGeom prst="rect">
            <a:avLst/>
          </a:prstGeom>
          <a:solidFill>
            <a:srgbClr val="F5FA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4600" y="4941331"/>
            <a:ext cx="3454479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7200"/>
            <a:ext cx="6689169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Agentic Execution — Integrated Operating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22508"/>
            <a:ext cx="3642479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E75"/>
                </a:solidFill>
                <a:latin typeface="72 Brand"/>
              </a:rPr>
              <a:t>SAP 업무 연결 · 판단과 조율 · 기능 확장의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9380" y="1810940"/>
            <a:ext cx="120134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01 · Business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9380" y="2031920"/>
            <a:ext cx="81557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업무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9380" y="2296715"/>
            <a:ext cx="1372909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목표와 기대 결과 전달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9380" y="2907744"/>
            <a:ext cx="140600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02 · Reason &amp; Orchestrate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9380" y="3128724"/>
            <a:ext cx="77462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9380" y="3393519"/>
            <a:ext cx="242054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Business Context 기반 판단·실행 조율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9380" y="4004548"/>
            <a:ext cx="150340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03 · SAP Access &amp;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9380" y="4225528"/>
            <a:ext cx="114669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Joule +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9380" y="4490323"/>
            <a:ext cx="2104429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SAP Data 조회 · 허용된 업무 수행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9380" y="5101351"/>
            <a:ext cx="121134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04 · Validate &amp;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9380" y="5322331"/>
            <a:ext cx="97690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검증과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9380" y="5587126"/>
            <a:ext cx="1683662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E75"/>
                </a:solidFill>
                <a:latin typeface="72 Brand"/>
              </a:rPr>
              <a:t>결과 검증·기록 · 예외 전달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26820"/>
            <a:ext cx="3738919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00000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4560093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475E75"/>
                </a:solidFill>
                <a:latin typeface="72 Brand"/>
              </a:rPr>
              <a:t>통합 운영 모델과 Human + Agent 역할 분담 · 판단·실행·협업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952500"/>
            <a:ext cx="315110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01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Autonomous Enterprise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1356360"/>
            <a:ext cx="180736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02</a:t>
            </a:r>
            <a:r>
              <a:rPr sz="1260" b="1" i="0">
                <a:solidFill>
                  <a:srgbClr val="0070F2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0" y="1760220"/>
            <a:ext cx="197096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03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SAP BTP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0" y="2164080"/>
            <a:ext cx="212502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04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Demo &amp; 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FFFF"/>
                </a:solidFill>
                <a:latin typeface="72 Brand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58728"/>
            <a:ext cx="1295400" cy="40386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58728"/>
            <a:ext cx="1295400" cy="3048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76699" y="1693068"/>
            <a:ext cx="1809750" cy="1409700"/>
          </a:xfrm>
          <a:prstGeom prst="roundRect">
            <a:avLst>
              <a:gd name="adj" fmla="val 162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6699" y="16930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77890" y="1693068"/>
            <a:ext cx="1809750" cy="1409700"/>
          </a:xfrm>
          <a:prstGeom prst="roundRect">
            <a:avLst>
              <a:gd name="adj" fmla="val 162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7890" y="16930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79080" y="1693068"/>
            <a:ext cx="1809750" cy="1409700"/>
          </a:xfrm>
          <a:prstGeom prst="roundRect">
            <a:avLst>
              <a:gd name="adj" fmla="val 162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79080" y="16930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80270" y="1693068"/>
            <a:ext cx="1809750" cy="1409700"/>
          </a:xfrm>
          <a:prstGeom prst="roundRect">
            <a:avLst>
              <a:gd name="adj" fmla="val 162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0270" y="16930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07179" y="3773328"/>
            <a:ext cx="1794510" cy="1409700"/>
          </a:xfrm>
          <a:prstGeom prst="roundRect">
            <a:avLst>
              <a:gd name="adj" fmla="val 1621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07179" y="3773328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93130" y="3773328"/>
            <a:ext cx="1794510" cy="1409700"/>
          </a:xfrm>
          <a:prstGeom prst="roundRect">
            <a:avLst>
              <a:gd name="adj" fmla="val 1621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93130" y="3773328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79080" y="3773328"/>
            <a:ext cx="1794510" cy="1409700"/>
          </a:xfrm>
          <a:prstGeom prst="roundRect">
            <a:avLst>
              <a:gd name="adj" fmla="val 1621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9080" y="3773328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65030" y="3773328"/>
            <a:ext cx="1794510" cy="1409700"/>
          </a:xfrm>
          <a:prstGeom prst="roundRect">
            <a:avLst>
              <a:gd name="adj" fmla="val 1621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65030" y="3773328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"/>
            <a:ext cx="4675941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Joule — SAP Data 접근과 업무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354" y="2908815"/>
            <a:ext cx="93833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Business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886" y="3183135"/>
            <a:ext cx="809386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0000"/>
                </a:solidFill>
                <a:latin typeface="72 Brand Medium"/>
              </a:rPr>
              <a:t>SAP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876" y="3491745"/>
            <a:ext cx="96940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Data · 실행 요청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6003" y="3064668"/>
            <a:ext cx="126563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SAP Business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2539" y="3308508"/>
            <a:ext cx="145268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72 Brand Medium"/>
              </a:rPr>
              <a:t>“Pump Lead Time은?”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7660" y="1426368"/>
            <a:ext cx="8605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64B00"/>
                </a:solidFill>
                <a:latin typeface="72 Brand Medium"/>
              </a:rPr>
              <a:t>Without Joule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7660" y="217562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7660" y="2396609"/>
            <a:ext cx="102227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SAP 화면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7660" y="2600444"/>
            <a:ext cx="12719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필요 Data를 각각 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8850" y="217562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850" y="2396609"/>
            <a:ext cx="117419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수작업 Data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8850" y="2600444"/>
            <a:ext cx="142529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입고 · 재고 · 계획을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0040" y="217562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0040" y="2396609"/>
            <a:ext cx="828198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수작업 반영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40040" y="2600444"/>
            <a:ext cx="134600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확정된 내용을 직접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1230" y="217562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1230" y="2396609"/>
            <a:ext cx="828198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결과 재공유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1230" y="2600444"/>
            <a:ext cx="12338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처리 결과를 다시 전달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8140" y="3506628"/>
            <a:ext cx="69115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 Medium"/>
              </a:rPr>
              <a:t>With Joule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3380" y="425588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3380" y="4476869"/>
            <a:ext cx="106168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SAP Data 조회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3380" y="4680704"/>
            <a:ext cx="134600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필요한 현재 정보를 연결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9330" y="425588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9330" y="4476869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분석 근거 전달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9330" y="4680704"/>
            <a:ext cx="150828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Harness 판단에 Data 제공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25588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476869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업무 실행 연결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680704"/>
            <a:ext cx="145780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확정된 판단을 SAP로 전달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1230" y="4255889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41230" y="4476869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처리 결과 반환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1230" y="4680704"/>
            <a:ext cx="12338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업무 흐름에 즉시 반영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077902"/>
            <a:ext cx="1395174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F2"/>
                </a:solidFill>
                <a:latin typeface="72 Brand Medium"/>
              </a:rPr>
              <a:t>Joule Key Capabilities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4100" y="5983605"/>
            <a:ext cx="163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Real-Time SAP Data Access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126480"/>
            <a:ext cx="249602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현재 Data와 업무 상태를 필요한 맥락으로 제공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78980" y="5983605"/>
            <a:ext cx="160615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SAP Transaction Execution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78980" y="6126480"/>
            <a:ext cx="245756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확정된 판단을 SAP 처리와 결과 반환으로 연결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0418" y="6614160"/>
            <a:ext cx="21062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58728"/>
            <a:ext cx="1295400" cy="4640818"/>
          </a:xfrm>
          <a:prstGeom prst="rect">
            <a:avLst/>
          </a:prstGeom>
          <a:solidFill>
            <a:srgbClr val="FFFF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58728"/>
            <a:ext cx="1295400" cy="3048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76699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6699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77890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7890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79080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79080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80270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0270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76699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6699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77890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77890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79080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9080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0270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80270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07179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07179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93130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3130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79080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79080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65030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65030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"/>
            <a:ext cx="6770012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HANA Knowledge Graph — Business Context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354" y="3209925"/>
            <a:ext cx="93833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Business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792" y="3484245"/>
            <a:ext cx="785455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0000"/>
                </a:solidFill>
                <a:latin typeface="72 Brand Medium"/>
              </a:rPr>
              <a:t>전사 질문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702" y="3792854"/>
            <a:ext cx="1087635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신규 협력업체 등록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8875" y="3365777"/>
            <a:ext cx="103989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Business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12168" y="3609617"/>
            <a:ext cx="1673423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72 Brand Medium"/>
              </a:rPr>
              <a:t>“업체 등록 기준·담당자는?”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7660" y="1403508"/>
            <a:ext cx="88106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64B00"/>
                </a:solidFill>
                <a:latin typeface="72 Brand Medium"/>
              </a:rPr>
              <a:t>Without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766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37660" y="2081688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자료 개별 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7660" y="2285523"/>
            <a:ext cx="145970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IT·품질·Compliance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885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8850" y="2081688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담당 조직 문의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8850" y="2285523"/>
            <a:ext cx="12338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부서별 등록 기준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004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0040" y="2081688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관계 수작업 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0040" y="2285523"/>
            <a:ext cx="1476375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업체 · 기준 · System 연결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123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1230" y="2081688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등록 근거 작성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1230" y="2285523"/>
            <a:ext cx="138017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담당자 확인 후 요청 제출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37660" y="2991088"/>
            <a:ext cx="187059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52222"/>
                </a:solidFill>
                <a:latin typeface="72 Brand Medium"/>
              </a:rPr>
              <a:t>Agent without Knowledge Graph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3766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37660" y="3669268"/>
            <a:ext cx="694967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문서 검색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7660" y="3873103"/>
            <a:ext cx="149232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개별 문서의 관련 정보 검색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885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8850" y="3669268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문서별 답변 요약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8850" y="3873103"/>
            <a:ext cx="1329570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담당자 · 기준 후보 정리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4004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40040" y="3669268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관계 추가 확인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40040" y="3873103"/>
            <a:ext cx="1571625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업체 · 정책 · 조직 관계 검증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123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41230" y="3669268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사람의 근거 종합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41230" y="3873103"/>
            <a:ext cx="149232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조건별 적용 기준 최종 확인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8140" y="4601527"/>
            <a:ext cx="170116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 Medium"/>
              </a:rPr>
              <a:t>Agent with Knowledge Graph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3380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83380" y="5325427"/>
            <a:ext cx="14014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Enterprise Ontology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3380" y="5529262"/>
            <a:ext cx="168378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조직 · 정책 · 등록 기준 구조화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69330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69330" y="5325427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관계 기반 탐색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69330" y="5529262"/>
            <a:ext cx="144875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업체·기준·담당 조직 연결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5325427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조건별 근거 확인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5529262"/>
            <a:ext cx="160448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관계 경로와 연결된 근거 확인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41230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41230" y="5325427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등록 근거 재사용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41230" y="5529262"/>
            <a:ext cx="134600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검증된 관계 정보 재활용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077902"/>
            <a:ext cx="16231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F2"/>
                </a:solidFill>
                <a:latin typeface="72 Brand Medium"/>
              </a:rPr>
              <a:t>HANA KG Key Capabilities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24100" y="5983605"/>
            <a:ext cx="122062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Enterprise Ontology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24100" y="6126480"/>
            <a:ext cx="22787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조직 · 정책 · 기준을 관계 중심으로 구조화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78980" y="5983605"/>
            <a:ext cx="176712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Relationship-Based Discovery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78980" y="6126480"/>
            <a:ext cx="219015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담당자 · System · 등록 근거를 함께 확인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58728"/>
            <a:ext cx="1295400" cy="4640818"/>
          </a:xfrm>
          <a:prstGeom prst="rect">
            <a:avLst/>
          </a:prstGeom>
          <a:solidFill>
            <a:srgbClr val="FFFFFF"/>
          </a:solidFill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58728"/>
            <a:ext cx="1295400" cy="3048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76699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6699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77890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7890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79080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79080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80270" y="165496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0270" y="1654968"/>
            <a:ext cx="1809750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76699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6699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77890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77890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79080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9080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0270" y="3242548"/>
            <a:ext cx="1809750" cy="993219"/>
          </a:xfrm>
          <a:prstGeom prst="roundRect">
            <a:avLst>
              <a:gd name="adj" fmla="val 2301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80270" y="3242548"/>
            <a:ext cx="180975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07179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07179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93130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3130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79080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79080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65030" y="4852987"/>
            <a:ext cx="1794510" cy="947499"/>
          </a:xfrm>
          <a:prstGeom prst="roundRect">
            <a:avLst>
              <a:gd name="adj" fmla="val 24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65030" y="4852987"/>
            <a:ext cx="179451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"/>
            <a:ext cx="4329707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Harness — 업무 판단과 실행 조율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354" y="3209925"/>
            <a:ext cx="93833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Business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270" y="3484245"/>
            <a:ext cx="1140499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0000"/>
                </a:solidFill>
                <a:latin typeface="72 Brand Medium"/>
              </a:rPr>
              <a:t>오늘 업무 실행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69" y="3792854"/>
            <a:ext cx="108430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Routine 업무 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7327" y="3365777"/>
            <a:ext cx="104310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Execution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0152" y="3609617"/>
            <a:ext cx="155757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72 Brand Medium"/>
              </a:rPr>
              <a:t>“오늘 Routine 업무 실행”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7660" y="1403508"/>
            <a:ext cx="88106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64B00"/>
                </a:solidFill>
                <a:latin typeface="72 Brand Medium"/>
              </a:rPr>
              <a:t>Without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766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37660" y="2081688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업무 수작업 수집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7660" y="2285523"/>
            <a:ext cx="146506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Wiki · SAP 상태 개별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885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8850" y="2081688"/>
            <a:ext cx="1401246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담당자 우선순위 판단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8850" y="2285523"/>
            <a:ext cx="142529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마감 · 영향도 · 예외 검토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004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0040" y="2081688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실행 방식 협의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0040" y="2285523"/>
            <a:ext cx="163877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자동화·담당자 처리 경로 조율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1230" y="186070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64B00"/>
                </a:solidFill>
                <a:latin typeface="72 Bran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1230" y="2081688"/>
            <a:ext cx="100965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지시·결과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1230" y="2285523"/>
            <a:ext cx="1526500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업무 전달 후 처리 상태 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37660" y="2991088"/>
            <a:ext cx="134862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52222"/>
                </a:solidFill>
                <a:latin typeface="72 Brand Medium"/>
              </a:rPr>
              <a:t>Agent without Harness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3766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37660" y="3669268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개별 요청 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7660" y="3873103"/>
            <a:ext cx="163877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사용자가 조회·분석 작업 지정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885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8850" y="3669268"/>
            <a:ext cx="1448633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작업별 답변·Tool 실행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8850" y="3873103"/>
            <a:ext cx="12338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요청 단위의 결과 반환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4004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40040" y="3669268"/>
            <a:ext cx="1441489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사람의 실행 경로 조율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40040" y="3873103"/>
            <a:ext cx="151423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다음 작업·Tool·담당자 선택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1230" y="3448288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52222"/>
                </a:solidFill>
                <a:latin typeface="72 Brand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41230" y="3669268"/>
            <a:ext cx="113478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사람의 후속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41230" y="3873103"/>
            <a:ext cx="156090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결과 취합·실패 대응·재요청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8140" y="4601527"/>
            <a:ext cx="11790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 Medium"/>
              </a:rPr>
              <a:t>Agent with Harness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3380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83380" y="5325427"/>
            <a:ext cx="1242179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업무·Context 수집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3380" y="5529262"/>
            <a:ext cx="146899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Wiki · KG · SAP 상태 연결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69330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69330" y="5325427"/>
            <a:ext cx="127599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계획·우선순위 결정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69330" y="5529262"/>
            <a:ext cx="142529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마감 · 영향도 · 정책 반영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5325427"/>
            <a:ext cx="1001672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실행 경로 조율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5529262"/>
            <a:ext cx="136040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승인된 Tool·Agent 연결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41230" y="5104447"/>
            <a:ext cx="24038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41230" y="5325427"/>
            <a:ext cx="100965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검증·예외 처리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41230" y="5529262"/>
            <a:ext cx="173438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결과 기록 · 필요 시 담당자 판단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077902"/>
            <a:ext cx="1550431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F2"/>
                </a:solidFill>
                <a:latin typeface="72 Brand Medium"/>
              </a:rPr>
              <a:t>Harness Key Capabilities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24100" y="5983605"/>
            <a:ext cx="150268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Evidence-Based Analysis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24100" y="6126480"/>
            <a:ext cx="246864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Wiki · KG · SAP 정보를 연결해 가능 여부 판단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78980" y="5983605"/>
            <a:ext cx="144946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Execution Orchestration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78980" y="6126480"/>
            <a:ext cx="234576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보완 범위와 업무 지시를 실행 흐름으로 연결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462920"/>
            <a:ext cx="1371600" cy="4312920"/>
          </a:xfrm>
          <a:prstGeom prst="rect">
            <a:avLst/>
          </a:prstGeom>
          <a:noFill/>
          <a:ln w="7620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62920"/>
            <a:ext cx="1371600" cy="3048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31820" y="1904880"/>
            <a:ext cx="2727960" cy="784860"/>
          </a:xfrm>
          <a:prstGeom prst="roundRect">
            <a:avLst>
              <a:gd name="adj" fmla="val 29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31820" y="1904880"/>
            <a:ext cx="272796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81700" y="1904880"/>
            <a:ext cx="2727960" cy="784860"/>
          </a:xfrm>
          <a:prstGeom prst="roundRect">
            <a:avLst>
              <a:gd name="adj" fmla="val 29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1700" y="1904880"/>
            <a:ext cx="272796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31580" y="1904880"/>
            <a:ext cx="2727960" cy="784860"/>
          </a:xfrm>
          <a:prstGeom prst="roundRect">
            <a:avLst>
              <a:gd name="adj" fmla="val 2912"/>
            </a:avLst>
          </a:prstGeom>
          <a:solidFill>
            <a:srgbClr val="F5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1580" y="1904880"/>
            <a:ext cx="2727960" cy="2286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31820" y="3383160"/>
            <a:ext cx="1303020" cy="784860"/>
          </a:xfrm>
          <a:prstGeom prst="roundRect">
            <a:avLst>
              <a:gd name="adj" fmla="val 2912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31820" y="3383160"/>
            <a:ext cx="130302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6760" y="3383160"/>
            <a:ext cx="1303020" cy="784860"/>
          </a:xfrm>
          <a:prstGeom prst="roundRect">
            <a:avLst>
              <a:gd name="adj" fmla="val 2912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6760" y="3383160"/>
            <a:ext cx="130302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1700" y="3383160"/>
            <a:ext cx="1303020" cy="784860"/>
          </a:xfrm>
          <a:prstGeom prst="roundRect">
            <a:avLst>
              <a:gd name="adj" fmla="val 2912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1700" y="3383160"/>
            <a:ext cx="130302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3383160"/>
            <a:ext cx="1303020" cy="784860"/>
          </a:xfrm>
          <a:prstGeom prst="roundRect">
            <a:avLst>
              <a:gd name="adj" fmla="val 2912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3383160"/>
            <a:ext cx="130302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31580" y="3383160"/>
            <a:ext cx="1303020" cy="784860"/>
          </a:xfrm>
          <a:prstGeom prst="roundRect">
            <a:avLst>
              <a:gd name="adj" fmla="val 2912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31580" y="3383160"/>
            <a:ext cx="130302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56520" y="3383160"/>
            <a:ext cx="1303020" cy="784860"/>
          </a:xfrm>
          <a:prstGeom prst="roundRect">
            <a:avLst>
              <a:gd name="adj" fmla="val 2912"/>
            </a:avLst>
          </a:prstGeom>
          <a:solidFill>
            <a:srgbClr val="FF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56520" y="3383160"/>
            <a:ext cx="1303020" cy="22860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31820" y="4861440"/>
            <a:ext cx="1587936" cy="784860"/>
          </a:xfrm>
          <a:prstGeom prst="roundRect">
            <a:avLst>
              <a:gd name="adj" fmla="val 2912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31820" y="4861440"/>
            <a:ext cx="1587936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1676" y="4861440"/>
            <a:ext cx="1588055" cy="784860"/>
          </a:xfrm>
          <a:prstGeom prst="roundRect">
            <a:avLst>
              <a:gd name="adj" fmla="val 2912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1676" y="4861440"/>
            <a:ext cx="1588055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1652" y="4861440"/>
            <a:ext cx="1587936" cy="784860"/>
          </a:xfrm>
          <a:prstGeom prst="roundRect">
            <a:avLst>
              <a:gd name="adj" fmla="val 2912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51652" y="4861440"/>
            <a:ext cx="1587936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1508" y="4861440"/>
            <a:ext cx="1588055" cy="784860"/>
          </a:xfrm>
          <a:prstGeom prst="roundRect">
            <a:avLst>
              <a:gd name="adj" fmla="val 2912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1508" y="4861440"/>
            <a:ext cx="1588055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71484" y="4861440"/>
            <a:ext cx="1587936" cy="784860"/>
          </a:xfrm>
          <a:prstGeom prst="roundRect">
            <a:avLst>
              <a:gd name="adj" fmla="val 2912"/>
            </a:avLst>
          </a:prstGeom>
          <a:solidFill>
            <a:srgbClr val="FFF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71484" y="4861440"/>
            <a:ext cx="1587936" cy="2286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1392"/>
            <a:ext cx="4199334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App Builder — App 변경과 배포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383" y="3375540"/>
            <a:ext cx="94047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COMMON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70" y="3680340"/>
            <a:ext cx="1140499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000000"/>
                </a:solidFill>
                <a:latin typeface="72 Brand Medium"/>
              </a:rPr>
              <a:t>납품 문서 수신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5755" y="2293500"/>
            <a:ext cx="71901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 Medium"/>
              </a:rPr>
              <a:t>Image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4510920"/>
            <a:ext cx="107572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64B00"/>
                </a:solidFill>
                <a:latin typeface="72 Brand Medium"/>
              </a:rPr>
              <a:t>CSV · 다양한 형식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2780" y="1641990"/>
            <a:ext cx="422433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 Medium"/>
              </a:rPr>
              <a:t>DAILY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45693" y="1592460"/>
            <a:ext cx="1315521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일상 업무 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8854" y="1981080"/>
            <a:ext cx="80950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System 유지비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8020" y="2189321"/>
            <a:ext cx="443745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OCR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8020" y="239315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납품 문서 인식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8515" y="1981080"/>
            <a:ext cx="64972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Token 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7900" y="2189321"/>
            <a:ext cx="1272897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AI Agent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7900" y="239315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업무 정보 연결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7780" y="2189321"/>
            <a:ext cx="694967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입고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07780" y="239315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운영 계획 반영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92780" y="3120270"/>
            <a:ext cx="1385054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72 Brand Medium"/>
              </a:rPr>
              <a:t>ISSUE without App Builder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8314" y="3070740"/>
            <a:ext cx="1638657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신규 업체 추가 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8947" y="345936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형식 차이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8020" y="3667601"/>
            <a:ext cx="750331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OCR 실패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8020" y="3871436"/>
            <a:ext cx="112168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인식 불가 형식 감지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8871" y="3459360"/>
            <a:ext cx="66948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IT 인력 필요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2960" y="3667601"/>
            <a:ext cx="112764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IT 추가개발 요청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32960" y="3871436"/>
            <a:ext cx="115597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개발 요청·순위 조율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8827" y="345936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개발 대기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7900" y="3667601"/>
            <a:ext cx="65472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추가개발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7900" y="3871436"/>
            <a:ext cx="120038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신규 형식 Logic 구현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33767" y="345936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운영 지연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82840" y="3667601"/>
            <a:ext cx="388381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배포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2840" y="3871436"/>
            <a:ext cx="112168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변경 사항 운영 반영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58707" y="345936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기준 보완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07780" y="3667601"/>
            <a:ext cx="65472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기준수정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07780" y="387143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처리 기준 반영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11758" y="3459360"/>
            <a:ext cx="41636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재작업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3667601"/>
            <a:ext cx="694967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입고 반영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387143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운영 계획 반영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92780" y="4598550"/>
            <a:ext cx="1236702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72 Brand Medium"/>
              </a:rPr>
              <a:t>ISSUE with App Builder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59962" y="4549020"/>
            <a:ext cx="1638657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신규 업체 추가 Process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43863" y="493764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형식 차이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8020" y="5145881"/>
            <a:ext cx="443745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OCR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8020" y="5349716"/>
            <a:ext cx="112168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인식 불가 형식 감지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53839" y="493764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자동 보완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17876" y="5145881"/>
            <a:ext cx="870465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App Builder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17876" y="5349716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코드 수정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35703" y="4937640"/>
            <a:ext cx="67246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배포 전 검증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7852" y="5145881"/>
            <a:ext cx="1133355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Sandbox 테스트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27852" y="5349716"/>
            <a:ext cx="147589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변경 코드 · 처리 결과 확인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73671" y="4937640"/>
            <a:ext cx="54447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자동 배포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7708" y="5145881"/>
            <a:ext cx="388381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배포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37708" y="534971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처리 흐름 적용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85420" y="4937640"/>
            <a:ext cx="64258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A93D00"/>
                </a:solidFill>
                <a:latin typeface="72 Brand"/>
              </a:rPr>
              <a:t>자동 재처리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47684" y="5145881"/>
            <a:ext cx="694967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000000"/>
                </a:solidFill>
                <a:latin typeface="72 Brand Medium"/>
              </a:rPr>
              <a:t>입고 반영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47684" y="5349716"/>
            <a:ext cx="86320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E75"/>
                </a:solidFill>
                <a:latin typeface="72 Brand"/>
              </a:rPr>
              <a:t>운영 계획 반영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6077902"/>
            <a:ext cx="164580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F2"/>
                </a:solidFill>
                <a:latin typeface="72 Brand Medium"/>
              </a:rPr>
              <a:t>APP BUILDER CAPABILITY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24100" y="5983605"/>
            <a:ext cx="81641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변경 자동 보완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24100" y="6126480"/>
            <a:ext cx="1781770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AI Coding으로 처리 기준을 보완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8980" y="5983605"/>
            <a:ext cx="99143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2D3E"/>
                </a:solidFill>
                <a:latin typeface="72 Brand Medium"/>
              </a:rPr>
              <a:t>배포 · 재처리 연결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8980" y="6126480"/>
            <a:ext cx="189809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B82"/>
                </a:solidFill>
                <a:latin typeface="72 Brand"/>
              </a:rPr>
              <a:t>신규 App 배포 후 업무 흐름에 반영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352097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Harness Deep Agent — 복합 분석과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79" y="3258978"/>
            <a:ext cx="90916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RISK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1780" y="3495198"/>
            <a:ext cx="736639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고객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884" y="3775233"/>
            <a:ext cx="97643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매출채권 Risk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6500" y="1502568"/>
            <a:ext cx="895826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Risk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0800" y="1982628"/>
            <a:ext cx="86260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RA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0" y="2195988"/>
            <a:ext cx="141303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72 Brand Medium"/>
              </a:rPr>
              <a:t>언제 부실 위험이 되는가?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2375773"/>
            <a:ext cx="139041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고객 신용 · 채권 · 거래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6060" y="2761297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질문 분해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060" y="2973109"/>
            <a:ext cx="1067276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신용 · 연체 ·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6060" y="3246953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분석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6060" y="3435905"/>
            <a:ext cx="113442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고객 · 매출채권 · 계약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6060" y="3694152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확인 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6060" y="3905964"/>
            <a:ext cx="1028223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위험 신호와 영향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6540" y="1456848"/>
            <a:ext cx="1329213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Deep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0840" y="1929288"/>
            <a:ext cx="1341953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HARNESS DEEP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0840" y="2142648"/>
            <a:ext cx="134528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72 Brand Medium"/>
              </a:rPr>
              <a:t>분해된 질문별 근거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0840" y="2322433"/>
            <a:ext cx="142779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각 정보원에 맞는 Query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1320" y="2791777"/>
            <a:ext cx="48660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1320" y="3005137"/>
            <a:ext cx="64198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72 Brand Medium"/>
              </a:rPr>
              <a:t>LLM Wiki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7500" y="3208496"/>
            <a:ext cx="76616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RA · 협의 이력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413" y="2791777"/>
            <a:ext cx="48660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413" y="3005137"/>
            <a:ext cx="69342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72 Brand Medium"/>
              </a:rPr>
              <a:t>HANA 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5593" y="3208496"/>
            <a:ext cx="65210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관계사·Risk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7507" y="2791777"/>
            <a:ext cx="48660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7507" y="3005137"/>
            <a:ext cx="422433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72 Brand Medium"/>
              </a:rPr>
              <a:t>Joule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3687" y="3208496"/>
            <a:ext cx="83058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채권·한도·주문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6100" y="4064317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결과 수집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6100" y="4276129"/>
            <a:ext cx="1691282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세 정보원의 Query 결과 반환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6100" y="4549973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근거 종합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6100" y="4738925"/>
            <a:ext cx="140005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고객 신용 · 채권 · 관계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6100" y="4997172"/>
            <a:ext cx="531495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RA 결론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6100" y="5208984"/>
            <a:ext cx="1500901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위험 등급 · 대응 우선순위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6580" y="1502568"/>
            <a:ext cx="875942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대응 지시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0880" y="1982628"/>
            <a:ext cx="81129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RISK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0880" y="2195988"/>
            <a:ext cx="123313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72 Brand Medium"/>
              </a:rPr>
              <a:t>실행 가능한 조치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0880" y="2375773"/>
            <a:ext cx="110454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Risk 수준에 맞춘 대응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6140" y="2761297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한도 조정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6140" y="2973109"/>
            <a:ext cx="1262538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신용 한도 · 주문 보류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6140" y="3246953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조건 보완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6140" y="3435905"/>
            <a:ext cx="1164193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결제 조건 · 담보 · 승인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6140" y="3694152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업무 지시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6140" y="3905964"/>
            <a:ext cx="1381720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담당자 · 후속 조치 전달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6580" y="4629388"/>
            <a:ext cx="151411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SKILL.MD ACCUMULATION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6140" y="4926568"/>
            <a:ext cx="917733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0000"/>
                </a:solidFill>
                <a:latin typeface="72 Brand Medium"/>
              </a:rPr>
              <a:t>분석 Pattern 확정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6140" y="5167312"/>
            <a:ext cx="72139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0000"/>
                </a:solidFill>
                <a:latin typeface="72 Brand Medium"/>
              </a:rPr>
              <a:t>Skill.md 축적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6140" y="5408056"/>
            <a:ext cx="868322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0000"/>
                </a:solidFill>
                <a:latin typeface="72 Brand Medium"/>
              </a:rPr>
              <a:t>다음 질문 재사용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4446508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Harness A2A — Cross-Team 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343" y="3181469"/>
            <a:ext cx="125551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CUSTOMER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6752" y="3417689"/>
            <a:ext cx="118681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00000"/>
                </a:solidFill>
                <a:latin typeface="72 Brand Medium"/>
              </a:rPr>
              <a:t>수주 조건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053" y="3697724"/>
            <a:ext cx="938093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물량 · 가격 · 납기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6500" y="1502568"/>
            <a:ext cx="99131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영업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0800" y="1982628"/>
            <a:ext cx="118229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WIKI · TICKET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0" y="2195988"/>
            <a:ext cx="112097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72 Brand Medium"/>
              </a:rPr>
              <a:t>수주 조건 확인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2375773"/>
            <a:ext cx="161651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고객 요청 · 계약 조건 · 협의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900" y="2761297"/>
            <a:ext cx="76211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JOULE 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2973109"/>
            <a:ext cx="1186457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수주 · 가격 · 수익성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3246953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조건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900" y="3435905"/>
            <a:ext cx="119300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현재 계약 조건과 수익성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8900" y="3694152"/>
            <a:ext cx="11826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HARNESS 결론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900" y="3974544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분석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900" y="4186356"/>
            <a:ext cx="909042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수주 조건 초안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900" y="4460200"/>
            <a:ext cx="63769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WIKI 답변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900" y="4672012"/>
            <a:ext cx="153614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영업 Team 검토 결과 공유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6540" y="1502568"/>
            <a:ext cx="134183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생산관리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0840" y="1982628"/>
            <a:ext cx="118229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WIKI · TICKET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0840" y="2195988"/>
            <a:ext cx="112097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72 Brand Medium"/>
              </a:rPr>
              <a:t>생산 가능 여부 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0840" y="2375773"/>
            <a:ext cx="162782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수주 조건 · 우선순위 · 검토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8940" y="2761297"/>
            <a:ext cx="76211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JOULE 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8940" y="2973109"/>
            <a:ext cx="1233011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생산계획 · Line 여력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8940" y="3246953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조건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8940" y="3435905"/>
            <a:ext cx="99679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기존 고객 납기 약속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8940" y="3694152"/>
            <a:ext cx="11826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HARNESS 결론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8940" y="3974544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분석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8940" y="4186356"/>
            <a:ext cx="909042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생산 가능 조건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8940" y="4460200"/>
            <a:ext cx="63769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WIKI 답변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8940" y="4672012"/>
            <a:ext cx="1774507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생산관리 Team 검토 결과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6580" y="1502568"/>
            <a:ext cx="99131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구매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0880" y="1982628"/>
            <a:ext cx="118229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70F2"/>
                </a:solidFill>
                <a:latin typeface="72 Brand"/>
              </a:rPr>
              <a:t>WIKI · TICKET NOTE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0880" y="2195988"/>
            <a:ext cx="13791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72 Brand Medium"/>
              </a:rPr>
              <a:t>자재 확보 가능 여부 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0880" y="2375773"/>
            <a:ext cx="164318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필요 자재 · 공급 Risk · 대응 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980" y="2761297"/>
            <a:ext cx="76211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JOULE 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980" y="2973109"/>
            <a:ext cx="153995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재고 · 발주 · 공급사 · 단가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980" y="3246953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조건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980" y="3435905"/>
            <a:ext cx="148851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E75"/>
                </a:solidFill>
                <a:latin typeface="72 Brand"/>
              </a:rPr>
              <a:t>대체 가능성 · 납기 · 원가 영향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980" y="3694152"/>
            <a:ext cx="11826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HARNESS 결론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980" y="3974544"/>
            <a:ext cx="60483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분석 결과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980" y="4186356"/>
            <a:ext cx="1536858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공급 가능 조건 · 원가 영향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8980" y="4460200"/>
            <a:ext cx="63769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70F2"/>
                </a:solidFill>
                <a:latin typeface="72 Brand"/>
              </a:rPr>
              <a:t>WIKI 답변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980" y="4672012"/>
            <a:ext cx="153614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 Medium"/>
              </a:rPr>
              <a:t>구매 Team 검토 결과 공유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26820"/>
            <a:ext cx="4449841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00000"/>
                </a:solidFill>
                <a:latin typeface="72 Brand Medium"/>
              </a:rPr>
              <a:t>SAP BTP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2519124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475E75"/>
                </a:solidFill>
                <a:latin typeface="72 Brand"/>
              </a:rPr>
              <a:t>SAP BTP 기반의 구현 구조와 운영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952500"/>
            <a:ext cx="315110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01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Autonomous Enterprise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1356360"/>
            <a:ext cx="1692354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02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0" y="1760220"/>
            <a:ext cx="208026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03</a:t>
            </a:r>
            <a:r>
              <a:rPr sz="1260" b="1" i="0">
                <a:solidFill>
                  <a:srgbClr val="0070F2"/>
                </a:solidFill>
                <a:latin typeface="72 Brand Medium"/>
              </a:rPr>
              <a:t>SAP BTP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0" y="2164080"/>
            <a:ext cx="212502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04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Demo &amp; 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FFFF"/>
                </a:solidFill>
                <a:latin typeface="72 Brand Medium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4670226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SAP BTP — Standard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10488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SAP BTP — Kyma App-in-App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4620577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SAP BTP — Platform Value &amp; TCO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3054" y="1209198"/>
            <a:ext cx="5359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72 Brand Medium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5444" y="1209198"/>
            <a:ext cx="61793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72 Brand Medium"/>
              </a:rPr>
              <a:t>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0781" y="1254918"/>
            <a:ext cx="148971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72 Brand Medium"/>
              </a:rPr>
              <a:t>S/4 연동 시 필요한 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11307" y="1209198"/>
            <a:ext cx="897493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72 Brand Medium"/>
              </a:rPr>
              <a:t>SAP BTP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755" y="1716643"/>
            <a:ext cx="5486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660" y="1701403"/>
            <a:ext cx="740687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EKS · 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1704" y="1701403"/>
            <a:ext cx="1405413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AKS · Container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5908" y="1656397"/>
            <a:ext cx="1359574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업무 App 개발·배포·운영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1272" y="1816417"/>
            <a:ext cx="1248846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개발·Test·배포 체계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7950" y="1609248"/>
            <a:ext cx="1284208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Kyma · SAP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7466" y="1807368"/>
            <a:ext cx="1405294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업무 App 변경·배포·운영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180" y="2160031"/>
            <a:ext cx="615791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AI /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3612" y="2144791"/>
            <a:ext cx="113478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Amazon Bedrock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4590" y="2144791"/>
            <a:ext cx="939641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Azure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8164" y="2099786"/>
            <a:ext cx="145506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Agent 실행·업무 지시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3167" y="2259806"/>
            <a:ext cx="1404937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Prompt·실행 흐름 직접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7704" y="2052637"/>
            <a:ext cx="1404818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SAP AI Core · Joule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4745" y="2250757"/>
            <a:ext cx="113073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AI 실행과 업무 지시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630" y="2603063"/>
            <a:ext cx="1034772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Knowledge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4187" y="2588180"/>
            <a:ext cx="145363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Neptune · OpenSearch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0604" y="2588180"/>
            <a:ext cx="1867733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Cosmos DB · Azure AI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6370" y="2543175"/>
            <a:ext cx="157864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KPI·SOP·Ticket 관계 지식화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6348" y="2703195"/>
            <a:ext cx="1938575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Business Context·근거·감사 구조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350" y="2496026"/>
            <a:ext cx="1741408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HANA Knowledge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9627" y="2694146"/>
            <a:ext cx="112097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관계 기반 업무 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613" y="3046809"/>
            <a:ext cx="542925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SAP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5414" y="3031569"/>
            <a:ext cx="871180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API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4222" y="3031569"/>
            <a:ext cx="1120378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API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3650" y="2986563"/>
            <a:ext cx="130397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S/4 API·Data 의미 정합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5783" y="3146583"/>
            <a:ext cx="1459706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형식 변환·오류 처리·변경 대응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2934" y="2939415"/>
            <a:ext cx="1534239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SAP API · Destination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3546" y="3137535"/>
            <a:ext cx="127301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표준 연결과 Data 접근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176" y="3490198"/>
            <a:ext cx="29979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EAI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8449" y="3474958"/>
            <a:ext cx="1844992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EventBridge · Step Functions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3715" y="3474958"/>
            <a:ext cx="1601509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Logic Apps · Service Bus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7317" y="3429952"/>
            <a:ext cx="167663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업무 Event·예외 Process 설계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3994" y="3589972"/>
            <a:ext cx="1503402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System 간 연계와 재처리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8788" y="3382803"/>
            <a:ext cx="120265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Integration 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6406" y="3580923"/>
            <a:ext cx="122729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Process·Event 통합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382" y="3933586"/>
            <a:ext cx="809386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Authorization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7094" y="3918346"/>
            <a:ext cx="667821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AWS IAM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4813" y="3918346"/>
            <a:ext cx="117931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Microsoft Entra 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3527" y="3873341"/>
            <a:ext cx="136433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SAP 조직·권한 정책 정합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3396" y="4033361"/>
            <a:ext cx="1544597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Cloud IAM과 SAP 권한 동기화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2472" y="3826192"/>
            <a:ext cx="131516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BTP Authorization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6293" y="4024312"/>
            <a:ext cx="112764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업무 권한·접근 통제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744" y="4376975"/>
            <a:ext cx="738663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Governance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1464" y="4361735"/>
            <a:ext cx="1218961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CloudTrail · Config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2559" y="4361735"/>
            <a:ext cx="106370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Purview · Policy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0670" y="4316730"/>
            <a:ext cx="134993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감사·정책·접근 기준 관리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6971" y="4476750"/>
            <a:ext cx="149733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AI·Data 사용 기준의 지속 정합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107" y="4269581"/>
            <a:ext cx="2584013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SAP AI Launchpad · SAP BTP cockpit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7338" y="4467701"/>
            <a:ext cx="154555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AI·Data 사용 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30597" y="4999434"/>
            <a:ext cx="4698325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1B90FF"/>
                </a:solidFill>
                <a:latin typeface="72 Brand Medium"/>
              </a:rPr>
              <a:t>TCO</a:t>
            </a:r>
            <a:r>
              <a:rPr sz="1739" b="1" i="0">
                <a:solidFill>
                  <a:srgbClr val="000000"/>
                </a:solidFill>
                <a:latin typeface="72 Brand Medium"/>
              </a:rPr>
              <a:t>(CSP + S/4 연동 개발·운영) &gt;</a:t>
            </a:r>
            <a:r>
              <a:rPr sz="1739" b="1" i="0">
                <a:solidFill>
                  <a:srgbClr val="1B90FF"/>
                </a:solidFill>
                <a:latin typeface="72 Brand Medium"/>
              </a:rPr>
              <a:t>TCO</a:t>
            </a:r>
            <a:r>
              <a:rPr sz="1739" b="1" i="0">
                <a:solidFill>
                  <a:srgbClr val="000000"/>
                </a:solidFill>
                <a:latin typeface="72 Brand Medium"/>
              </a:rPr>
              <a:t>(SAP BTP)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4297084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SAP BTP — Operations &amp; OPEX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3054" y="1254918"/>
            <a:ext cx="5359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72 Brand Medium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5444" y="1254918"/>
            <a:ext cx="61793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72 Brand Medium"/>
              </a:rPr>
              <a:t>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9698" y="1300638"/>
            <a:ext cx="1671994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72 Brand Medium"/>
              </a:rPr>
              <a:t>운영 시 추가로 필요한 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11307" y="1254918"/>
            <a:ext cx="897493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72 Brand Medium"/>
              </a:rPr>
              <a:t>SAP BTP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90831"/>
            <a:ext cx="96738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Service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3983" y="1815703"/>
            <a:ext cx="913923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AWS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2291" y="1975723"/>
            <a:ext cx="131730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Service별 지원·운영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8279" y="1815703"/>
            <a:ext cx="972264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Azure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5757" y="1975723"/>
            <a:ext cx="131730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Service별 지원·운영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5659" y="1846183"/>
            <a:ext cx="154007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AI·App·S/4 Issue 통합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3596" y="1990963"/>
            <a:ext cx="216419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장애 원인·책임 범위·재처리 흐름을 직접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0708" y="1799034"/>
            <a:ext cx="95881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One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304" y="1966674"/>
            <a:ext cx="1709618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App·통합·Platform 운영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083" y="2500431"/>
            <a:ext cx="102798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Standard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8472" y="2425303"/>
            <a:ext cx="1464945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Cloud Service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2291" y="2585323"/>
            <a:ext cx="131730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Service별 변경 공지·검증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5510" y="2425303"/>
            <a:ext cx="1457920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Azure Service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5757" y="2585323"/>
            <a:ext cx="131730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Service별 변경 공지·검증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3635" y="2455783"/>
            <a:ext cx="154412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표준·Version 변경 영향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3373" y="2600563"/>
            <a:ext cx="192464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AI·연동·배포 설정을 업무 App별로 점검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952" y="2408634"/>
            <a:ext cx="1630203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Reference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5430" y="2576274"/>
            <a:ext cx="160936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표준 변경·Version 관리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863" y="3110031"/>
            <a:ext cx="111430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S/4 Change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5980" y="3034903"/>
            <a:ext cx="1350049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API Monitoring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9916" y="3194923"/>
            <a:ext cx="122205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연계 오류·Log 개별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5496" y="3034903"/>
            <a:ext cx="1677947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API Management ·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3382" y="3194923"/>
            <a:ext cx="122205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연계 오류·Log 개별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9110" y="3065383"/>
            <a:ext cx="155305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S/4 API·Data 변경 영향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850" y="3210163"/>
            <a:ext cx="191369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AI·Knowledge·App 영향 및 Test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5639" y="3018234"/>
            <a:ext cx="2068949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Destination · Integration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5322" y="3185874"/>
            <a:ext cx="142946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SAP 연결·변경 영향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930" y="3719631"/>
            <a:ext cx="118229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AI &amp; App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7634" y="3644503"/>
            <a:ext cx="1546740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CloudWatch · CloudTrail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4063" y="3804523"/>
            <a:ext cx="153388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Infrastructure·감사 Log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9434" y="3644503"/>
            <a:ext cx="1530072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 Medium"/>
              </a:rPr>
              <a:t>Azure Monitor · Purview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7529" y="3804523"/>
            <a:ext cx="153388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75E75"/>
                </a:solidFill>
                <a:latin typeface="72 Brand"/>
              </a:rPr>
              <a:t>Infrastructure·감사 Log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2565" y="3674983"/>
            <a:ext cx="150614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65B00"/>
                </a:solidFill>
                <a:latin typeface="72 Brand Medium"/>
              </a:rPr>
              <a:t>AI·App·배포 이력 통합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4311" y="3819763"/>
            <a:ext cx="214264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5B738B"/>
                </a:solidFill>
                <a:latin typeface="72 Brand"/>
              </a:rPr>
              <a:t>Model·Prompt·권한·배포 변경을 별도 운영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4413" y="3627834"/>
            <a:ext cx="2631281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SAP AI Launchpad · Kyma · SAP Build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1878" y="3795474"/>
            <a:ext cx="129635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475E75"/>
                </a:solidFill>
                <a:latin typeface="72 Brand"/>
              </a:rPr>
              <a:t>AI·App·배포 통합 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1531" y="4440793"/>
            <a:ext cx="4996576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1B90FF"/>
                </a:solidFill>
                <a:latin typeface="72 Brand Medium"/>
              </a:rPr>
              <a:t>OPEX</a:t>
            </a:r>
            <a:r>
              <a:rPr sz="1739" b="1" i="0">
                <a:solidFill>
                  <a:srgbClr val="000000"/>
                </a:solidFill>
                <a:latin typeface="72 Brand Medium"/>
              </a:rPr>
              <a:t>(CSP + S/4·LoB 연동 운영) &gt;</a:t>
            </a:r>
            <a:r>
              <a:rPr sz="1739" b="1" i="0">
                <a:solidFill>
                  <a:srgbClr val="1B90FF"/>
                </a:solidFill>
                <a:latin typeface="72 Brand Medium"/>
              </a:rPr>
              <a:t>OPEX</a:t>
            </a:r>
            <a:r>
              <a:rPr sz="1739" b="1" i="0">
                <a:solidFill>
                  <a:srgbClr val="000000"/>
                </a:solidFill>
                <a:latin typeface="72 Brand Medium"/>
              </a:rPr>
              <a:t>(SAP BTP)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26820"/>
            <a:ext cx="4892397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00000"/>
                </a:solidFill>
                <a:latin typeface="72 Brand Medium"/>
              </a:rPr>
              <a:t>Demo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366772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475E75"/>
                </a:solidFill>
                <a:latin typeface="72 Brand"/>
              </a:rPr>
              <a:t>조직의 문제에서 SCM 실행과 Business Value까지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952500"/>
            <a:ext cx="315110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01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Autonomous Enterprise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1356360"/>
            <a:ext cx="1692354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02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Agentic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0" y="1760220"/>
            <a:ext cx="197096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03</a:t>
            </a:r>
            <a:r>
              <a:rPr sz="1260" b="0" i="0">
                <a:solidFill>
                  <a:srgbClr val="000000"/>
                </a:solidFill>
                <a:latin typeface="72 Brand Medium"/>
              </a:rPr>
              <a:t>SAP BTP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0" y="2164080"/>
            <a:ext cx="223456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70F2"/>
                </a:solidFill>
                <a:latin typeface="72 Brand"/>
              </a:rPr>
              <a:t>04</a:t>
            </a:r>
            <a:r>
              <a:rPr sz="1260" b="1" i="0">
                <a:solidFill>
                  <a:srgbClr val="0070F2"/>
                </a:solidFill>
                <a:latin typeface="72 Brand Medium"/>
              </a:rPr>
              <a:t>Demo &amp; 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FFFF"/>
                </a:solidFill>
                <a:latin typeface="72 Brand Medium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5780" y="1190148"/>
            <a:ext cx="11140440" cy="257175"/>
          </a:xfrm>
          <a:prstGeom prst="rect">
            <a:avLst/>
          </a:prstGeom>
          <a:solidFill>
            <a:srgbClr val="F5F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1470183"/>
            <a:ext cx="2209800" cy="8601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58440" y="1470183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1100" y="1470183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1470183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56420" y="1470183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8440" y="1911667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91100" y="1911667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911667"/>
            <a:ext cx="444246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" y="2353151"/>
            <a:ext cx="2209800" cy="8601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8440" y="2353151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91100" y="2353151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2353151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56420" y="2353151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8440" y="2794635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91100" y="2794635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794635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6420" y="2794635"/>
            <a:ext cx="2209800" cy="41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30" y="3834288"/>
            <a:ext cx="2459235" cy="10086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730" y="5155406"/>
            <a:ext cx="2459235" cy="7565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"/>
            <a:ext cx="5510212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Demo — Business Context &amp;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9559" y="938688"/>
            <a:ext cx="221468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65D78"/>
                </a:solidFill>
                <a:latin typeface="72 Brand"/>
              </a:rPr>
              <a:t>BUSINESS OPERATING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0246" y="1220628"/>
            <a:ext cx="754141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A6ED1"/>
                </a:solidFill>
                <a:latin typeface="72 Brand"/>
              </a:rPr>
              <a:t>원가 경쟁력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3584" y="1220628"/>
            <a:ext cx="754141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A6ED1"/>
                </a:solidFill>
                <a:latin typeface="72 Brand"/>
              </a:rPr>
              <a:t>운영 안정성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6921" y="1220628"/>
            <a:ext cx="634960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A6ED1"/>
                </a:solidFill>
                <a:latin typeface="72 Brand"/>
              </a:rPr>
              <a:t>고객 가치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076" y="1220628"/>
            <a:ext cx="1722596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A6ED1"/>
                </a:solidFill>
                <a:latin typeface="72 Brand"/>
              </a:rPr>
              <a:t>기술 · 지속가능 Leadership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" y="1804987"/>
            <a:ext cx="1788199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"/>
              </a:rPr>
              <a:t>Organizational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4018" y="1500663"/>
            <a:ext cx="7004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영업 · 수요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0860" y="1671875"/>
            <a:ext cx="1706880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Demand Forecast · 수주 변동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4521" y="1500663"/>
            <a:ext cx="92487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구매 · 공급계획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0559" y="1671875"/>
            <a:ext cx="145268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공급 연속성 · 협력사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9338" y="1500663"/>
            <a:ext cx="70044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생산 · 품질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0927" y="1671875"/>
            <a:ext cx="1937385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Production Capacity · 품질 Issue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3188" y="1500663"/>
            <a:ext cx="698063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SCM · 고객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3513" y="1671875"/>
            <a:ext cx="121741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납기 준수 · 물류 예외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1861" y="1942147"/>
            <a:ext cx="92487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재무 · 경영관리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4835" y="2113359"/>
            <a:ext cx="95892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원가 · 손익 변동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9184" y="1942147"/>
            <a:ext cx="59543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IT ·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5428" y="2113359"/>
            <a:ext cx="164306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15F7C"/>
                </a:solidFill>
                <a:latin typeface="72 Brand"/>
              </a:rPr>
              <a:t>System 가용성 · Data 신뢰성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" y="2687955"/>
            <a:ext cx="1057751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72 Brand"/>
              </a:rPr>
              <a:t>Team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8423" y="2383631"/>
            <a:ext cx="69163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영업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5533" y="2554843"/>
            <a:ext cx="121741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수주 변동 · 고객 요청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98926" y="2383631"/>
            <a:ext cx="9159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수요계획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62004" y="2554843"/>
            <a:ext cx="1189791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Forecast · 수요 조정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1586" y="2383631"/>
            <a:ext cx="9159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생산계획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96" y="2554843"/>
            <a:ext cx="144172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계획 변경 · 생산 우선순위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6403" y="2383631"/>
            <a:ext cx="69163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구매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3513" y="2554843"/>
            <a:ext cx="121741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지연 자재 · 긴급 발주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66266" y="2825115"/>
            <a:ext cx="9159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품질관리 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5769" y="2996326"/>
            <a:ext cx="125694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품질 Issue · 시정 조치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8581" y="2825115"/>
            <a:ext cx="71675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SCM Team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8193" y="2996326"/>
            <a:ext cx="1217414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재고 부족 · 물류 예외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1586" y="2825115"/>
            <a:ext cx="91594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영업관리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9656" y="2996326"/>
            <a:ext cx="131992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Order 반영 · 납기 회신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6035" y="2825115"/>
            <a:ext cx="872370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IT·Data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9685" y="2996326"/>
            <a:ext cx="1505069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26F88"/>
                </a:solidFill>
                <a:latin typeface="72 Brand"/>
              </a:rPr>
              <a:t>Data 오류 · Interface 대응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89496" y="3358038"/>
            <a:ext cx="103036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동일한 전사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7943" y="3327558"/>
            <a:ext cx="4226361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647C"/>
                </a:solidFill>
                <a:latin typeface="72 Brand"/>
              </a:rPr>
              <a:t>를 조직과 Team은 각자의 Data·업무 상태·우선순위 관점에서 다르게 판단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62324" y="3601878"/>
            <a:ext cx="1789152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512B"/>
                </a:solidFill>
                <a:latin typeface="72 Brand"/>
              </a:rPr>
              <a:t>BUSINESS CHALLENGES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180" y="4239577"/>
            <a:ext cx="138957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"/>
              </a:rPr>
              <a:t>Business Challenges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4575" y="3860958"/>
            <a:ext cx="5779055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C3826"/>
                </a:solidFill>
                <a:latin typeface="72 Brand"/>
              </a:rPr>
              <a:t>조직·Team별 Data와 Business Context가 분리되어, 동일 KPI에 대한 전체 최적화 판단과 협업이 어려움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4575" y="4113133"/>
            <a:ext cx="5267563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C3826"/>
                </a:solidFill>
                <a:latin typeface="72 Brand"/>
              </a:rPr>
              <a:t>수요·공급·생산·물류의 변동 발생 시, 영향 범위와 우선순위를 사람이 수작업으로 재확인해야 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74575" y="4365307"/>
            <a:ext cx="5086588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C3826"/>
                </a:solidFill>
                <a:latin typeface="72 Brand"/>
              </a:rPr>
              <a:t>요청·처리 이력이 개인과 System에 분산되어, 반복 업무의 기준과 전문성이 재활용되지 못함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74575" y="4617481"/>
            <a:ext cx="5789175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C3826"/>
                </a:solidFill>
                <a:latin typeface="72 Brand"/>
              </a:rPr>
              <a:t>업무 변화에 따른 App·업무 Logic 수정이 IT 개발 요청과 배포 절차에 의존하여 대응 Lead Time이 길어짐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72526" y="4922996"/>
            <a:ext cx="2368867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B90FF"/>
                </a:solidFill>
                <a:latin typeface="72 Brand"/>
              </a:rPr>
              <a:t>AUTONOMOUS OPERATIONS 방식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180" y="5434607"/>
            <a:ext cx="2010132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"/>
              </a:rPr>
              <a:t>Autonomous Operating Model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74575" y="5182076"/>
            <a:ext cx="4713089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"/>
              </a:rPr>
              <a:t>Team별 Wiki를 중심으로 KPI·업무 상태·요청 이력을 연결하는 Agent 기반 협업 구조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4575" y="5434250"/>
            <a:ext cx="5283874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"/>
              </a:rPr>
              <a:t>Team별 App Builder AI Coding으로 업무 변화에 맞춰 App을 보완·배포하고 개발 비용을 절감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74575" y="5686425"/>
            <a:ext cx="6630233" cy="2514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72 Brand"/>
              </a:rPr>
              <a:t>Team별 Harness 구조로 분석·업무 지시·결과 Wiki 저장을 연결하고, 업무 이력의 Lifecycle을 사내 Knowledge로 축적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070621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Shared AI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2563415"/>
            <a:ext cx="102358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Team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2799635"/>
            <a:ext cx="1213723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0000"/>
                </a:solidFill>
                <a:latin typeface="72 Brand Medium"/>
              </a:rPr>
              <a:t>Wiki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3026925"/>
            <a:ext cx="2296001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Team KPI · SOP · Issue ·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3685222"/>
            <a:ext cx="128718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Enterprise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3921442"/>
            <a:ext cx="202977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0000"/>
                </a:solidFill>
                <a:latin typeface="72 Brand Medium"/>
              </a:rPr>
              <a:t>HANA 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4148732"/>
            <a:ext cx="2281356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Compliance · IT · HR의 Ontology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1478" y="3228022"/>
            <a:ext cx="57638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업무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2970" y="3083718"/>
            <a:ext cx="96774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5551" y="3335178"/>
            <a:ext cx="1582578" cy="3276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59" b="1" i="0">
                <a:solidFill>
                  <a:srgbClr val="1B90FF"/>
                </a:solidFill>
                <a:latin typeface="72 Brand Medium"/>
              </a:rPr>
              <a:t>Live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2117" y="3628310"/>
            <a:ext cx="1289446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질문·업무 지시 접점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815" y="3228022"/>
            <a:ext cx="67663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분석 · 지시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6591" y="1441608"/>
            <a:ext cx="141922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Analysis &amp;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591" y="1677828"/>
            <a:ext cx="1525666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0000"/>
                </a:solidFill>
                <a:latin typeface="72 Brand Medium"/>
              </a:rPr>
              <a:t>Harness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6591" y="1905119"/>
            <a:ext cx="200334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분석·업무 지시 · Non-SAP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6591" y="2563415"/>
            <a:ext cx="1280517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Workflow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6591" y="2799635"/>
            <a:ext cx="1173599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0000"/>
                </a:solidFill>
                <a:latin typeface="72 Brand Medium"/>
              </a:rPr>
              <a:t>n8n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6591" y="3026925"/>
            <a:ext cx="108204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업무 자동화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6591" y="3685222"/>
            <a:ext cx="178617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App Development &amp;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6591" y="3921442"/>
            <a:ext cx="1799034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0000"/>
                </a:solidFill>
                <a:latin typeface="72 Brand Medium"/>
              </a:rPr>
              <a:t>App Builder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6591" y="4148732"/>
            <a:ext cx="1371242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업무 App 운영 · 개발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6591" y="4807029"/>
            <a:ext cx="94559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79D"/>
                </a:solidFill>
                <a:latin typeface="72 Brand"/>
              </a:rPr>
              <a:t>SAP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6591" y="5043249"/>
            <a:ext cx="1305639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0000"/>
                </a:solidFill>
                <a:latin typeface="72 Brand Medium"/>
              </a:rPr>
              <a:t>Joule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6591" y="5270539"/>
            <a:ext cx="132076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475E75"/>
                </a:solidFill>
                <a:latin typeface="72 Brand"/>
              </a:rPr>
              <a:t>SAP 업무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288041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Demo — Cross-Team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1464468"/>
            <a:ext cx="99131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영업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7340" y="1464468"/>
            <a:ext cx="134183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생산관리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020" y="1464468"/>
            <a:ext cx="99131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구매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" y="3293268"/>
            <a:ext cx="134183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영업관리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7340" y="3247548"/>
            <a:ext cx="1060608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SCM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6020" y="3293268"/>
            <a:ext cx="134183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72 Brand Medium"/>
              </a:rPr>
              <a:t>경영관리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183505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Demo — Autonomous SCM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95888"/>
            <a:ext cx="71556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79D"/>
                </a:solidFill>
                <a:latin typeface="72 Brand Medium"/>
              </a:rPr>
              <a:t>Demo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62588"/>
            <a:ext cx="2509837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72 Brand Medium"/>
              </a:rPr>
              <a:t>Inbound Process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5988"/>
            <a:ext cx="1998583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App Builder Agent · 입고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23648"/>
            <a:ext cx="303811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365775"/>
                </a:solidFill>
                <a:latin typeface="72 Brand"/>
              </a:rPr>
              <a:t>납품서·ASN 양식 변경에 따른 입고 App 변경·배포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55168"/>
            <a:ext cx="161413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OCR 실패 · 양식 변경 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21868"/>
            <a:ext cx="133088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입고 담당자 변경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88568"/>
            <a:ext cx="1927860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App Builder로 처리 Logic 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55268"/>
            <a:ext cx="100476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검증 · 운영 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21968"/>
            <a:ext cx="1285041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기준 수정 · 입고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3752" y="4459128"/>
            <a:ext cx="65936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86B92"/>
                </a:solidFill>
                <a:latin typeface="72 Brand Medium"/>
              </a:rPr>
              <a:t>입고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6040" y="1395888"/>
            <a:ext cx="71556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79D"/>
                </a:solidFill>
                <a:latin typeface="72 Brand Medium"/>
              </a:rPr>
              <a:t>Demo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6040" y="1662588"/>
            <a:ext cx="2208728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72 Brand Medium"/>
              </a:rPr>
              <a:t>SCM Exception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6040" y="2195988"/>
            <a:ext cx="1499830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Wiki Agent · 공급 예외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6040" y="2523648"/>
            <a:ext cx="2862500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365775"/>
                </a:solidFill>
                <a:latin typeface="72 Brand"/>
              </a:rPr>
              <a:t>지식·이력 기반 입고 지연·재고·납기 Risk 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4640" y="3255168"/>
            <a:ext cx="156519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입고 지연 · 재고 부족 문의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4640" y="3521868"/>
            <a:ext cx="199143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Wiki에서 SOP · 과거 Ticket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4640" y="3788568"/>
            <a:ext cx="1872376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S/4 재고 · 발주 · 납기 현황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4640" y="4055268"/>
            <a:ext cx="1810702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대체 공급 · 출하 우선순위 판단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4640" y="4321968"/>
            <a:ext cx="168794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담당자 대응 지시 · 결과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7284" y="4459128"/>
            <a:ext cx="9504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86B92"/>
                </a:solidFill>
                <a:latin typeface="72 Brand Medium"/>
              </a:rPr>
              <a:t>공급 예외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0680" y="1395888"/>
            <a:ext cx="71556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79D"/>
                </a:solidFill>
                <a:latin typeface="72 Brand Medium"/>
              </a:rPr>
              <a:t>Demo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0680" y="1662588"/>
            <a:ext cx="2888694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72 Brand Medium"/>
              </a:rPr>
              <a:t>Demand-to-Supply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0680" y="2195988"/>
            <a:ext cx="2067877" cy="2209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90FF"/>
                </a:solidFill>
                <a:latin typeface="72 Brand Medium"/>
              </a:rPr>
              <a:t>Harness Agent · 수요·납기 변동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0680" y="2523648"/>
            <a:ext cx="3130748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365775"/>
                </a:solidFill>
                <a:latin typeface="72 Brand"/>
              </a:rPr>
              <a:t>수요·납기 변경의 생산·구매·물류 영향 분석 →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9280" y="3255168"/>
            <a:ext cx="156519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고객 수요 · 납기 변경 접수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9280" y="3521868"/>
            <a:ext cx="2695694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Production Capacity · 재고 · 공급 Risk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9280" y="3788568"/>
            <a:ext cx="1999178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영업 · 생산 · 구매 · 물류 영향 종합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9280" y="4055268"/>
            <a:ext cx="1709499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부서별 작업 지시 · Wiki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9280" y="4321968"/>
            <a:ext cx="1784985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0000"/>
                </a:solidFill>
                <a:latin typeface="72 Brand Medium"/>
              </a:rPr>
              <a:t>반복 Issue App Builder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3807" y="4459128"/>
            <a:ext cx="111847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86B92"/>
                </a:solidFill>
                <a:latin typeface="72 Brand Medium"/>
              </a:rPr>
              <a:t>부서 간 업무 조율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36804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72 Brand Medium"/>
              </a:rPr>
              <a:t>Demo —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8810" y="2084784"/>
            <a:ext cx="902493" cy="213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858FF"/>
                </a:solidFill>
                <a:latin typeface="72 Brand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8810" y="2374344"/>
            <a:ext cx="2200870" cy="350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72 Brand Medium"/>
              </a:rPr>
              <a:t>Manual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8810" y="2755939"/>
            <a:ext cx="2851665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E75"/>
                </a:solidFill>
                <a:latin typeface="72 Brand"/>
              </a:rPr>
              <a:t>System 조회 · 근거 수집 · 업무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8810" y="3451979"/>
            <a:ext cx="2779871" cy="350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7858FF"/>
                </a:solidFill>
                <a:latin typeface="72 Brand Medium"/>
              </a:rPr>
              <a:t>Autonomous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8810" y="3833574"/>
            <a:ext cx="3222902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E75"/>
                </a:solidFill>
                <a:latin typeface="72 Brand"/>
              </a:rPr>
              <a:t>Agent의 Context 연결 · 허용된 작업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8810" y="4133373"/>
            <a:ext cx="2261235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7858FF"/>
                </a:solidFill>
                <a:latin typeface="72 Brand Medium"/>
              </a:rPr>
              <a:t>사람은 예외·핵심 판단에 집중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03068"/>
            <a:ext cx="1071086" cy="2057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70F2"/>
                </a:solidFill>
                <a:latin typeface="72 Brand"/>
              </a:rPr>
              <a:t>Business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9746" y="5464968"/>
            <a:ext cx="1048583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처리 시간 단축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3129" y="5464968"/>
            <a:ext cx="1188720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수작업 조율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649" y="5464968"/>
            <a:ext cx="1188720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일관된 업무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169" y="5464968"/>
            <a:ext cx="1045725" cy="2819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72 Brand"/>
              </a:rPr>
              <a:t>AI 역량 재사용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15775" y="6614160"/>
            <a:ext cx="2152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00000"/>
                </a:solidFill>
                <a:latin typeface="72 Brand Medium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NOW — Editable text and shapes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