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HANA Knowledge Graph — Business Context 연결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Harness — 업무 판단과 실행 조율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App Builder — App 변경과 배포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Harness Deep Agent — 복합 분석과 계획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A2A — Cross-Team 협업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SAP BTP Architecture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— Standard Architecture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Kyma App-in-App Architecture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Platform Value &amp; TCO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Operations &amp; OPEX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Demo &amp; Business Value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— Business Context &amp; Challenges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Shared AI Foundation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Demo — Cross-Team Operating Model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Autonomous SCM Scenarios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Business Value</a:t>
            </a:r>
          </a:p>
          <a:p>
            <a:r>
              <a:t>Editable card backgrounds, borders and text; complex content preserves the original raster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2940" y="3727608"/>
            <a:ext cx="139160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Agent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" y="3933348"/>
            <a:ext cx="124932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&amp;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" y="4222908"/>
            <a:ext cx="206061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Agent · Tool 연결과 Workflow 설계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375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3375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770" y="3727608"/>
            <a:ext cx="154126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Business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770" y="4017168"/>
            <a:ext cx="2399942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업무 Data · 지식 · 관계를 판단 근거로 구성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458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458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4600" y="3727608"/>
            <a:ext cx="194357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App &amp; AI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600" y="4017168"/>
            <a:ext cx="1745932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새로운 App · 기능 개발 및 변경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9541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9541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5430" y="3727608"/>
            <a:ext cx="15899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5430" y="4017168"/>
            <a:ext cx="226968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계획된 업무 수행 · 결과 검증 · 예외 처리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34600" y="1666517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1666517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79380" y="1841777"/>
            <a:ext cx="51411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01 · Define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79380" y="2047517"/>
            <a:ext cx="11258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변경 요구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79380" y="2312312"/>
            <a:ext cx="163627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필요한 기능과 변경 범위 정의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34600" y="2752725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275272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79380" y="2927985"/>
            <a:ext cx="86606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02 · Build &amp; Extend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79380" y="3133725"/>
            <a:ext cx="172307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App · Skill ·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9380" y="3398520"/>
            <a:ext cx="1743432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AI 기반 App · 기능 개발과 변경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34600" y="3838932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34600" y="3838932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9380" y="4014192"/>
            <a:ext cx="105251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03 · Validate &amp;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4219932"/>
            <a:ext cx="91594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검증과 승인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4484727"/>
            <a:ext cx="213169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분리된 환경에서 기능 검증 · 변경 승인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34600" y="4925139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34600" y="4925139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9380" y="5100399"/>
            <a:ext cx="90820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04 · Deploy &amp;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5306139"/>
            <a:ext cx="107715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배포와 재사용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5570934"/>
            <a:ext cx="213276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검증된 App 배포 · 업무 적용과 재사용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34600" y="1672113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1672113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79380" y="1847373"/>
            <a:ext cx="98619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01 · Business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79380" y="2053113"/>
            <a:ext cx="7546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업무 요청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79380" y="2317908"/>
            <a:ext cx="124241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목표와 기대 결과 전달</a:t>
            </a:r>
          </a:p>
        </p:txBody>
      </p:sp>
      <p:sp>
        <p:nvSpPr>
          <p:cNvPr id="8" name="Rectangle 7"/>
          <p:cNvSpPr/>
          <p:nvPr/>
        </p:nvSpPr>
        <p:spPr>
          <a:xfrm>
            <a:off x="8234600" y="2758320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2758320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79380" y="2933580"/>
            <a:ext cx="11615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02 · Reason &amp; Orchestrate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79380" y="3139320"/>
            <a:ext cx="7136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Harness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9380" y="3404115"/>
            <a:ext cx="223182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Business Context 기반 판단·실행 조율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34600" y="3844528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34600" y="38445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9380" y="4019788"/>
            <a:ext cx="124503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03 · SAP Access &amp;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4225528"/>
            <a:ext cx="10857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Joule +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4490323"/>
            <a:ext cx="193333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SAP Data 조회 · 허용된 업무 수행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34600" y="4930735"/>
            <a:ext cx="3454479" cy="949047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34600" y="493073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9380" y="5105995"/>
            <a:ext cx="99476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04 · Validate &amp; Record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5311735"/>
            <a:ext cx="91594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검증과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5576530"/>
            <a:ext cx="153590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75E75"/>
                </a:solidFill>
                <a:latin typeface="72 Brand"/>
              </a:rPr>
              <a:t>결과 검증·기록 · 예외 전달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1258728"/>
            <a:ext cx="13716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258728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795" y="2867025"/>
            <a:ext cx="7606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464" y="3118485"/>
            <a:ext cx="110347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SAP 정보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9378" y="3427095"/>
            <a:ext cx="95964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현재 Data · 업무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518" y="3565683"/>
            <a:ext cx="2432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요청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8620" y="166258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98620" y="16625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820" y="218527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4820" y="2375773"/>
            <a:ext cx="86653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SAP 화면 이동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4820" y="2568178"/>
            <a:ext cx="99536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필요 Data를 각각 조회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69330" y="166258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69330" y="16625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5530" y="218527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5530" y="2375773"/>
            <a:ext cx="100250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수작업 Data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5530" y="2568178"/>
            <a:ext cx="11200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입고 · 재고 · 계획을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0040" y="166258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40040" y="16625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16240" y="218527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6240" y="2375773"/>
            <a:ext cx="69294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수작업 반영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6240" y="2568178"/>
            <a:ext cx="105560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확정된 내용을 직접 처리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10750" y="166258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10750" y="16625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86950" y="218527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86950" y="2375773"/>
            <a:ext cx="69294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결과 재공유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86950" y="2568178"/>
            <a:ext cx="96440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처리 결과를 다시 전달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98620" y="374284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98620" y="3742848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74820" y="426553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4820" y="4456033"/>
            <a:ext cx="90189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SAP Data 조회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4820" y="4648438"/>
            <a:ext cx="105560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필요한 현재 정보를 연결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69330" y="374284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69330" y="3742848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45530" y="426553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5530" y="4456033"/>
            <a:ext cx="8480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분석 근거 전달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5530" y="4648438"/>
            <a:ext cx="118741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Harness 판단에 Data 제공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40040" y="374284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40040" y="3742848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16240" y="426553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6240" y="4456033"/>
            <a:ext cx="8480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업무 실행 연결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16240" y="4648438"/>
            <a:ext cx="11464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확정된 판단을 SAP로 전달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742848"/>
            <a:ext cx="174879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10750" y="3742848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86950" y="426553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86950" y="4456033"/>
            <a:ext cx="8480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처리 결과 반환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86950" y="4648438"/>
            <a:ext cx="96440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업무 흐름에 즉시 반영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1258728"/>
            <a:ext cx="1371600" cy="4308276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258728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795" y="3071098"/>
            <a:ext cx="7606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6892" y="3322558"/>
            <a:ext cx="72449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전사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6409" y="3631168"/>
            <a:ext cx="84558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신규 협력업체 등록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9862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9862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4820" y="1814988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4820" y="2005488"/>
            <a:ext cx="8480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자료 개별 조회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4820" y="2197893"/>
            <a:ext cx="146887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IT · 품질 · Compliance 자료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6933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6933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5530" y="1814988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5530" y="2005488"/>
            <a:ext cx="8480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담당 조직 문의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5530" y="2197893"/>
            <a:ext cx="96440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부서별 등록 기준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4004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4004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6240" y="1814988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6240" y="2005488"/>
            <a:ext cx="96726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관계 수작업 정리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6240" y="2197893"/>
            <a:ext cx="11614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업체 · 기준 · System 연결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1075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1075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86950" y="1814988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86950" y="2005488"/>
            <a:ext cx="8480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등록 근거 작성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86950" y="2197893"/>
            <a:ext cx="108334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담당자 확인 후 요청 제출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9862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9862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74820" y="3291720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4820" y="3482220"/>
            <a:ext cx="57376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문서 검색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4820" y="3674625"/>
            <a:ext cx="117443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개별 문서의 관련 정보 검색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6933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6933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5530" y="3291720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5530" y="3482220"/>
            <a:ext cx="96726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문서별 답변 요약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5530" y="3674625"/>
            <a:ext cx="10421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담당자 · 기준 후보 정리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4004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4004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16240" y="3291720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6240" y="3482220"/>
            <a:ext cx="8480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관계 추가 확인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6240" y="3674625"/>
            <a:ext cx="123884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업체 · 정책 · 조직 관계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1075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1075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86950" y="3291720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86950" y="3482220"/>
            <a:ext cx="96726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사람의 근거 종합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86950" y="3674625"/>
            <a:ext cx="117443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조건별 적용 기준 최종 확인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9862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9862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74820" y="483703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4820" y="5027533"/>
            <a:ext cx="120586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Enterprise Ontology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74820" y="5219938"/>
            <a:ext cx="132992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조직 · 정책 · 등록 기준 구조화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6933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06933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45530" y="483703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5530" y="5027533"/>
            <a:ext cx="8480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관계 기반 탐색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45530" y="5219938"/>
            <a:ext cx="141231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업체와 적용 기준·담당 조직 연결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94004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94004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16240" y="483703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16240" y="5027533"/>
            <a:ext cx="96726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조건별 근거 확인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16240" y="5219938"/>
            <a:ext cx="126563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관계 경로와 연결된 근거 확인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81075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81075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86950" y="483703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86950" y="5027533"/>
            <a:ext cx="96726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등록 근거 재사용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86950" y="5219938"/>
            <a:ext cx="105560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검증된 관계 정보 재활용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1258728"/>
            <a:ext cx="1371600" cy="4308276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258728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795" y="3001803"/>
            <a:ext cx="7606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9370" y="3253263"/>
            <a:ext cx="107953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오늘 업무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2117" y="3561873"/>
            <a:ext cx="93404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오늘의 Routine 업무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2505" y="3700462"/>
            <a:ext cx="45327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실행 요청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862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9862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820" y="1814988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4820" y="2005488"/>
            <a:ext cx="96726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업무 수작업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4820" y="2197893"/>
            <a:ext cx="115228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Wiki · SAP 상태 개별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6933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6933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5530" y="1814988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5530" y="2005488"/>
            <a:ext cx="120562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담당자 우선순위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5530" y="2197893"/>
            <a:ext cx="11200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마감 · 영향도 · 예외 검토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004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4004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16240" y="1814988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6240" y="2005488"/>
            <a:ext cx="8480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실행 방식 협의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6240" y="2197893"/>
            <a:ext cx="129337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자동화·담당자 처리 경로 조율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10750" y="1624488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10750" y="1624488"/>
            <a:ext cx="174879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86950" y="1814988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86950" y="2005488"/>
            <a:ext cx="85522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지시·결과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86950" y="2197893"/>
            <a:ext cx="120217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업무 전달 후 처리 상태 확인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9862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9862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74820" y="3291720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4820" y="3482220"/>
            <a:ext cx="8480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개별 요청 입력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4820" y="3674625"/>
            <a:ext cx="129337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사용자가 조회·분석 작업 지정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6933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6933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45530" y="3291720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5530" y="3482220"/>
            <a:ext cx="124801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작업별 답변·Tool 실행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5530" y="3674625"/>
            <a:ext cx="96440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요청 단위의 결과 반환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4004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4004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16240" y="3291720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6240" y="3482220"/>
            <a:ext cx="124158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사람의 실행 경로 조율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16240" y="3674625"/>
            <a:ext cx="119217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다음 작업·Tool·담당자 선택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101220"/>
            <a:ext cx="1748790" cy="882372"/>
          </a:xfrm>
          <a:prstGeom prst="roundRect">
            <a:avLst>
              <a:gd name="adj" fmla="val 2590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10750" y="3101220"/>
            <a:ext cx="174879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86950" y="3291720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52222"/>
                </a:solidFill>
                <a:latin typeface="72 Brand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86950" y="3482220"/>
            <a:ext cx="96726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사람의 후속 확인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86950" y="3674625"/>
            <a:ext cx="123015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결과 취합·실패 대응·재요청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9862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19862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74820" y="483703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74820" y="5027533"/>
            <a:ext cx="106322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업무·Context 수집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74820" y="5219938"/>
            <a:ext cx="11553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Wiki · KG · SAP 상태 연결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6933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06933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45530" y="483703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45530" y="5027533"/>
            <a:ext cx="109358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계획·우선순위 결정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45530" y="5219938"/>
            <a:ext cx="11200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마감 · 영향도 · 정책 반영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4004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4004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16240" y="483703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16240" y="5027533"/>
            <a:ext cx="8480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실행 경로 조율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16240" y="5219938"/>
            <a:ext cx="148732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승인 기준에 따라 Tool·Agent 연결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10750" y="4600813"/>
            <a:ext cx="1748790" cy="836652"/>
          </a:xfrm>
          <a:prstGeom prst="roundRect">
            <a:avLst>
              <a:gd name="adj" fmla="val 273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810750" y="4600813"/>
            <a:ext cx="174879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86950" y="4837033"/>
            <a:ext cx="15406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86950" y="5027533"/>
            <a:ext cx="85522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검증·예외 처리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86950" y="5219938"/>
            <a:ext cx="13711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결과 기록 · 필요 시 담당자 판단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1462920"/>
            <a:ext cx="1371600" cy="4312920"/>
          </a:xfrm>
          <a:prstGeom prst="rect">
            <a:avLst/>
          </a:prstGeom>
          <a:noFill/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462920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7842" y="3386970"/>
            <a:ext cx="76259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19" b="0" i="0">
                <a:solidFill>
                  <a:srgbClr val="0070F2"/>
                </a:solidFill>
                <a:latin typeface="72 Brand"/>
              </a:rPr>
              <a:t>COMMON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9370" y="3668910"/>
            <a:ext cx="107953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납품 문서 수신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3182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13182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66134" y="1981080"/>
            <a:ext cx="60126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System 유지비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8020" y="2214205"/>
            <a:ext cx="34885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OCR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8020" y="2406610"/>
            <a:ext cx="66329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납품 문서 인식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170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170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1625" y="1981080"/>
            <a:ext cx="47565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070F2"/>
                </a:solidFill>
                <a:latin typeface="72 Brand"/>
              </a:rPr>
              <a:t>Token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7900" y="2214205"/>
            <a:ext cx="109085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AI Agent Interface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7900" y="2406610"/>
            <a:ext cx="66329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업무 정보 연결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158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3158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07780" y="2214205"/>
            <a:ext cx="57376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7780" y="2406610"/>
            <a:ext cx="66329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318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318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49553" y="3459360"/>
            <a:ext cx="3929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형식 차이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8020" y="3692485"/>
            <a:ext cx="62317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OCR 실패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8020" y="3884890"/>
            <a:ext cx="8733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인식 불가 형식 감지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5676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5676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76267" y="3459360"/>
            <a:ext cx="49113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IT 인력 필요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2960" y="3692485"/>
            <a:ext cx="96083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IT 추가개발 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2960" y="3884890"/>
            <a:ext cx="113335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개발 요청 · 우선순위 조율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170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8170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99433" y="3459360"/>
            <a:ext cx="3929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개발 대기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7900" y="3692485"/>
            <a:ext cx="53768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추가개발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57900" y="3884890"/>
            <a:ext cx="114716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신규 형식 대응 Logic 구현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0664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0664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4373" y="3459360"/>
            <a:ext cx="3929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운영 지연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82840" y="3692485"/>
            <a:ext cx="2993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배포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82840" y="3884890"/>
            <a:ext cx="8733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변경 사항 운영 반영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3158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83158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49313" y="3459360"/>
            <a:ext cx="3929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기준 보완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07780" y="3692485"/>
            <a:ext cx="53768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기준수정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07780" y="3884890"/>
            <a:ext cx="66329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처리 기준 반영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2565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2565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274742" y="3459360"/>
            <a:ext cx="29241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재작업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3692485"/>
            <a:ext cx="57376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720" y="3884890"/>
            <a:ext cx="66329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1820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31820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34470" y="4937640"/>
            <a:ext cx="3929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형식 차이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8020" y="5170765"/>
            <a:ext cx="34885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OCR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8020" y="5363170"/>
            <a:ext cx="8733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인식 불가 형식 감지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841676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41676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44445" y="4937640"/>
            <a:ext cx="3929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자동 보완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7876" y="5170765"/>
            <a:ext cx="73068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App Builder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17876" y="5363170"/>
            <a:ext cx="45327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코드 수정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51652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551652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53694" y="4937640"/>
            <a:ext cx="49351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배포 전 검증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27852" y="5170765"/>
            <a:ext cx="9659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Sandbox 테스트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27852" y="5363170"/>
            <a:ext cx="116109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변경 코드 · 처리 결과 확인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261508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61508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464278" y="4937640"/>
            <a:ext cx="3929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자동 배포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37708" y="5170765"/>
            <a:ext cx="2993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배포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37708" y="5363170"/>
            <a:ext cx="66329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처리 흐름 적용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71484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71484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096982" y="4937640"/>
            <a:ext cx="47005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A93D00"/>
                </a:solidFill>
                <a:latin typeface="72 Brand"/>
              </a:rPr>
              <a:t>자동 재처리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47684" y="5170765"/>
            <a:ext cx="57376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47684" y="5363170"/>
            <a:ext cx="66329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card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