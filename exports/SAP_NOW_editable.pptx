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01 — Autonomous Enterprise SAP BTP Agent Demo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02 — Presentation Agenda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03 — Autonomous Enterprise &amp; Governance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04 — AI-First → AI-Native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05 — Four Core Capabilities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06 — Agent Workflow &amp; Governance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07 — Business Context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08 — App &amp; AI Development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09 — Agentic Execution — Integrated Operating Model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— Agentic Execution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 — Joule — SAP Data 접근과 업무 실행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 — HANA Knowledge Graph — Business Context 연결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— Harness — 업무 판단과 실행 조율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14 — App Builder — App 변경과 배포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— LLM Wiki — 팀 지식 축적과 요청 맥락 재활용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16 — Harness Deep Agent — 복합 분석과 계획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17 — Harness A2A — Cross-Team 협업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18 — SAP BTP Architecture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 — SAP BTP — Standard Architecture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— SAP BTP — Kyma App-in-App Architecture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21 — SAP BTP — Platform Value &amp; TCO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22 — SAP BTP — Operations &amp; OPEX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23 — Demo &amp; Business Value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24 — Demo — Business Context &amp; Challenges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— Shared AI Foundation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26 — Demo — Cross-Team Operating Model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27 — Demo — Autonomous SCM Scenarios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28 — Demo 01 — Inbound Process Adaptation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29 — Demo 02 — SCM Exception Handling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— Demo 03 — Demand-to-Supply Orchestration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31 — Demo — Business Value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98420"/>
            <a:ext cx="4468058" cy="662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81" sz="324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Autonomous Enterprise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314700"/>
            <a:ext cx="2563058" cy="411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92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BTP Agent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05300"/>
            <a:ext cx="1145024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2026. 09. 29.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2948701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Presentation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89258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8260" y="1548288"/>
            <a:ext cx="4166235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5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Autonomous Enterprise &amp;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18260" y="1875948"/>
            <a:ext cx="220122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AI-Native · Business Context ·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481738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8260" y="2340768"/>
            <a:ext cx="2012870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5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8260" y="2668428"/>
            <a:ext cx="238053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Integrated Operating Model · Agent 역할 · A2A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274218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8260" y="3133248"/>
            <a:ext cx="2424112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5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BTP 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8260" y="3460908"/>
            <a:ext cx="264842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Logical Architecture · Implementation · Operations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066698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8260" y="3925728"/>
            <a:ext cx="2651640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5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Demo &amp; Business 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18260" y="4253388"/>
            <a:ext cx="283309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Business Challenges · SCM Demo · Business Outcomes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242060"/>
            <a:ext cx="5838467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Autonomous Enterprise &amp;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468880"/>
            <a:ext cx="5455324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AI-Native 기업의 핵심 역량과 Business Context · 통제된 Execution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95250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18940" y="960120"/>
            <a:ext cx="3073955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35636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18940" y="1363980"/>
            <a:ext cx="1402913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0" y="176022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18940" y="1767840"/>
            <a:ext cx="1681519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BTP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216408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8940" y="2171700"/>
            <a:ext cx="1835586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Demo &amp; Business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2739032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AI-First → AI-Native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1600914"/>
            <a:ext cx="77676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7858FF"/>
                </a:solidFill>
                <a:latin typeface="Noto Sans CJK KR"/>
                <a:ea typeface="Noto Sans CJK KR"/>
                <a:cs typeface="Noto Sans CJK KR"/>
              </a:rPr>
              <a:t>01 · Software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12280" y="1844754"/>
            <a:ext cx="2001321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73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Software that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12280" y="2180034"/>
            <a:ext cx="3120270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사람의 목표 설정 · Agent의 허용된 작업 실행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12280" y="2800230"/>
            <a:ext cx="86760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7858FF"/>
                </a:solidFill>
                <a:latin typeface="Noto Sans CJK KR"/>
                <a:ea typeface="Noto Sans CJK KR"/>
                <a:cs typeface="Noto Sans CJK KR"/>
              </a:rPr>
              <a:t>02 · Landscape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3044070"/>
            <a:ext cx="2210633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73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Landscape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80" y="3379350"/>
            <a:ext cx="2675096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System · 조직 · Process 간 업무 연결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3999547"/>
            <a:ext cx="71497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7858FF"/>
                </a:solidFill>
                <a:latin typeface="Noto Sans CJK KR"/>
                <a:ea typeface="Noto Sans CJK KR"/>
                <a:cs typeface="Noto Sans CJK KR"/>
              </a:rPr>
              <a:t>03 ·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4243387"/>
            <a:ext cx="1927383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73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System of 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4578667"/>
            <a:ext cx="2163960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Data · 의미 · 관계 · 정책 연결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15188"/>
            <a:ext cx="2693670" cy="194310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15188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333750" y="3415188"/>
            <a:ext cx="2693670" cy="194310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333750" y="3415188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164580" y="3415188"/>
            <a:ext cx="2693670" cy="194310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164580" y="3415188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95410" y="3415188"/>
            <a:ext cx="2693670" cy="194310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95410" y="3415188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57200"/>
            <a:ext cx="3114198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Four Core Capabilities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33203" y="1733430"/>
            <a:ext cx="121312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Agent Interoperability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33203" y="2007750"/>
            <a:ext cx="2897147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 연결과 Workflow 통제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33203" y="2381130"/>
            <a:ext cx="2202537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권한·정책·승인 기반 실행 조율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" y="3727608"/>
            <a:ext cx="2203013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 Workflow &amp; Governance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" y="3994308"/>
            <a:ext cx="223920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Agent · Tool 연결과 Workflow 설계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3770" y="3727608"/>
            <a:ext cx="1307901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Business Context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3770" y="3994308"/>
            <a:ext cx="176462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Data · 지식 · 관계 기반 판단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24600" y="3727608"/>
            <a:ext cx="1655325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App &amp; AI Development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4600" y="3994308"/>
            <a:ext cx="190595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새로운 App · 기능 개발 및 변경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5430" y="3727608"/>
            <a:ext cx="1341953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55430" y="3994308"/>
            <a:ext cx="246054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계획된 업무 수행 · 결과 검증 · 예외 처리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180" y="5650825"/>
            <a:ext cx="1673304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Cross-Cutting Governance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20064" y="5617368"/>
            <a:ext cx="436911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Context 접근 · App 변경 · 업무 실행 전체에 권한·정책·승인·추적을 적용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4252912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Agent Workflow &amp;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80120" y="2022871"/>
            <a:ext cx="3035379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 Workflow &amp;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80120" y="2647711"/>
            <a:ext cx="2128956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End-to-End Orchestration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80120" y="2982991"/>
            <a:ext cx="1962030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Joule Agent 연결 · 실행 조율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80120" y="3543061"/>
            <a:ext cx="2159198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Embedded AI + Custom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80120" y="3878341"/>
            <a:ext cx="2932033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Embedded AI · Custom AI (AI Foundation)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80120" y="4438411"/>
            <a:ext cx="1904047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Security &amp; Compliance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80120" y="4773691"/>
            <a:ext cx="3078003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공통 보안·규정 준수 기반 Agent Workflow 운영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2437566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Business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68132" y="2022157"/>
            <a:ext cx="87379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7858FF"/>
                </a:solidFill>
                <a:latin typeface="Noto Sans CJK KR"/>
                <a:ea typeface="Noto Sans CJK KR"/>
                <a:cs typeface="Noto Sans CJK KR"/>
              </a:rPr>
              <a:t>Apps · Data ·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68132" y="2311717"/>
            <a:ext cx="3398400" cy="3505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1" sz="203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실행 결과를 다음 판단의 근거로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77206" y="2830472"/>
            <a:ext cx="1082635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Understand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36680" y="2830472"/>
            <a:ext cx="794504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Retrieve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77206" y="3226712"/>
            <a:ext cx="719494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Reason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6680" y="3226712"/>
            <a:ext cx="488275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77206" y="3622952"/>
            <a:ext cx="756642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Execute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36680" y="3622952"/>
            <a:ext cx="780216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Validate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68132" y="4072532"/>
            <a:ext cx="2629852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위험·낮은 확신·정책 예외 → 담당자 판단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34600" y="1645324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34600" y="1645324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34600" y="2742128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34600" y="2742128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34600" y="3838932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34600" y="3838932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34600" y="4935735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34600" y="4935735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69265" y="624840"/>
            <a:ext cx="45029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DRAFT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57200"/>
            <a:ext cx="3189446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App &amp; AI Development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022508"/>
            <a:ext cx="4733567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요구를 새로운 App과 기능으로 구현 · 검증 후 업무에 적용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802868"/>
            <a:ext cx="3375540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App Builder · 업무 요구를 실행 가능한 기능으로 확장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79380" y="1805344"/>
            <a:ext cx="65055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 · 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9380" y="2026324"/>
            <a:ext cx="118681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변경 요구 정의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79380" y="2291119"/>
            <a:ext cx="1789866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필요한 기능과 변경 범위 정의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9380" y="2902148"/>
            <a:ext cx="106120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 · Build &amp; Extend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9380" y="3123128"/>
            <a:ext cx="178403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App · Skill · Workflow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79380" y="3387923"/>
            <a:ext cx="190345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AI 기반 App · 기능 개발과 변경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9380" y="3998952"/>
            <a:ext cx="127873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 · Validate &amp; Approve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9380" y="4219932"/>
            <a:ext cx="97690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검증과 승인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9380" y="4484727"/>
            <a:ext cx="231445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분리된 환경에서 기능 검증 · 변경 승인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79380" y="5095755"/>
            <a:ext cx="111037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 · Deploy &amp; Reuse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79380" y="5316735"/>
            <a:ext cx="113811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배포와 재사용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79380" y="5581530"/>
            <a:ext cx="231552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검증된 App 배포 · 업무 적용과 재사용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34600" y="1650920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34600" y="1650920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34600" y="2747724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34600" y="2747724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34600" y="3844528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34600" y="3844528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34600" y="4941331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34600" y="4941331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57200"/>
            <a:ext cx="6689169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Agentic Execution — Integrated Operating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022508"/>
            <a:ext cx="3642479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SAP 업무 연결 · 판단과 조율 · 기능 확장의 통합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79380" y="1810940"/>
            <a:ext cx="120134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 · Business Request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9380" y="2031920"/>
            <a:ext cx="81557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업무 요청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79380" y="2296715"/>
            <a:ext cx="13729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목표와 기대 결과 전달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9380" y="2907744"/>
            <a:ext cx="140600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 · Reason &amp; Orchestrate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79380" y="3128724"/>
            <a:ext cx="77462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Harness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9380" y="3393519"/>
            <a:ext cx="242054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Business Context 기반 판단·실행 조율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9380" y="4004548"/>
            <a:ext cx="150340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 · SAP Access &amp; Execution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79380" y="4225528"/>
            <a:ext cx="114669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Joule + Tools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9380" y="4490323"/>
            <a:ext cx="210442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SAP Data 조회 · 허용된 업무 수행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9380" y="5101351"/>
            <a:ext cx="121134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 · Validate &amp; Record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9380" y="5322331"/>
            <a:ext cx="97690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검증과 기록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79380" y="5587126"/>
            <a:ext cx="168366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결과 검증·기록 · 예외 전달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226820"/>
            <a:ext cx="3738919" cy="723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90" sz="36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Agentic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468880"/>
            <a:ext cx="4560093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통합 운영 모델과 Human + Agent 역할 분담 · 판단·실행·협업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95250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18940" y="960120"/>
            <a:ext cx="2861667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35636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18940" y="1363980"/>
            <a:ext cx="1517927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0" y="176022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18940" y="1767840"/>
            <a:ext cx="1681519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BTP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216408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8940" y="2171700"/>
            <a:ext cx="1835586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Demo &amp; Business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258728"/>
            <a:ext cx="1295400" cy="4038600"/>
          </a:xfrm>
          <a:prstGeom prst="rect">
            <a:avLst/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258728"/>
            <a:ext cx="12954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076699" y="1693068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76699" y="16930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77890" y="1693068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77890" y="16930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79080" y="1693068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79080" y="16930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780270" y="1693068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80270" y="16930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107179" y="3773328"/>
            <a:ext cx="179451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07179" y="3773328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93130" y="3773328"/>
            <a:ext cx="179451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93130" y="3773328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879080" y="3773328"/>
            <a:ext cx="179451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79080" y="3773328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765030" y="3773328"/>
            <a:ext cx="179451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765030" y="3773328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57200"/>
            <a:ext cx="4675941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Joule — SAP Data 접근과 업무 실행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2354" y="2908815"/>
            <a:ext cx="93833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Business Trigger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6886" y="3183135"/>
            <a:ext cx="809386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조회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876" y="3491745"/>
            <a:ext cx="96940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Data · 실행 요청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16003" y="3064668"/>
            <a:ext cx="126563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SAP Business Question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22539" y="3308508"/>
            <a:ext cx="145268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“Pump Lead Time은?”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37660" y="1426368"/>
            <a:ext cx="86058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A64B00"/>
                </a:solidFill>
                <a:latin typeface="Liberation Sans"/>
                <a:ea typeface="Noto Sans CJK KR"/>
                <a:cs typeface="Liberation Sans"/>
              </a:rPr>
              <a:t>Without Joule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37660" y="217562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37660" y="2396609"/>
            <a:ext cx="102227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화면 이동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37660" y="2600444"/>
            <a:ext cx="12719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 Data를 각각 조회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8850" y="217562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8850" y="2396609"/>
            <a:ext cx="117419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수작업 Data 확인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8850" y="2600444"/>
            <a:ext cx="142529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입고 · 재고 · 계획을 확인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40040" y="217562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40040" y="2396609"/>
            <a:ext cx="82819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수작업 반영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40040" y="2600444"/>
            <a:ext cx="134600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확정된 내용을 직접 처리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41230" y="217562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41230" y="2396609"/>
            <a:ext cx="82819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결과 재공유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41230" y="2600444"/>
            <a:ext cx="12338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처리 결과를 다시 전달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68140" y="3506628"/>
            <a:ext cx="691157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With Joule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83380" y="425588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83380" y="4476869"/>
            <a:ext cx="106168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Data 조회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83380" y="4680704"/>
            <a:ext cx="134600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필요한 현재 정보를 연결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69330" y="425588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69330" y="4476869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분석 근거 전달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69330" y="4680704"/>
            <a:ext cx="150828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Harness 판단에 Data 제공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55279" y="425588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55279" y="4476869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업무 실행 연결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55279" y="4680704"/>
            <a:ext cx="145780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확정된 판단을 SAP로 전달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41230" y="425588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41230" y="4476869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처리 결과 반환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41230" y="4680704"/>
            <a:ext cx="12338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흐름에 즉시 반영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6077902"/>
            <a:ext cx="1312425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50" sz="84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Joule Key Capabilities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24100" y="5983605"/>
            <a:ext cx="157031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0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Real-Time SAP Data Access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24100" y="6126480"/>
            <a:ext cx="249602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현재 Data와 업무 상태를 필요한 맥락으로 제공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078980" y="5983605"/>
            <a:ext cx="150495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0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SAP Transaction Execution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78980" y="6126480"/>
            <a:ext cx="245756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확정된 판단을 SAP 처리와 결과 반환으로 연결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922085" y="6614160"/>
            <a:ext cx="208954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258728"/>
            <a:ext cx="1295400" cy="4640818"/>
          </a:xfrm>
          <a:prstGeom prst="rect">
            <a:avLst/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258728"/>
            <a:ext cx="12954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076699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76699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77890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77890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79080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79080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780270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80270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076699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76699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77890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77890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879080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79080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780270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780270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107179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07179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93130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93130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879080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879080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65030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65030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57200"/>
            <a:ext cx="6770012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HANA Knowledge Graph — Business Context 연결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354" y="3209925"/>
            <a:ext cx="93833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Business Trigger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8792" y="3484245"/>
            <a:ext cx="785455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전사 질문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702" y="3792854"/>
            <a:ext cx="108763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신규 협력업체 등록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8875" y="3365777"/>
            <a:ext cx="103989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Business Question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12168" y="3609617"/>
            <a:ext cx="167342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“업체 등록 기준·담당자는?”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37660" y="1403508"/>
            <a:ext cx="88106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A64B00"/>
                </a:solidFill>
                <a:latin typeface="Liberation Sans"/>
                <a:ea typeface="Noto Sans CJK KR"/>
                <a:cs typeface="Liberation Sans"/>
              </a:rPr>
              <a:t>Without Agent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3766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37660" y="2081688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자료 개별 조회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37660" y="2285523"/>
            <a:ext cx="145970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IT·품질·Compliance 조회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885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38850" y="2081688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담당 조직 문의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8850" y="2285523"/>
            <a:ext cx="12338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부서별 등록 기준 확인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4004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40040" y="2081688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관계 수작업 정리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40040" y="2285523"/>
            <a:ext cx="147637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업체 · 기준 · System 연결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4123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41230" y="2081688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등록 근거 작성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41230" y="2285523"/>
            <a:ext cx="138017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담당자 확인 후 요청 제출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37660" y="2991088"/>
            <a:ext cx="187059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A52222"/>
                </a:solidFill>
                <a:latin typeface="Liberation Sans"/>
                <a:ea typeface="Noto Sans CJK KR"/>
                <a:cs typeface="Liberation Sans"/>
              </a:rPr>
              <a:t>Agent without Knowledge Graph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3766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37660" y="3669268"/>
            <a:ext cx="6949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문서 검색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37660" y="3873103"/>
            <a:ext cx="149232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개별 문서의 관련 정보 검색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3885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38850" y="3669268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문서별 답변 요약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38850" y="3873103"/>
            <a:ext cx="132957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담당자 · 기준 후보 정리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4004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940040" y="3669268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관계 추가 확인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40040" y="3873103"/>
            <a:ext cx="157162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업체 · 정책 · 조직 관계 검증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4123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41230" y="3669268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사람의 근거 종합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41230" y="3873103"/>
            <a:ext cx="149232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조건별 적용 기준 최종 확인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68140" y="4601527"/>
            <a:ext cx="170116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Agent with Knowledge Graph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183380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83380" y="5325427"/>
            <a:ext cx="14014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Enterprise Ontology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83380" y="5529262"/>
            <a:ext cx="168378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조직 · 정책 · 등록 기준 구조화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69330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69330" y="5325427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관계 기반 탐색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69330" y="5529262"/>
            <a:ext cx="144875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업체·기준·담당 조직 연결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955279" y="5325427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조건별 근거 확인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955279" y="5529262"/>
            <a:ext cx="160448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관계 경로와 연결된 근거 확인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841230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41230" y="5325427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등록 근거 재사용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841230" y="5529262"/>
            <a:ext cx="134600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검증된 관계 정보 재활용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920" y="6077902"/>
            <a:ext cx="1544478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50" sz="84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HANA KG Key Capabilities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24100" y="5983605"/>
            <a:ext cx="113216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0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Enterprise Ontology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24100" y="6126480"/>
            <a:ext cx="22787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조직 · 정책 · 기준을 관계 중심으로 구조화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078980" y="5983605"/>
            <a:ext cx="1646634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0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Relationship-Based Discovery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078980" y="6126480"/>
            <a:ext cx="219015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담당자 · System · 등록 근거를 함께 확인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258728"/>
            <a:ext cx="1295400" cy="4640818"/>
          </a:xfrm>
          <a:prstGeom prst="rect">
            <a:avLst/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258728"/>
            <a:ext cx="12954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076699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76699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77890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77890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79080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79080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780270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80270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076699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76699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77890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77890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879080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79080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780270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780270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107179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07179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93130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93130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879080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879080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65030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65030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57200"/>
            <a:ext cx="4329707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Harness — 업무 판단과 실행 조율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354" y="3209925"/>
            <a:ext cx="93833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Business Trigger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1270" y="3484245"/>
            <a:ext cx="1140499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오늘 업무 실행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9369" y="3792854"/>
            <a:ext cx="108430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Routine 업무 요청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7327" y="3365777"/>
            <a:ext cx="104310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Execution Request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70152" y="3609617"/>
            <a:ext cx="155757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“오늘 Routine 업무 실행”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37660" y="1403508"/>
            <a:ext cx="88106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A64B00"/>
                </a:solidFill>
                <a:latin typeface="Liberation Sans"/>
                <a:ea typeface="Noto Sans CJK KR"/>
                <a:cs typeface="Liberation Sans"/>
              </a:rPr>
              <a:t>Without Agent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3766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37660" y="2081688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업무 수작업 수집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37660" y="2285523"/>
            <a:ext cx="146506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Wiki · SAP 상태 개별 확인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885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38850" y="2081688"/>
            <a:ext cx="1401246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담당자 우선순위 판단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8850" y="2285523"/>
            <a:ext cx="142529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마감 · 영향도 · 예외 검토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4004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40040" y="2081688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실행 방식 협의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40040" y="2285523"/>
            <a:ext cx="163877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자동화·담당자 처리 경로 조율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4123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41230" y="2081688"/>
            <a:ext cx="100965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지시·결과 확인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41230" y="2285523"/>
            <a:ext cx="152650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전달 후 처리 상태 확인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37660" y="2991088"/>
            <a:ext cx="134862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A52222"/>
                </a:solidFill>
                <a:latin typeface="Liberation Sans"/>
                <a:ea typeface="Noto Sans CJK KR"/>
                <a:cs typeface="Liberation Sans"/>
              </a:rPr>
              <a:t>Agent without Harness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3766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37660" y="3669268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개별 요청 입력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37660" y="3873103"/>
            <a:ext cx="163877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사용자가 조회·분석 작업 지정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3885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38850" y="3669268"/>
            <a:ext cx="1448633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작업별 답변·Tool 실행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38850" y="3873103"/>
            <a:ext cx="12338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요청 단위의 결과 반환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4004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940040" y="3669268"/>
            <a:ext cx="144148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사람의 실행 경로 조율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40040" y="3873103"/>
            <a:ext cx="151423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다음 작업·Tool·담당자 선택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4123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41230" y="3669268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사람의 후속 확인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41230" y="3873103"/>
            <a:ext cx="156090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결과 취합·실패 대응·재요청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68140" y="4601527"/>
            <a:ext cx="117907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Agent with Harness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183380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83380" y="5325427"/>
            <a:ext cx="124217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업무·Context 수집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83380" y="5529262"/>
            <a:ext cx="146899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Wiki · KG · SAP 상태 연결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69330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69330" y="5325427"/>
            <a:ext cx="127599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계획·우선순위 결정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69330" y="5529262"/>
            <a:ext cx="142529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마감 · 영향도 · 정책 반영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955279" y="5325427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실행 경로 조율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955279" y="5529262"/>
            <a:ext cx="136040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승인된 Tool·Agent 연결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841230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41230" y="5325427"/>
            <a:ext cx="100965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검증·예외 처리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841230" y="5529262"/>
            <a:ext cx="173438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결과 기록 · 필요 시 담당자 판단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920" y="6077902"/>
            <a:ext cx="1467445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50" sz="84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Harness Key Capabilities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24100" y="5983605"/>
            <a:ext cx="140541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0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Evidence-Based Analysis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24100" y="6126480"/>
            <a:ext cx="246864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Wiki · KG · SAP 정보를 연결해 가능 여부 판단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078980" y="5983605"/>
            <a:ext cx="134171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0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Execution Orchestration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078980" y="6126480"/>
            <a:ext cx="234576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보완 범위와 업무 지시를 실행 흐름으로 연결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462920"/>
            <a:ext cx="1371600" cy="4312920"/>
          </a:xfrm>
          <a:prstGeom prst="rect">
            <a:avLst/>
          </a:prstGeom>
          <a:noFill/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462920"/>
            <a:ext cx="13716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131820" y="1904880"/>
            <a:ext cx="2727960" cy="784860"/>
          </a:xfrm>
          <a:prstGeom prst="roundRect">
            <a:avLst>
              <a:gd name="adj" fmla="val 29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31820" y="1904880"/>
            <a:ext cx="272796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81700" y="1904880"/>
            <a:ext cx="2727960" cy="784860"/>
          </a:xfrm>
          <a:prstGeom prst="roundRect">
            <a:avLst>
              <a:gd name="adj" fmla="val 29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81700" y="1904880"/>
            <a:ext cx="272796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831580" y="1904880"/>
            <a:ext cx="2727960" cy="784860"/>
          </a:xfrm>
          <a:prstGeom prst="roundRect">
            <a:avLst>
              <a:gd name="adj" fmla="val 29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31580" y="1904880"/>
            <a:ext cx="272796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13182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13182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5676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5676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8170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8170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40664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3158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3158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25652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25652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131820" y="4861440"/>
            <a:ext cx="1587936" cy="784860"/>
          </a:xfrm>
          <a:prstGeom prst="roundRect">
            <a:avLst>
              <a:gd name="adj" fmla="val 2912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131820" y="4861440"/>
            <a:ext cx="1587936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841676" y="4861440"/>
            <a:ext cx="1588055" cy="784860"/>
          </a:xfrm>
          <a:prstGeom prst="roundRect">
            <a:avLst>
              <a:gd name="adj" fmla="val 2912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41676" y="4861440"/>
            <a:ext cx="1588055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51652" y="4861440"/>
            <a:ext cx="1587936" cy="784860"/>
          </a:xfrm>
          <a:prstGeom prst="roundRect">
            <a:avLst>
              <a:gd name="adj" fmla="val 2912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51652" y="4861440"/>
            <a:ext cx="1587936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61508" y="4861440"/>
            <a:ext cx="1588055" cy="784860"/>
          </a:xfrm>
          <a:prstGeom prst="roundRect">
            <a:avLst>
              <a:gd name="adj" fmla="val 2912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61508" y="4861440"/>
            <a:ext cx="1588055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971484" y="4861440"/>
            <a:ext cx="1587936" cy="784860"/>
          </a:xfrm>
          <a:prstGeom prst="roundRect">
            <a:avLst>
              <a:gd name="adj" fmla="val 2912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971484" y="4861440"/>
            <a:ext cx="1587936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661392"/>
            <a:ext cx="4199334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App Builder — App 변경과 배포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9383" y="3375540"/>
            <a:ext cx="94047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COMMON START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9370" y="3680340"/>
            <a:ext cx="1140499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납품 문서 수신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35755" y="2293500"/>
            <a:ext cx="71901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Image 문서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57400" y="4510920"/>
            <a:ext cx="1075729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A64B00"/>
                </a:solidFill>
                <a:latin typeface="Liberation Sans"/>
                <a:ea typeface="Noto Sans CJK KR"/>
                <a:cs typeface="Liberation Sans"/>
              </a:rPr>
              <a:t>CSV · 다양한 형식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92780" y="1641990"/>
            <a:ext cx="422433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DAILY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45693" y="1592460"/>
            <a:ext cx="1315521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일상 업무 Process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18854" y="1981080"/>
            <a:ext cx="80950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System 유지비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8020" y="2189321"/>
            <a:ext cx="44374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OCR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8020" y="239315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납품 문서 인식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28515" y="1981080"/>
            <a:ext cx="64972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Token 비용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57900" y="2189321"/>
            <a:ext cx="127289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AI Agent Interface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57900" y="239315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정보 연결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07780" y="2189321"/>
            <a:ext cx="6949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입고 반영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07780" y="239315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운영 계획 반영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92780" y="3120270"/>
            <a:ext cx="1385054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ISSUE without App Builder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08314" y="3070740"/>
            <a:ext cx="1638657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신규 업체 추가 Process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58947" y="345936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형식 차이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08020" y="3667601"/>
            <a:ext cx="75033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OCR 실패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08020" y="3871436"/>
            <a:ext cx="112168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인식 불가 형식 감지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58871" y="3459360"/>
            <a:ext cx="66948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IT 인력 필요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32960" y="3667601"/>
            <a:ext cx="112764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IT 추가개발 요청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632960" y="3871436"/>
            <a:ext cx="115597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개발 요청·순위 조율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08827" y="345936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개발 대기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57900" y="3667601"/>
            <a:ext cx="65472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추가개발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057900" y="3871436"/>
            <a:ext cx="120038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신규 형식 Logic 구현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33767" y="345936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운영 지연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482840" y="3667601"/>
            <a:ext cx="38838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배포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82840" y="3871436"/>
            <a:ext cx="112168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변경 사항 운영 반영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58707" y="345936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기준 보완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907780" y="3667601"/>
            <a:ext cx="65472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기준수정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907780" y="387143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처리 기준 반영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211758" y="3459360"/>
            <a:ext cx="41636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재작업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32720" y="3667601"/>
            <a:ext cx="6949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입고 반영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332720" y="387143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운영 계획 반영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192780" y="4598550"/>
            <a:ext cx="1236702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ISSUE with App Builder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59962" y="4549020"/>
            <a:ext cx="1638657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신규 업체 추가 Process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43863" y="493764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형식 차이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08020" y="5145881"/>
            <a:ext cx="44374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OCR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208020" y="5349716"/>
            <a:ext cx="112168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인식 불가 형식 감지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53839" y="493764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자동 보완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917876" y="5145881"/>
            <a:ext cx="87046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App Builder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917876" y="5349716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코드 수정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535703" y="4937640"/>
            <a:ext cx="67246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배포 전 검증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627852" y="5145881"/>
            <a:ext cx="113335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Sandbox 테스트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627852" y="5349716"/>
            <a:ext cx="147589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변경 코드 · 처리 결과 확인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373671" y="493764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자동 배포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337708" y="5145881"/>
            <a:ext cx="38838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배포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337708" y="534971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처리 흐름 적용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85420" y="4937640"/>
            <a:ext cx="64258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자동 재처리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047684" y="5145881"/>
            <a:ext cx="6949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입고 반영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047684" y="534971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운영 계획 반영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02920" y="6077902"/>
            <a:ext cx="1604724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50" sz="84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APP BUILDER CAPABILITY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324100" y="5983605"/>
            <a:ext cx="816411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0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변경 자동 보완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324100" y="6126480"/>
            <a:ext cx="178177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AI Coding으로 처리 기준을 보완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078980" y="5983605"/>
            <a:ext cx="99143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0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배포 · 재처리 연결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078980" y="6126480"/>
            <a:ext cx="189809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신규 App 배포 후 업무 흐름에 반영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258728"/>
            <a:ext cx="1295400" cy="4038600"/>
          </a:xfrm>
          <a:prstGeom prst="rect">
            <a:avLst/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258728"/>
            <a:ext cx="12954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076699" y="1738788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76699" y="173878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77890" y="1738788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77890" y="173878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79080" y="1738788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79080" y="173878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780270" y="1738788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80270" y="173878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107179" y="3819048"/>
            <a:ext cx="179451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07179" y="3819048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93130" y="3819048"/>
            <a:ext cx="179451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93130" y="3819048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879080" y="3819048"/>
            <a:ext cx="179451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79080" y="3819048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765030" y="3819048"/>
            <a:ext cx="179451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765030" y="3819048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57200"/>
            <a:ext cx="5684281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LLM Wiki — 팀 지식 축적과 요청 맥락 재활용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1283" y="2823567"/>
            <a:ext cx="94047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COMMON START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792" y="3097887"/>
            <a:ext cx="785455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자료 요청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2115" y="3406497"/>
            <a:ext cx="95892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요청 ·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161" y="357711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 자료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22113" y="2858928"/>
            <a:ext cx="65353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QUESTION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59091" y="3102768"/>
            <a:ext cx="137957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“신용 리스크가 높아진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0851" y="3308508"/>
            <a:ext cx="179617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거래처의 주문 보류·한도 조정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19017" y="3514248"/>
            <a:ext cx="65972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SOP는?”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37660" y="1472088"/>
            <a:ext cx="91535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A64B00"/>
                </a:solidFill>
                <a:latin typeface="Liberation Sans"/>
                <a:ea typeface="Noto Sans CJK KR"/>
                <a:cs typeface="Liberation Sans"/>
              </a:rPr>
              <a:t>LLM WIKI 없음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37660" y="222134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37660" y="2442329"/>
            <a:ext cx="86844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개인 노트 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37660" y="2646164"/>
            <a:ext cx="134600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사람마다 별도 자료 관리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38850" y="222134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8850" y="2442329"/>
            <a:ext cx="96142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데이터 파편화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8850" y="2646164"/>
            <a:ext cx="149983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KPI · SOP · 미팅 이력 분산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40040" y="222134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40040" y="2442329"/>
            <a:ext cx="6949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자료 탐색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40040" y="2646164"/>
            <a:ext cx="12338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 자료를 다시 찾음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41230" y="222134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41230" y="2442329"/>
            <a:ext cx="82819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요청 재정리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41230" y="2646164"/>
            <a:ext cx="12338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요청 맥락을 다시 취합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68140" y="3552348"/>
            <a:ext cx="91535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LLM WIKI 존재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83380" y="430160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83380" y="4522589"/>
            <a:ext cx="107953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Request Ticket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83380" y="4726424"/>
            <a:ext cx="138017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요청을 한 곳에 등록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69330" y="430160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69330" y="4522589"/>
            <a:ext cx="86844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팀 지식 연결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69330" y="4726424"/>
            <a:ext cx="133707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KPI · SOP · 미팅 · 이슈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55279" y="430160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4522589"/>
            <a:ext cx="100965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요청·답변 기록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55279" y="4726424"/>
            <a:ext cx="160448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검토 결과와 근거를 함께 저장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41230" y="430160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41230" y="4522589"/>
            <a:ext cx="101322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재활용·AI 접근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41230" y="4726424"/>
            <a:ext cx="145827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다음 요청의 맥락으로 활용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" y="6077902"/>
            <a:ext cx="1350168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50" sz="84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LLM WIKI CAPABILITY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24100" y="5983605"/>
            <a:ext cx="711279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0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팀 지식 축적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24100" y="6126480"/>
            <a:ext cx="211240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KPI · SOP · 미팅 · 이슈를 한 곳에 기록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78980" y="5983605"/>
            <a:ext cx="92154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0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요청 맥락 재활용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78980" y="6126480"/>
            <a:ext cx="235279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Ticket과 답변 이력을 AI가 다음 업무에 활용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5352097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Harness Deep Agent — 복합 분석과 계획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5579" y="3258978"/>
            <a:ext cx="90916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RISK REQUEST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7018" y="3495198"/>
            <a:ext cx="746283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고객 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1884" y="3775233"/>
            <a:ext cx="97643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매출채권 Risk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76500" y="1502568"/>
            <a:ext cx="92785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Risk 질문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90800" y="1982628"/>
            <a:ext cx="86260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RA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90800" y="2195988"/>
            <a:ext cx="141303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언제 부실 위험이 되는가?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90800" y="2375773"/>
            <a:ext cx="139041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고객 신용 · 채권 · 거래 조건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66060" y="2761297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질문 분해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6060" y="2973109"/>
            <a:ext cx="106727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신용 · 연체 · 조건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66060" y="324695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분석 범위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66060" y="3435905"/>
            <a:ext cx="113442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고객 · 매출채권 · 계약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66060" y="3694152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확인 과제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66060" y="3905964"/>
            <a:ext cx="102822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위험 신호와 영향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56540" y="1456848"/>
            <a:ext cx="141720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Deep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70840" y="1929288"/>
            <a:ext cx="134195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HARNESS DEEP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0840" y="2142648"/>
            <a:ext cx="1345287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분해된 질문별 근거 조회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70840" y="2322433"/>
            <a:ext cx="142779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각 정보원에 맞는 Query 실행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01320" y="2791777"/>
            <a:ext cx="48660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QUERY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01320" y="3005137"/>
            <a:ext cx="64198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3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LLM Wiki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7500" y="3208496"/>
            <a:ext cx="76616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RA · 협의 이력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413" y="2791777"/>
            <a:ext cx="48660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QUERY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39413" y="3005137"/>
            <a:ext cx="69342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3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HANA KG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55593" y="3208496"/>
            <a:ext cx="65210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관계사·Risk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77507" y="2791777"/>
            <a:ext cx="48660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QUERY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77507" y="3005137"/>
            <a:ext cx="42243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3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Joule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93687" y="3208496"/>
            <a:ext cx="83058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채권·한도·주문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6100" y="4064317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결과 수집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6100" y="4276129"/>
            <a:ext cx="169128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세 정보원의 Query 결과 반환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6100" y="454997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근거 종합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6100" y="4738925"/>
            <a:ext cx="140005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고객 신용 · 채권 · 관계 Risk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6100" y="4997172"/>
            <a:ext cx="53149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RA 결론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6100" y="5208984"/>
            <a:ext cx="1500901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위험 등급 · 대응 우선순위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36580" y="1502568"/>
            <a:ext cx="875942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대응 지시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50880" y="1982628"/>
            <a:ext cx="81129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RISK ACTION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50880" y="2195988"/>
            <a:ext cx="123313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실행 가능한 조치 제안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50880" y="2375773"/>
            <a:ext cx="110454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Risk 수준에 맞춘 대응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26140" y="2761297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한도 조정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26140" y="2973109"/>
            <a:ext cx="126253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신용 한도 · 주문 보류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26140" y="324695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조건 보완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26140" y="3435905"/>
            <a:ext cx="116419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결제 조건 · 담보 · 승인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26140" y="3694152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업무 지시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26140" y="3905964"/>
            <a:ext cx="1381720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담당자 · 후속 조치 전달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36580" y="4629388"/>
            <a:ext cx="151411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SKILL.MD ACCUMULATION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26140" y="4926568"/>
            <a:ext cx="917733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분석 Pattern 확정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26140" y="5167312"/>
            <a:ext cx="721399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Skill.md 축적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26140" y="5408056"/>
            <a:ext cx="868322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다음 질문 재사용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4446508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Harness A2A — Cross-Team 협업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2343" y="3181469"/>
            <a:ext cx="125551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CUSTOMER REQUEST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6752" y="3417689"/>
            <a:ext cx="118681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수주 조건 변경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1053" y="3697724"/>
            <a:ext cx="93809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물량 · 가격 · 납기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76500" y="1502568"/>
            <a:ext cx="100893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영업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90800" y="1982628"/>
            <a:ext cx="118229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WIKI · TICKET 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90800" y="2195988"/>
            <a:ext cx="112097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수주 조건 확인 요청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90800" y="2375773"/>
            <a:ext cx="161651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고객 요청 · 계약 조건 · 협의 이력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28900" y="2761297"/>
            <a:ext cx="76211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JOULE 조회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900" y="2973109"/>
            <a:ext cx="1186457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수주 · 가격 · 수익성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8900" y="324695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조건 확인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28900" y="3435905"/>
            <a:ext cx="119300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현재 계약 조건과 수익성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8900" y="3694152"/>
            <a:ext cx="11826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HARNESS 결론 생성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28900" y="3974544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분석 결과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28900" y="4186356"/>
            <a:ext cx="90904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수주 조건 초안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28900" y="4460200"/>
            <a:ext cx="63769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WIKI 답변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28900" y="4672012"/>
            <a:ext cx="153614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영업 Team 검토 결과 공유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56540" y="1502568"/>
            <a:ext cx="135945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생산관리 Team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70840" y="1982628"/>
            <a:ext cx="118229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WIKI · TICKET NOTE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0840" y="2195988"/>
            <a:ext cx="112097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 가능 여부 요청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70840" y="2375773"/>
            <a:ext cx="162782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수주 조건 · 우선순위 · 검토 Note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08940" y="2761297"/>
            <a:ext cx="76211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JOULE 조회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8940" y="2973109"/>
            <a:ext cx="1233011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생산계획 · Line 여력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8940" y="324695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조건 확인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08940" y="3435905"/>
            <a:ext cx="99679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기존 고객 납기 약속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08940" y="3694152"/>
            <a:ext cx="11826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HARNESS 결론 생성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08940" y="3974544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분석 결과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08940" y="4186356"/>
            <a:ext cx="90904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 가능 조건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08940" y="4460200"/>
            <a:ext cx="63769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WIKI 답변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08940" y="4672012"/>
            <a:ext cx="1774507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생산관리 Team 검토 결과 공유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36580" y="1502568"/>
            <a:ext cx="100893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구매 Team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50880" y="1982628"/>
            <a:ext cx="118229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WIKI · TICKET NOTE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50880" y="2195988"/>
            <a:ext cx="137910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자재 확보 가능 여부 요청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50880" y="2375773"/>
            <a:ext cx="164318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 자재 · 공급 Risk · 대응 Note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88980" y="2761297"/>
            <a:ext cx="76211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JOULE 조회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88980" y="2973109"/>
            <a:ext cx="153995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재고 · 발주 · 공급사 · 단가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88980" y="324695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조건 확인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980" y="3435905"/>
            <a:ext cx="148851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대체 가능성 · 납기 · 원가 영향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88980" y="3694152"/>
            <a:ext cx="11826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HARNESS 결론 생성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88980" y="3974544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분석 결과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88980" y="4186356"/>
            <a:ext cx="153685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공급 가능 조건 · 원가 영향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88980" y="4460200"/>
            <a:ext cx="63769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WIKI 답변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88980" y="4672012"/>
            <a:ext cx="153614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구매 Team 검토 결과 공유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226820"/>
            <a:ext cx="4449841" cy="723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90" sz="36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BTP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468880"/>
            <a:ext cx="2519124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SAP BTP 기반의 구현 구조와 운영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95250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18940" y="960120"/>
            <a:ext cx="2861667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35636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18940" y="1363980"/>
            <a:ext cx="1402913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0" y="176022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18940" y="1767840"/>
            <a:ext cx="1790819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SAP BTP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216408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8940" y="2171700"/>
            <a:ext cx="1835586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Demo &amp; Business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4670226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BTP — Standard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5810488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BTP — Kyma App-in-App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4620577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BTP — Platform Value &amp; TCO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36507" y="1209198"/>
            <a:ext cx="52887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50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AWS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21279" y="1209198"/>
            <a:ext cx="586263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50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Azure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0781" y="1254918"/>
            <a:ext cx="148971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14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S/4 연동 시 필요한 작업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21904" y="1209198"/>
            <a:ext cx="87641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50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SAP BTP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9400" y="1716643"/>
            <a:ext cx="519231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4232" y="1701403"/>
            <a:ext cx="73354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EKS · ECS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55757" y="1701403"/>
            <a:ext cx="1317307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AKS · Container Apps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5909" y="1656397"/>
            <a:ext cx="133945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0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업무 App 개발·배포·운영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9130" y="1816417"/>
            <a:ext cx="1233130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개발·Test·배포 체계 구성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17950" y="1609248"/>
            <a:ext cx="128420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Kyma · SAP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67467" y="1807368"/>
            <a:ext cx="138517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업무 App 변경·배포·운영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777" y="2160031"/>
            <a:ext cx="58459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AI /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69450" y="2144791"/>
            <a:ext cx="1063109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Amazon Bedrock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6021" y="2144791"/>
            <a:ext cx="89677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Azure OpenAI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1499" y="2099786"/>
            <a:ext cx="142827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0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Agent 실행·업무 지시 구성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7931" y="2259806"/>
            <a:ext cx="1375410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Prompt·실행 흐름 직접 설계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57704" y="2052637"/>
            <a:ext cx="140481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SAP AI Core · Joule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8079" y="2250757"/>
            <a:ext cx="112395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AI 실행과 업무 지시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1038" y="2603063"/>
            <a:ext cx="975955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Knowledge Graph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6215" y="2588180"/>
            <a:ext cx="1389459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Neptune · OpenSearch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29657" y="2588180"/>
            <a:ext cx="1769625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Cosmos DB · Azure AI 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24468" y="2543175"/>
            <a:ext cx="154233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0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KPI·SOP·Ticket 관계 지식화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61829" y="2703195"/>
            <a:ext cx="1867614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Business Context·근거·감사 구조 설계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350" y="2496026"/>
            <a:ext cx="174140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HANA Knowledge Graph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99627" y="2694146"/>
            <a:ext cx="112097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관계 기반 업무 지식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3046809"/>
            <a:ext cx="529232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SAP API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9821" y="3031569"/>
            <a:ext cx="842367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API Gateway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75653" y="3031569"/>
            <a:ext cx="1077515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API Management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1508" y="2986563"/>
            <a:ext cx="128837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0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S/4 API·Data 의미 정합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5783" y="3146583"/>
            <a:ext cx="145970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형식 변환·오류 처리·변경 대응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92934" y="2939415"/>
            <a:ext cx="153423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SAP API · Destination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0" y="3137535"/>
            <a:ext cx="126634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표준 연결과 Data 접근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2033" y="3490198"/>
            <a:ext cx="293965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EAI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42861" y="3474958"/>
            <a:ext cx="171616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EventBridge · Step Functions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72294" y="3474958"/>
            <a:ext cx="148435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Logic Apps · Service Bus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84463" y="3429952"/>
            <a:ext cx="162234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0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업무 Event·예외 Process 설계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55900" y="3589972"/>
            <a:ext cx="1479470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System 간 연계와 재처리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58788" y="3382803"/>
            <a:ext cx="120265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Integration Suite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73552" y="3580923"/>
            <a:ext cx="117300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Process·Event 통합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6767" y="3933586"/>
            <a:ext cx="74461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Authorization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73047" y="3918346"/>
            <a:ext cx="655915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AWS IAM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64342" y="3918346"/>
            <a:ext cx="110025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Microsoft Entra ID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16860" y="3873341"/>
            <a:ext cx="135755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0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SAP 조직·권한 정책 정합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41018" y="4033361"/>
            <a:ext cx="1509355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Cloud IAM과 SAP 권한 동기화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02472" y="3826192"/>
            <a:ext cx="131516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BTP Authorization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96293" y="4024312"/>
            <a:ext cx="112764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업무 권한·접근 통제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7484" y="4376975"/>
            <a:ext cx="703183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Governance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233255" y="4361735"/>
            <a:ext cx="1135499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CloudTrail · Config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18635" y="4361735"/>
            <a:ext cx="99155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Purview · Policy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20670" y="4316730"/>
            <a:ext cx="134993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0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감사·정책·접근 기준 관리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52924" y="4476750"/>
            <a:ext cx="1485542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AI·Data 사용 기준의 지속 정합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68107" y="4269581"/>
            <a:ext cx="2584013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SAP AI Launchpad · SAP BTP cockpit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14246" y="4467701"/>
            <a:ext cx="149161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AI·Data 사용 Governance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30597" y="4999434"/>
            <a:ext cx="4698325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739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TCO</a:t>
            </a:r>
            <a:r>
              <a:rPr spc="-52" sz="173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(CSP + S/4 연동 개발·운영) &gt;</a:t>
            </a:r>
            <a:r>
              <a:rPr spc="-52" sz="1739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TCO</a:t>
            </a:r>
            <a:r>
              <a:rPr spc="-52" sz="173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(SAP BTP)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4297084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BTP — Operations &amp; OPEX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36507" y="1254918"/>
            <a:ext cx="52887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50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AWS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21279" y="1254918"/>
            <a:ext cx="586263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50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Azure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59698" y="1300638"/>
            <a:ext cx="167199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14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운영 시 추가로 필요한 작업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21904" y="1254918"/>
            <a:ext cx="87641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50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SAP BTP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185" y="1890831"/>
            <a:ext cx="92178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Service Support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67795" y="1815703"/>
            <a:ext cx="86629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AWS Support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55150" y="1975723"/>
            <a:ext cx="129159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Service별 지원·운영 도구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0425" y="1815703"/>
            <a:ext cx="907970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Azure Support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8616" y="1975723"/>
            <a:ext cx="129159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Service별 지원·운영 도구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9233" y="1846183"/>
            <a:ext cx="1492924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0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AI·App·S/4 Issue 통합 대응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6810" y="1990963"/>
            <a:ext cx="215765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5B738B"/>
                </a:solidFill>
                <a:latin typeface="Noto Sans CJK KR"/>
                <a:ea typeface="Noto Sans CJK KR"/>
                <a:cs typeface="Noto Sans CJK KR"/>
              </a:rPr>
              <a:t>장애 원인·책임 범위·재처리 흐름을 직접 정리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80708" y="1799034"/>
            <a:ext cx="95881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One Support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3284" y="1966674"/>
            <a:ext cx="165354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App·통합·Platform 운영 기준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7228" y="2500431"/>
            <a:ext cx="98357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Standard Change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11573" y="2425303"/>
            <a:ext cx="137886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Cloud Service Updates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55150" y="2585323"/>
            <a:ext cx="129159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Service별 변경 공지·검증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25039" y="2425303"/>
            <a:ext cx="137874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Azure Service Updates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8616" y="2585323"/>
            <a:ext cx="129159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Service별 변경 공지·검증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0541" y="2455783"/>
            <a:ext cx="1510307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0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표준·Version 변경 영향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45517" y="2600563"/>
            <a:ext cx="190023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5B738B"/>
                </a:solidFill>
                <a:latin typeface="Noto Sans CJK KR"/>
                <a:ea typeface="Noto Sans CJK KR"/>
                <a:cs typeface="Noto Sans CJK KR"/>
              </a:rPr>
              <a:t>AI·연동·배포 설정을 업무 App별로 점검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952" y="2408634"/>
            <a:ext cx="1630203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Reference Architecture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1622" y="2576274"/>
            <a:ext cx="157698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표준 변경·Version 관리 기준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009" y="3110031"/>
            <a:ext cx="107001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S/4 Change Impact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79558" y="3034903"/>
            <a:ext cx="124289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API Monitoring Tools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7060" y="3194923"/>
            <a:ext cx="120788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연계 오류·Log 개별 확인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18359" y="3034903"/>
            <a:ext cx="159222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API Management · Monitor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10526" y="3194923"/>
            <a:ext cx="120788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연계 오류·Log 개별 확인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26968" y="3065383"/>
            <a:ext cx="153733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0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S/4 API·Data 변경 영향 분석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73259" y="3210163"/>
            <a:ext cx="184487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5B738B"/>
                </a:solidFill>
                <a:latin typeface="Noto Sans CJK KR"/>
                <a:ea typeface="Noto Sans CJK KR"/>
                <a:cs typeface="Noto Sans CJK KR"/>
              </a:rPr>
              <a:t>AI·Knowledge·App 영향 및 Test 관리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25639" y="3018234"/>
            <a:ext cx="206894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Destination · Integration Suite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53061" y="3185874"/>
            <a:ext cx="141410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SAP 연결·변경 영향 관리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5076" y="3719631"/>
            <a:ext cx="112799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AI &amp; App Operations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76569" y="3644503"/>
            <a:ext cx="1448871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CloudWatch · CloudTrail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67758" y="3804523"/>
            <a:ext cx="146649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Infrastructure·감사 Log 관리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99560" y="3644503"/>
            <a:ext cx="142970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Azure Monitor · Purview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81224" y="3804523"/>
            <a:ext cx="146649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Infrastructure·감사 Log 관리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56020" y="3674983"/>
            <a:ext cx="1479351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0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AI·App·배포 이력 통합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9195" y="3819763"/>
            <a:ext cx="209288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5B738B"/>
                </a:solidFill>
                <a:latin typeface="Noto Sans CJK KR"/>
                <a:ea typeface="Noto Sans CJK KR"/>
                <a:cs typeface="Noto Sans CJK KR"/>
              </a:rPr>
              <a:t>Model·Prompt·권한·배포 변경을 별도 운영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44413" y="3627834"/>
            <a:ext cx="263128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SAP AI Launchpad · Kyma · SAP Build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0" y="3795474"/>
            <a:ext cx="126646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AI·App·배포 통합 운영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81531" y="4440793"/>
            <a:ext cx="4996576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739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OPEX</a:t>
            </a:r>
            <a:r>
              <a:rPr spc="-52" sz="173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(CSP + S/4·LoB 연동 운영) &gt;</a:t>
            </a:r>
            <a:r>
              <a:rPr spc="-52" sz="1739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OPEX</a:t>
            </a:r>
            <a:r>
              <a:rPr spc="-52" sz="173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(SAP BTP)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226820"/>
            <a:ext cx="4892397" cy="723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90" sz="36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&amp; Business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468880"/>
            <a:ext cx="3667720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조직의 문제에서 SCM 실행과 Business Value까지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95250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18940" y="960120"/>
            <a:ext cx="2861667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35636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18940" y="1363980"/>
            <a:ext cx="1402913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0" y="176022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18940" y="1767840"/>
            <a:ext cx="1681519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BTP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216408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8940" y="2171700"/>
            <a:ext cx="1945124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Demo &amp; Business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62940" y="1235868"/>
            <a:ext cx="10866120" cy="165735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1470183"/>
            <a:ext cx="2209800" cy="86010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58440" y="1470183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91100" y="1470183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223760" y="1470183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456420" y="1470183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58440" y="1911667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991100" y="1911667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223760" y="1911667"/>
            <a:ext cx="444246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25780" y="2353151"/>
            <a:ext cx="2209800" cy="86010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58440" y="2353151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91100" y="2353151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223760" y="2353151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456420" y="2353151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58440" y="2794635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91100" y="2794635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223760" y="2794635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56420" y="2794635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6730" y="3834288"/>
            <a:ext cx="2459235" cy="100869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6730" y="5155406"/>
            <a:ext cx="2459235" cy="7565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57200"/>
            <a:ext cx="5510212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— Business Context &amp; Challenges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8612" y="938688"/>
            <a:ext cx="213669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96" sz="960" b="0" i="0">
                <a:solidFill>
                  <a:srgbClr val="365D78"/>
                </a:solidFill>
                <a:latin typeface="Noto Sans CJK KR"/>
                <a:ea typeface="Noto Sans CJK KR"/>
                <a:cs typeface="Noto Sans CJK KR"/>
              </a:rPr>
              <a:t>BUSINESS OPERATING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0246" y="1220628"/>
            <a:ext cx="754141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1" i="0">
                <a:solidFill>
                  <a:srgbClr val="0A6ED1"/>
                </a:solidFill>
                <a:latin typeface="Noto Sans CJK KR"/>
                <a:ea typeface="Noto Sans CJK KR"/>
                <a:cs typeface="Noto Sans CJK KR"/>
              </a:rPr>
              <a:t>원가 경쟁력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63584" y="1220628"/>
            <a:ext cx="754141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1" i="0">
                <a:solidFill>
                  <a:srgbClr val="0A6ED1"/>
                </a:solidFill>
                <a:latin typeface="Noto Sans CJK KR"/>
                <a:ea typeface="Noto Sans CJK KR"/>
                <a:cs typeface="Noto Sans CJK KR"/>
              </a:rPr>
              <a:t>운영 안정성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6921" y="1220628"/>
            <a:ext cx="634960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1" i="0">
                <a:solidFill>
                  <a:srgbClr val="0A6ED1"/>
                </a:solidFill>
                <a:latin typeface="Noto Sans CJK KR"/>
                <a:ea typeface="Noto Sans CJK KR"/>
                <a:cs typeface="Noto Sans CJK KR"/>
              </a:rPr>
              <a:t>고객 가치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11076" y="1220628"/>
            <a:ext cx="1722596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1" i="0">
                <a:solidFill>
                  <a:srgbClr val="0A6ED1"/>
                </a:solidFill>
                <a:latin typeface="Noto Sans CJK KR"/>
                <a:ea typeface="Noto Sans CJK KR"/>
                <a:cs typeface="Noto Sans CJK KR"/>
              </a:rPr>
              <a:t>기술 · 지속가능 Leadership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" y="1804987"/>
            <a:ext cx="1684258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1" sz="1019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Organizational Performance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74018" y="1500663"/>
            <a:ext cx="7004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영업 · 수요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70860" y="1671875"/>
            <a:ext cx="170688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Demand Forecast · 수주 변동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94521" y="1500663"/>
            <a:ext cx="92487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구매 · 공급계획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30559" y="1671875"/>
            <a:ext cx="145268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공급 연속성 · 협력사 Risk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39338" y="1500663"/>
            <a:ext cx="7004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생산 · 품질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20927" y="1671875"/>
            <a:ext cx="193738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Production Capacity · 품질 Issue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73188" y="1500663"/>
            <a:ext cx="69806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SCM · 고객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13513" y="1671875"/>
            <a:ext cx="121741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납기 준수 · 물류 예외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61861" y="1942147"/>
            <a:ext cx="92487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재무 · 경영관리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44835" y="2113359"/>
            <a:ext cx="95892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원가 · 손익 변동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9184" y="1942147"/>
            <a:ext cx="59543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IT · Data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35428" y="2113359"/>
            <a:ext cx="164306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System 가용성 · Data 신뢰성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" y="2687955"/>
            <a:ext cx="1008697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1" sz="1019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Team Execution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78423" y="2383631"/>
            <a:ext cx="69163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영업 Team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15533" y="2554843"/>
            <a:ext cx="121741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수주 변동 · 고객 요청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98926" y="2383631"/>
            <a:ext cx="9159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수요계획 Team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62004" y="2554843"/>
            <a:ext cx="118979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Forecast · 수요 조정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31586" y="2383631"/>
            <a:ext cx="9159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생산계획 Team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68696" y="2554843"/>
            <a:ext cx="144172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계획 변경 · 생산 우선순위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76403" y="2383631"/>
            <a:ext cx="69163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구매 Team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13513" y="2554843"/>
            <a:ext cx="121741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지연 자재 · 긴급 발주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66266" y="2825115"/>
            <a:ext cx="9159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품질관리 Team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95769" y="2996326"/>
            <a:ext cx="125694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품질 Issue · 시정 조치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98581" y="2825115"/>
            <a:ext cx="71675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SCM Team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48193" y="2996326"/>
            <a:ext cx="121741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재고 부족 · 물류 예외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31586" y="2825115"/>
            <a:ext cx="9159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영업관리 Team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29656" y="2996326"/>
            <a:ext cx="131992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Order 반영 · 납기 회신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86035" y="2825115"/>
            <a:ext cx="87237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IT·Data Team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69685" y="2996326"/>
            <a:ext cx="150506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Data 오류 · Interface 대응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66755" y="3327558"/>
            <a:ext cx="5180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2" sz="108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동일한 전사 KPI를 조직과 Team은 각자의 Data·업무 상태·우선순위 관점에서 다르게 판단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293042" y="3601878"/>
            <a:ext cx="172783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96" sz="960" b="0" i="0">
                <a:solidFill>
                  <a:srgbClr val="B9512B"/>
                </a:solidFill>
                <a:latin typeface="Noto Sans CJK KR"/>
                <a:ea typeface="Noto Sans CJK KR"/>
                <a:cs typeface="Noto Sans CJK KR"/>
              </a:rPr>
              <a:t>BUSINESS CHALLENGES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8180" y="4239577"/>
            <a:ext cx="132052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3" sz="10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Business Challenges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274575" y="3860958"/>
            <a:ext cx="5779055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6C3826"/>
                </a:solidFill>
                <a:latin typeface="Noto Sans CJK KR"/>
                <a:ea typeface="Noto Sans CJK KR"/>
                <a:cs typeface="Noto Sans CJK KR"/>
              </a:rPr>
              <a:t>조직·Team별 Data와 Business Context가 분리되어, 동일 KPI에 대한 전체 최적화 판단과 협업이 어려움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74575" y="4113133"/>
            <a:ext cx="5267563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6C3826"/>
                </a:solidFill>
                <a:latin typeface="Noto Sans CJK KR"/>
                <a:ea typeface="Noto Sans CJK KR"/>
                <a:cs typeface="Noto Sans CJK KR"/>
              </a:rPr>
              <a:t>수요·공급·생산·물류의 변동 발생 시, 영향 범위와 우선순위를 사람이 수작업으로 재확인해야 함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74575" y="4365307"/>
            <a:ext cx="5086588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6C3826"/>
                </a:solidFill>
                <a:latin typeface="Noto Sans CJK KR"/>
                <a:ea typeface="Noto Sans CJK KR"/>
                <a:cs typeface="Noto Sans CJK KR"/>
              </a:rPr>
              <a:t>요청·처리 이력이 개인과 System에 분산되어, 반복 업무의 기준과 전문성이 재활용되지 못함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74575" y="4617481"/>
            <a:ext cx="5789175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6C3826"/>
                </a:solidFill>
                <a:latin typeface="Noto Sans CJK KR"/>
                <a:ea typeface="Noto Sans CJK KR"/>
                <a:cs typeface="Noto Sans CJK KR"/>
              </a:rPr>
              <a:t>업무 변화에 따른 App·업무 Logic 수정이 IT 개발 요청과 배포 절차에 의존하여 대응 Lead Time이 길어짐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08006" y="4922996"/>
            <a:ext cx="229778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96" sz="960" b="0" i="0">
                <a:solidFill>
                  <a:srgbClr val="1B90FF"/>
                </a:solidFill>
                <a:latin typeface="Noto Sans CJK KR"/>
                <a:ea typeface="Noto Sans CJK KR"/>
                <a:cs typeface="Noto Sans CJK KR"/>
              </a:rPr>
              <a:t>AUTONOMOUS OPERATIONS 방식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8180" y="5434607"/>
            <a:ext cx="191131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3" sz="10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Autonomous Operating Model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274575" y="5182076"/>
            <a:ext cx="4713089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Team별 Wiki를 중심으로 KPI·업무 상태·요청 이력을 연결하는 Agent 기반 협업 구조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274575" y="5434250"/>
            <a:ext cx="5283874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Team별 App Builder AI Coding으로 업무 변화에 맞춰 App을 보완·배포하고 개발 비용을 절감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274575" y="5686425"/>
            <a:ext cx="6630233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Team별 Harness 구조로 분석·업무 지시·결과 Wiki 저장을 연결하고, 업무 이력의 Lifecycle을 사내 Knowledge로 축적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3070621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Shared AI Foundation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0560" y="2563415"/>
            <a:ext cx="98107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Team Knowledge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2799635"/>
            <a:ext cx="110478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5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Wiki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560" y="3026925"/>
            <a:ext cx="2181701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Team KPI · SOP · Issue · Meeting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0560" y="3685222"/>
            <a:ext cx="122170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Enterprise Knowledge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0560" y="3921442"/>
            <a:ext cx="191071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5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HANA Knowledge Graph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0560" y="4148732"/>
            <a:ext cx="218027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Compliance · IT · HR의 Ontology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31478" y="3228022"/>
            <a:ext cx="57638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50" sz="840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업무 근거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5830" y="3083718"/>
            <a:ext cx="92213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User Experience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39846" y="3335178"/>
            <a:ext cx="1433988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74" sz="1859" b="0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Live Assistant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14260" y="3628310"/>
            <a:ext cx="128527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질문·업무 지시 접점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7661" y="3228022"/>
            <a:ext cx="67294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50" sz="840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분석 · 지시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26591" y="1441608"/>
            <a:ext cx="134100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Analysis &amp; Orchestration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26591" y="1677828"/>
            <a:ext cx="140553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5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Harness Assistant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26591" y="1905119"/>
            <a:ext cx="196596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분석·업무 지시 · Non-SAP 연결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26591" y="2563415"/>
            <a:ext cx="121396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Workflow Automation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26591" y="2799635"/>
            <a:ext cx="107334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5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n8n Assistant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26591" y="3026925"/>
            <a:ext cx="108204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자동화 실행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26591" y="3685222"/>
            <a:ext cx="170342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App Development &amp; Operations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26591" y="3921442"/>
            <a:ext cx="163091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5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App Builder Assistant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26591" y="4148732"/>
            <a:ext cx="135540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App 운영 · 개발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26591" y="4807029"/>
            <a:ext cx="89713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SAP Integration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26591" y="5043249"/>
            <a:ext cx="118586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5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Joule Assistant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26591" y="5270539"/>
            <a:ext cx="1267301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SAP 업무 Interface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5288041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— Cross-Team Operating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01040" y="1464468"/>
            <a:ext cx="99131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영업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37340" y="1464468"/>
            <a:ext cx="134183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생산관리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6020" y="1464468"/>
            <a:ext cx="99131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구매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1040" y="3293268"/>
            <a:ext cx="134183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영업관리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7340" y="3247548"/>
            <a:ext cx="1060608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SCM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66020" y="3293268"/>
            <a:ext cx="134183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경영관리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5183505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— Autonomous SCM Scenarios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95888"/>
            <a:ext cx="70199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96" sz="960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Demo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62588"/>
            <a:ext cx="2509837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15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Inbound Process Adaptation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5988"/>
            <a:ext cx="189226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0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App Builder Agent · 입고 처리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23648"/>
            <a:ext cx="3004423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365775"/>
                </a:solidFill>
                <a:latin typeface="Noto Sans CJK KR"/>
                <a:ea typeface="Noto Sans CJK KR"/>
                <a:cs typeface="Noto Sans CJK KR"/>
              </a:rPr>
              <a:t>납품서·ASN 양식 변경에 따른 입고 App 변경·배포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255168"/>
            <a:ext cx="161413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OCR 실패 · 양식 변경 감지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521868"/>
            <a:ext cx="133088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입고 담당자 변경 요청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788568"/>
            <a:ext cx="182189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App Builder로 처리 Logic 수정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055268"/>
            <a:ext cx="100476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검증 · 운영 배포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321968"/>
            <a:ext cx="128504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기준 수정 · 입고 반영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3752" y="4459128"/>
            <a:ext cx="65936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86" sz="960" b="0" i="0">
                <a:solidFill>
                  <a:srgbClr val="286B92"/>
                </a:solidFill>
                <a:latin typeface="Liberation Sans"/>
                <a:ea typeface="Noto Sans CJK KR"/>
                <a:cs typeface="Liberation Sans"/>
              </a:rPr>
              <a:t>입고 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6040" y="1395888"/>
            <a:ext cx="70199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96" sz="960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Demo 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6040" y="1662588"/>
            <a:ext cx="2208728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15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SCM Exception Handling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6040" y="2195988"/>
            <a:ext cx="144244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0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Wiki Agent · 공급 예외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6040" y="2523648"/>
            <a:ext cx="282856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365775"/>
                </a:solidFill>
                <a:latin typeface="Noto Sans CJK KR"/>
                <a:ea typeface="Noto Sans CJK KR"/>
                <a:cs typeface="Noto Sans CJK KR"/>
              </a:rPr>
              <a:t>지식·이력 기반 입고 지연·재고·납기 Risk 대응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44640" y="3255168"/>
            <a:ext cx="156519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입고 지연 · 재고 부족 문의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44640" y="3521868"/>
            <a:ext cx="193643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Wiki에서 SOP · 과거 Ticket 조회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44640" y="3788568"/>
            <a:ext cx="187237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S/4 재고 · 발주 · 납기 현황 확인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44640" y="4055268"/>
            <a:ext cx="181070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대체 공급 · 출하 우선순위 판단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44640" y="4321968"/>
            <a:ext cx="168794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담당자 대응 지시 · 결과 기록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47284" y="4459128"/>
            <a:ext cx="95047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86" sz="960" b="0" i="0">
                <a:solidFill>
                  <a:srgbClr val="286B92"/>
                </a:solidFill>
                <a:latin typeface="Liberation Sans"/>
                <a:ea typeface="Noto Sans CJK KR"/>
                <a:cs typeface="Liberation Sans"/>
              </a:rPr>
              <a:t>공급 예외 대응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0680" y="1395888"/>
            <a:ext cx="70199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96" sz="960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Demo 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0680" y="1662588"/>
            <a:ext cx="288869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15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Demand-to-Supply Orchestration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0680" y="2195988"/>
            <a:ext cx="2001083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0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Harness Agent · 수요·납기 변동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0680" y="2523648"/>
            <a:ext cx="311788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365775"/>
                </a:solidFill>
                <a:latin typeface="Noto Sans CJK KR"/>
                <a:ea typeface="Noto Sans CJK KR"/>
                <a:cs typeface="Noto Sans CJK KR"/>
              </a:rPr>
              <a:t>수요·납기 변경의 생산·구매·물류 영향 분석 → 실행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29280" y="3255168"/>
            <a:ext cx="156519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고객 수요 · 납기 변경 접수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9280" y="3521868"/>
            <a:ext cx="256639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Production Capacity · 재고 · 공급 Risk 분석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29280" y="3788568"/>
            <a:ext cx="199917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영업 · 생산 · 구매 · 물류 영향 종합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29280" y="4055268"/>
            <a:ext cx="168771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부서별 작업 지시 · Wiki 기록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29280" y="4321968"/>
            <a:ext cx="169152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반복 Issue App Builder 개선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63807" y="4459128"/>
            <a:ext cx="111847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86" sz="960" b="0" i="0">
                <a:solidFill>
                  <a:srgbClr val="286B92"/>
                </a:solidFill>
                <a:latin typeface="Liberation Sans"/>
                <a:ea typeface="Noto Sans CJK KR"/>
                <a:cs typeface="Liberation Sans"/>
              </a:rPr>
              <a:t>부서 간 업무 조율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86000" y="1866899"/>
            <a:ext cx="7620000" cy="4286250"/>
          </a:xfrm>
          <a:prstGeom prst="roundRect">
            <a:avLst>
              <a:gd name="adj" fmla="val 2133"/>
            </a:avLst>
          </a:prstGeom>
          <a:solidFill>
            <a:srgbClr val="F1F7FD"/>
          </a:solidFill>
          <a:ln w="15240">
            <a:solidFill>
              <a:srgbClr val="91C8F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0" y="1866899"/>
            <a:ext cx="7620000" cy="15240"/>
          </a:xfrm>
          <a:prstGeom prst="rect">
            <a:avLst/>
          </a:prstGeom>
          <a:solidFill>
            <a:srgbClr val="91C8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Isosceles Triangle 3"/>
          <p:cNvSpPr/>
          <p:nvPr/>
        </p:nvSpPr>
        <p:spPr>
          <a:xfrm rot="5400000">
            <a:off x="5935980" y="3484245"/>
            <a:ext cx="381000" cy="304800"/>
          </a:xfrm>
          <a:prstGeom prst="triangle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5607486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01 — Inbound Process Adaptation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14888"/>
            <a:ext cx="2349936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App Builder Agent · 입고 처리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34928"/>
            <a:ext cx="3324701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납품서·ASN 양식 변경에 따른 입고 App 변경·배포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37108" y="4025265"/>
            <a:ext cx="1439584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Demo 01 영상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72707" y="4375785"/>
            <a:ext cx="136850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영상 삽입 영역 · 16:9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86000" y="1866899"/>
            <a:ext cx="7620000" cy="4286250"/>
          </a:xfrm>
          <a:prstGeom prst="roundRect">
            <a:avLst>
              <a:gd name="adj" fmla="val 2133"/>
            </a:avLst>
          </a:prstGeom>
          <a:solidFill>
            <a:srgbClr val="F1F7FD"/>
          </a:solidFill>
          <a:ln w="15240">
            <a:solidFill>
              <a:srgbClr val="91C8F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0" y="1866899"/>
            <a:ext cx="7620000" cy="15240"/>
          </a:xfrm>
          <a:prstGeom prst="rect">
            <a:avLst/>
          </a:prstGeom>
          <a:solidFill>
            <a:srgbClr val="91C8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Isosceles Triangle 3"/>
          <p:cNvSpPr/>
          <p:nvPr/>
        </p:nvSpPr>
        <p:spPr>
          <a:xfrm rot="5400000">
            <a:off x="5935980" y="3484245"/>
            <a:ext cx="381000" cy="304800"/>
          </a:xfrm>
          <a:prstGeom prst="triangle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5066704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02 — SCM Exception Handling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14888"/>
            <a:ext cx="2113002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Wiki Agent · 공급 예외 대응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34928"/>
            <a:ext cx="3129319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지식·이력 기반 입고 지연·재고·납기 Risk 대응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37108" y="4025265"/>
            <a:ext cx="1439584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Demo 02 영상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72707" y="4375785"/>
            <a:ext cx="136850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영상 삽입 영역 · 16:9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86000" y="1866899"/>
            <a:ext cx="7620000" cy="4286250"/>
          </a:xfrm>
          <a:prstGeom prst="roundRect">
            <a:avLst>
              <a:gd name="adj" fmla="val 2133"/>
            </a:avLst>
          </a:prstGeom>
          <a:solidFill>
            <a:srgbClr val="F1F7FD"/>
          </a:solidFill>
          <a:ln w="15240">
            <a:solidFill>
              <a:srgbClr val="91C8F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0" y="1866899"/>
            <a:ext cx="7620000" cy="15240"/>
          </a:xfrm>
          <a:prstGeom prst="rect">
            <a:avLst/>
          </a:prstGeom>
          <a:solidFill>
            <a:srgbClr val="91C8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Isosceles Triangle 3"/>
          <p:cNvSpPr/>
          <p:nvPr/>
        </p:nvSpPr>
        <p:spPr>
          <a:xfrm rot="5400000">
            <a:off x="5935980" y="3484245"/>
            <a:ext cx="381000" cy="304800"/>
          </a:xfrm>
          <a:prstGeom prst="triangle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6267688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03 — Demand-to-Supply Orchestration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14888"/>
            <a:ext cx="2461736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Harness Agent · 수요·공급 조율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34928"/>
            <a:ext cx="3396019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수요·납기 변경의 생산·구매·물류 영향 분석과 실행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37108" y="4025265"/>
            <a:ext cx="1439584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Demo 03 영상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72707" y="4375785"/>
            <a:ext cx="136850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영상 삽입 영역 · 16:9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3368040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— Business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8810" y="2084784"/>
            <a:ext cx="86284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7858FF"/>
                </a:solidFill>
                <a:latin typeface="Noto Sans CJK KR"/>
                <a:ea typeface="Noto Sans CJK KR"/>
                <a:cs typeface="Noto Sans CJK KR"/>
              </a:rPr>
              <a:t>Business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8810" y="2374344"/>
            <a:ext cx="2200870" cy="3505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1" sz="203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Manual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8810" y="2755939"/>
            <a:ext cx="2851665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System 조회 · 근거 수집 · 업무 전달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8810" y="3451979"/>
            <a:ext cx="2779871" cy="3505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1" sz="2039" b="0" i="0">
                <a:solidFill>
                  <a:srgbClr val="7858FF"/>
                </a:solidFill>
                <a:latin typeface="Liberation Sans"/>
                <a:ea typeface="Noto Sans CJK KR"/>
                <a:cs typeface="Liberation Sans"/>
              </a:rPr>
              <a:t>Autonomous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8810" y="3833574"/>
            <a:ext cx="3222902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Agent의 Context 연결 · 허용된 작업 실행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8810" y="4133373"/>
            <a:ext cx="226123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1" i="0">
                <a:solidFill>
                  <a:srgbClr val="7858FF"/>
                </a:solidFill>
                <a:latin typeface="Liberation Sans"/>
                <a:ea typeface="Noto Sans CJK KR"/>
                <a:cs typeface="Liberation Sans"/>
              </a:rPr>
              <a:t>사람은 예외·핵심 판단에 집중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503068"/>
            <a:ext cx="102715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Business Outcomes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5812" y="5464968"/>
            <a:ext cx="1048583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처리 시간 단축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89195" y="5464968"/>
            <a:ext cx="1188720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수작업 조율 감소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2715" y="5464968"/>
            <a:ext cx="1188720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일관된 업무 실행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76235" y="5464968"/>
            <a:ext cx="1045725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AI 역량 재사용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SAP NOW — Editable text and shapes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