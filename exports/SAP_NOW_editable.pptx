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jpg" ContentType="image/jpe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— Autonomous Enterprise SAP BAIP Agent Demo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— App Builder · Harness · Live Assistant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— Presentation Agenda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— Autonomous Enterprise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— AI-First → AI-Native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— Four Core Capabilities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— Agent Workflow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— Business Context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— App &amp; AI Development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— Agentic Execution — Integrated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— Agentic Execution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— Joule — SAP Data 접근과 업무 실행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— LLM Wiki — 팀 지식 축적과 요청 맥락 재활용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— HANA Knowledge Graph — Business Context 연결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— Harness — 업무 판단과 실행 조율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— App Builder — App 변경과 배포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— Harness Deep Agent — 복합 분석과 계획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— Harness A2A — Cross-Team 협업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— SAP BAIP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— SAP BAIP — Standard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— SAP BAIP — Kyma App-in-App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— SAP BAIP — Platform Value &amp; TCO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— SAP BAIP — Operations &amp; OPEX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— Demo &amp;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— Demo — Business Context &amp; Challenges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— Demo — Cross-Team Operating Model · SCM Team 확대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— Demo — Autonomous SCM Scenarios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— Demo 01 — Inbound Process Adaptation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 — Demo 02 — SCM Exception Handling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— Demo 03 — Demand-to-Supply Orchestration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 — Why SAP BAIP + Harness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video" Target="../media/media1.mp4"/><Relationship Id="rId4" Type="http://schemas.microsoft.com/office/2007/relationships/media" Target="../media/media1.mp4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notesSlide" Target="../notesSlides/notesSlide2.xml"/><Relationship Id="rId10" Type="http://schemas.microsoft.com/office/2007/relationships/media" Target="../media/media5.mp4"/><Relationship Id="rId11" Type="http://schemas.openxmlformats.org/officeDocument/2006/relationships/video" Target="../media/media5.mp4"/><Relationship Id="rId12" Type="http://schemas.microsoft.com/office/2007/relationships/media" Target="../media/media6.mp4"/><Relationship Id="rId13" Type="http://schemas.openxmlformats.org/officeDocument/2006/relationships/video" Target="../media/media6.mp4"/><Relationship Id="rId14" Type="http://schemas.microsoft.com/office/2007/relationships/media" Target="../media/media7.mp4"/><Relationship Id="rId15" Type="http://schemas.openxmlformats.org/officeDocument/2006/relationships/video" Target="../media/media7.mp4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jp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jp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jpg"/><Relationship Id="rId4" Type="http://schemas.openxmlformats.org/officeDocument/2006/relationships/image" Target="../media/image46.jp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8.jpg"/><Relationship Id="rId4" Type="http://schemas.microsoft.com/office/2007/relationships/media" Target="../media/media2.mp4"/><Relationship Id="rId5" Type="http://schemas.openxmlformats.org/officeDocument/2006/relationships/video" Target="../media/media2.mp4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9.jpg"/><Relationship Id="rId4" Type="http://schemas.microsoft.com/office/2007/relationships/media" Target="../media/media3.mp4"/><Relationship Id="rId5" Type="http://schemas.openxmlformats.org/officeDocument/2006/relationships/video" Target="../media/media3.mp4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0.jpg"/><Relationship Id="rId4" Type="http://schemas.microsoft.com/office/2007/relationships/media" Target="../media/media4.mp4"/><Relationship Id="rId5" Type="http://schemas.openxmlformats.org/officeDocument/2006/relationships/video" Target="../media/media4.mp4"/><Relationship Id="rId6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jpg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1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502920"/>
            <a:ext cx="1600200" cy="535066"/>
          </a:xfrm>
          <a:prstGeom prst="rect">
            <a:avLst/>
          </a:prstGeom>
        </p:spPr>
      </p:pic>
      <p:pic>
        <p:nvPicPr>
          <p:cNvPr id="3" name="Picture 2" descr="01-media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4080" y="0"/>
            <a:ext cx="621792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2598420"/>
            <a:ext cx="5054560" cy="701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87" sz="3473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357205"/>
            <a:ext cx="3146821" cy="4876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304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Agent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05300"/>
            <a:ext cx="134933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2026. 09. 29.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7" name="Rounded Rectangle 16"/>
          <p:cNvSpPr/>
          <p:nvPr/>
        </p:nvSpPr>
        <p:spPr>
          <a:xfrm>
            <a:off x="853440" y="129540"/>
            <a:ext cx="5181600" cy="3238500"/>
          </a:xfrm>
          <a:prstGeom prst="roundRect">
            <a:avLst>
              <a:gd name="adj" fmla="val 1500"/>
            </a:avLst>
          </a:prstGeom>
          <a:solidFill>
            <a:srgbClr val="EEF3F7"/>
          </a:solidFill>
          <a:ln w="7620">
            <a:solidFill>
              <a:srgbClr val="C5D7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56960" y="129540"/>
            <a:ext cx="5181600" cy="3238500"/>
          </a:xfrm>
          <a:prstGeom prst="roundRect">
            <a:avLst>
              <a:gd name="adj" fmla="val 1500"/>
            </a:avLst>
          </a:prstGeom>
          <a:solidFill>
            <a:srgbClr val="EEF3F7"/>
          </a:solidFill>
          <a:ln w="7620">
            <a:solidFill>
              <a:srgbClr val="C5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3440" y="3489960"/>
            <a:ext cx="5181600" cy="3238500"/>
          </a:xfrm>
          <a:prstGeom prst="roundRect">
            <a:avLst>
              <a:gd name="adj" fmla="val 1500"/>
            </a:avLst>
          </a:prstGeom>
          <a:solidFill>
            <a:srgbClr val="EEF3F7"/>
          </a:solidFill>
          <a:ln w="7620">
            <a:solidFill>
              <a:srgbClr val="C5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56960" y="3489960"/>
            <a:ext cx="5181600" cy="3238500"/>
          </a:xfrm>
          <a:prstGeom prst="roundRect">
            <a:avLst>
              <a:gd name="adj" fmla="val 1500"/>
            </a:avLst>
          </a:prstGeom>
          <a:solidFill>
            <a:srgbClr val="EEF3F7"/>
          </a:solidFill>
          <a:ln w="7620">
            <a:solidFill>
              <a:srgbClr val="C5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719" y="1525190"/>
            <a:ext cx="44696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80" y="1741170"/>
            <a:ext cx="838438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41335" y="1525190"/>
            <a:ext cx="43064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07866" y="1741170"/>
            <a:ext cx="697706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Builder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438" y="4993600"/>
            <a:ext cx="761404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Harness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25500" y="4885610"/>
            <a:ext cx="46231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Wiki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66683" y="5101590"/>
            <a:ext cx="579953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Agent</a:t>
            </a:r>
          </a:p>
        </p:txBody>
      </p:sp>
      <p:pic>
        <p:nvPicPr>
          <p:cNvPr id="18" name="Picture 17" descr="live-assistant-native.m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440" y="129540"/>
            <a:ext cx="5181600" cy="3238500"/>
          </a:xfrm>
          <a:prstGeom prst="rect">
            <a:avLst/>
          </a:prstGeom>
        </p:spPr>
      </p:pic>
      <p:pic>
        <p:nvPicPr>
          <p:cNvPr id="19" name="live-assistant-nativ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53440" y="129540"/>
            <a:ext cx="5181600" cy="3238500"/>
          </a:xfrm>
          <a:prstGeom prst="rect">
            <a:avLst/>
          </a:prstGeom>
        </p:spPr>
      </p:pic>
      <p:pic>
        <p:nvPicPr>
          <p:cNvPr id="20" name="Picture 19" descr="app-builder-chat-native-v2.mp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6960" y="129540"/>
            <a:ext cx="5181600" cy="3238500"/>
          </a:xfrm>
          <a:prstGeom prst="rect">
            <a:avLst/>
          </a:prstGeom>
        </p:spPr>
      </p:pic>
      <p:pic>
        <p:nvPicPr>
          <p:cNvPr id="21" name="app-builder-chat-native-v2.mp4">
            <a:hlinkClick r:id="" action="ppaction://media"/>
          </p:cNvPr>
          <p:cNvPicPr>
            <a:picLocks noChangeAspect="1"/>
          </p:cNvPicPr>
          <p:nvPr>
            <a:videoFile r:link="rId11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156960" y="129540"/>
            <a:ext cx="5181600" cy="3238500"/>
          </a:xfrm>
          <a:prstGeom prst="rect">
            <a:avLst/>
          </a:prstGeom>
        </p:spPr>
      </p:pic>
      <p:pic>
        <p:nvPicPr>
          <p:cNvPr id="22" name="Picture 21" descr="harness-research-native-v2.mp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3440" y="3489960"/>
            <a:ext cx="5181600" cy="3238500"/>
          </a:xfrm>
          <a:prstGeom prst="rect">
            <a:avLst/>
          </a:prstGeom>
        </p:spPr>
      </p:pic>
      <p:pic>
        <p:nvPicPr>
          <p:cNvPr id="23" name="harness-research-native-v2.mp4">
            <a:hlinkClick r:id="" action="ppaction://media"/>
          </p:cNvPr>
          <p:cNvPicPr>
            <a:picLocks noChangeAspect="1"/>
          </p:cNvPicPr>
          <p:nvPr>
            <a:videoFile r:link="rId13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853440" y="3489960"/>
            <a:ext cx="5181600" cy="3238500"/>
          </a:xfrm>
          <a:prstGeom prst="rect">
            <a:avLst/>
          </a:prstGeom>
        </p:spPr>
      </p:pic>
      <p:pic>
        <p:nvPicPr>
          <p:cNvPr id="24" name="Picture 23" descr="wiki-query-kpi-native.mp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6960" y="3651885"/>
            <a:ext cx="5181600" cy="2914650"/>
          </a:xfrm>
          <a:prstGeom prst="rect">
            <a:avLst/>
          </a:prstGeom>
        </p:spPr>
      </p:pic>
      <p:pic>
        <p:nvPicPr>
          <p:cNvPr id="25" name="wiki-query-kpi-native.mp4">
            <a:hlinkClick r:id="" action="ppaction://media"/>
          </p:cNvPr>
          <p:cNvPicPr>
            <a:picLocks noChangeAspect="1"/>
          </p:cNvPicPr>
          <p:nvPr>
            <a:videoFile r:link="rId15"/>
            <p:extLst>
              <p:ext uri="{DAA4B4D4-6D71-4841-9C94-3DE7FCFB9230}">
                <p14:media xmlns:p14="http://schemas.microsoft.com/office/powerpoint/2010/main" r:embed="rId14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156960" y="3651885"/>
            <a:ext cx="5181600" cy="29146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19"/>
                </p:tgtEl>
              </p:cMediaNode>
            </p:video>
            <p:video>
              <p:cMediaNode vol="80000">
                <p:cTn id="3" fill="hold" display="0" repeatCount="indefinite">
                  <p:stCondLst>
                    <p:cond delay="0"/>
                  </p:stCondLst>
                </p:cTn>
                <p:tgtEl>
                  <p:spTgt spid="21"/>
                </p:tgtEl>
              </p:cMediaNode>
            </p:video>
            <p:video>
              <p:cMediaNode vol="80000">
                <p:cTn id="4" fill="hold" display="0" repeatCount="indefinite">
                  <p:stCondLst>
                    <p:cond delay="0"/>
                  </p:stCondLst>
                </p:cTn>
                <p:tgtEl>
                  <p:spTgt spid="23"/>
                </p:tgtEl>
              </p:cMediaNode>
            </p:video>
            <p:video>
              <p:cMediaNode vol="80000">
                <p:cTn id="5" fill="hold" display="0" repeatCount="indefinite">
                  <p:stCondLst>
                    <p:cond delay="0"/>
                  </p:stCondLst>
                </p:cTn>
                <p:tgtEl>
                  <p:spTgt spid="25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3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2087" y="0"/>
            <a:ext cx="405991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3418403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Presentation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48075"/>
            <a:ext cx="30468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18260" y="1584245"/>
            <a:ext cx="5349478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32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8260" y="1965245"/>
            <a:ext cx="261437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AI-Native · Business Context ·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24375"/>
            <a:ext cx="30468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8260" y="2460545"/>
            <a:ext cx="2594014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32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8260" y="2841545"/>
            <a:ext cx="282916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Integrated Operating Model · Agent 역할 · A2A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00675"/>
            <a:ext cx="30468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8260" y="3336845"/>
            <a:ext cx="3187541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32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8260" y="3717845"/>
            <a:ext cx="315039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Logical Architecture · Implementation ·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376975"/>
            <a:ext cx="30468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8260" y="4213145"/>
            <a:ext cx="3350418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32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8260" y="4594145"/>
            <a:ext cx="33717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Challenges · SCM Demo · Business Outcomes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4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49680"/>
            <a:ext cx="6288643" cy="556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7" sz="2694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336339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180736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14253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23456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5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35060"/>
            <a:ext cx="5852160" cy="37337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3189446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AI-First → AI-Native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12280" y="1538525"/>
            <a:ext cx="90689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01 ·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12280" y="1812845"/>
            <a:ext cx="2523529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Software that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2201465"/>
            <a:ext cx="3718202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사람의 목표 설정 · Agent의 허용된 작업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836068"/>
            <a:ext cx="101572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02 · Landscape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3110388"/>
            <a:ext cx="2818328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Landscape Boundary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3499008"/>
            <a:ext cx="3184207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System · 조직 · Process 간 업무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4133611"/>
            <a:ext cx="83284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03 ·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407931"/>
            <a:ext cx="2449830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System of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4796551"/>
            <a:ext cx="2571154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의미 · 관계 · 정책 연결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51145"/>
            <a:ext cx="2693670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51145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18897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386625"/>
            <a:ext cx="269367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333750" y="3451145"/>
            <a:ext cx="2693670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33750" y="3451145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1980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3750" y="5386625"/>
            <a:ext cx="269367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375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64580" y="3451145"/>
            <a:ext cx="2693670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64580" y="3451145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5063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64580" y="5386625"/>
            <a:ext cx="269367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6458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95410" y="3451145"/>
            <a:ext cx="2693670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95410" y="3451145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68146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95410" y="5386625"/>
            <a:ext cx="269367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9541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27045"/>
            <a:ext cx="6649283" cy="2133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449580"/>
            <a:ext cx="3608189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Four Core Capabilities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3203" y="1689139"/>
            <a:ext cx="142982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Agent Interoperability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3203" y="1993939"/>
            <a:ext cx="3619023" cy="3733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1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연결과 Workflow 통제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3203" y="2422088"/>
            <a:ext cx="2617470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권한·정책·승인 기반 실행 조율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" y="3763565"/>
            <a:ext cx="246637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" y="4037885"/>
            <a:ext cx="2485429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Agent · Tool 연결과 Workflow 설계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93770" y="3763565"/>
            <a:ext cx="1666636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Business Context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3770" y="4068365"/>
            <a:ext cx="2092523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지식 · 관계 기반 판단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4600" y="3763565"/>
            <a:ext cx="2086451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&amp; AI Development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4600" y="4068365"/>
            <a:ext cx="2262187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새로운 App · 기능 개발 및 변경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5430" y="3763565"/>
            <a:ext cx="1717357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55430" y="4068365"/>
            <a:ext cx="24726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계획된 업무 수행 · 결과 검증 · 예외 처리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7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94685"/>
            <a:ext cx="7772400" cy="464879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4945618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 Workflow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80120" y="1936789"/>
            <a:ext cx="320242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80120" y="2565320"/>
            <a:ext cx="2529482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End-to-End Orchestration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80120" y="2953940"/>
            <a:ext cx="2329695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Joule Agent 연결 · 실행 조율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80120" y="3557349"/>
            <a:ext cx="2565677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Embedded AI + Custom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80120" y="3945969"/>
            <a:ext cx="319778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4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Embedded AI · Custom AI (AI Foundation)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80120" y="4526518"/>
            <a:ext cx="2259687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Security &amp; Compliance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80120" y="4915138"/>
            <a:ext cx="3199566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8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공통 보안·규정 준수 기반 Agent Workflow 운영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8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50895"/>
            <a:ext cx="5665112" cy="3619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2821305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68132" y="2122646"/>
            <a:ext cx="102310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Apps · Data ·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68132" y="2435066"/>
            <a:ext cx="4053363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1" sz="2447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결과를 다음 판단의 근거로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7206" y="3019425"/>
            <a:ext cx="127444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Understand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6680" y="3019425"/>
            <a:ext cx="928806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Retrieve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7206" y="3461385"/>
            <a:ext cx="83879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Reason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36680" y="3461385"/>
            <a:ext cx="56137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7206" y="3903345"/>
            <a:ext cx="883324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Execute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6680" y="3903345"/>
            <a:ext cx="911780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Validate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14725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1472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81460" y="1614725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648783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1614725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2793563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2793563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681460" y="2793563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34600" y="3827621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34600" y="2793563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34600" y="3972401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34600" y="3972401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681460" y="3972401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34600" y="5006459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34600" y="3972401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4600" y="5151239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34600" y="5151239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681460" y="5151239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34600" y="6185296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34600" y="5151239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9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22621"/>
            <a:ext cx="7426880" cy="396239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204019" y="624840"/>
            <a:ext cx="5155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DRAFT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9580"/>
            <a:ext cx="3679983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&amp; AI Development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1066085"/>
            <a:ext cx="565463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요구를 새로운 App과 기능으로 구현 · 검증 후 업무에 적용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9380" y="1744265"/>
            <a:ext cx="7555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Define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9380" y="1995725"/>
            <a:ext cx="139946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변경 요구 정의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9380" y="2304216"/>
            <a:ext cx="212288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기능과 변경 범위 정의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79380" y="2923103"/>
            <a:ext cx="124777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Build &amp; Extend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9380" y="3174563"/>
            <a:ext cx="227909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· Skill · Workflow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9380" y="3483054"/>
            <a:ext cx="2259091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 기반 App · 기능 개발과 변경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9380" y="4101941"/>
            <a:ext cx="150852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Validate &amp; Approve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79380" y="4353401"/>
            <a:ext cx="1147643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승인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79380" y="4661892"/>
            <a:ext cx="2752248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분리된 환경에서 기능 검증 · 변경 승인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9380" y="5280779"/>
            <a:ext cx="130671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Deploy &amp; Reuse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9380" y="5532239"/>
            <a:ext cx="134112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배포와 재사용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9380" y="5840730"/>
            <a:ext cx="2753558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App 배포 · 업무 적용과 재사용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14725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1472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81460" y="1614725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648783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1614725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2793563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2793563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681460" y="2793563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34600" y="3827621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34600" y="2793563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34600" y="3972401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34600" y="3972401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681460" y="3972401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34600" y="5006459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34600" y="3972401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4600" y="5151239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34600" y="5151239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681460" y="5151239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34600" y="6185296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34600" y="5151239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10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55921"/>
            <a:ext cx="7426880" cy="449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449580"/>
            <a:ext cx="7758350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 — Integrated Operating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066085"/>
            <a:ext cx="4345543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연결 · 판단과 조율 · 기능 확장의 통합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9380" y="1744265"/>
            <a:ext cx="141577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Business Request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9380" y="1995725"/>
            <a:ext cx="954166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요청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9380" y="2304216"/>
            <a:ext cx="1622583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목표와 기대 결과 전달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9380" y="2923103"/>
            <a:ext cx="16610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Reason &amp; Orchestrate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79380" y="3174563"/>
            <a:ext cx="95190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9380" y="3483054"/>
            <a:ext cx="2879407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Context 기반 판단·실행 조율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9380" y="4101941"/>
            <a:ext cx="177784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SAP Access &amp;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9380" y="4353401"/>
            <a:ext cx="1455896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+ Tools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79380" y="4661892"/>
            <a:ext cx="2500312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Data 조회 · 허용된 업무 수행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79380" y="5280779"/>
            <a:ext cx="14277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Validate &amp;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9380" y="5532239"/>
            <a:ext cx="1147643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기록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9380" y="5840730"/>
            <a:ext cx="1995487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검증·기록 · 예외 전달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1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19200"/>
            <a:ext cx="4340423" cy="792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9" sz="39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336339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180736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14253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23456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22085" y="6614160"/>
            <a:ext cx="208954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94685"/>
            <a:ext cx="1295400" cy="403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94685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90700" y="1294685"/>
            <a:ext cx="7620" cy="4038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325665"/>
            <a:ext cx="12954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4685"/>
            <a:ext cx="7620" cy="4038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76699" y="1713785"/>
            <a:ext cx="1809750" cy="1455420"/>
          </a:xfrm>
          <a:prstGeom prst="roundRect">
            <a:avLst>
              <a:gd name="adj" fmla="val 157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76699" y="17137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77890" y="1713785"/>
            <a:ext cx="1809750" cy="1455420"/>
          </a:xfrm>
          <a:prstGeom prst="roundRect">
            <a:avLst>
              <a:gd name="adj" fmla="val 157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77890" y="17137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79080" y="1713785"/>
            <a:ext cx="1809750" cy="1455420"/>
          </a:xfrm>
          <a:prstGeom prst="roundRect">
            <a:avLst>
              <a:gd name="adj" fmla="val 157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79080" y="17137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80270" y="1713785"/>
            <a:ext cx="1809750" cy="1455420"/>
          </a:xfrm>
          <a:prstGeom prst="roundRect">
            <a:avLst>
              <a:gd name="adj" fmla="val 157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0270" y="17137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07179" y="3839765"/>
            <a:ext cx="1794510" cy="1363980"/>
          </a:xfrm>
          <a:prstGeom prst="roundRect">
            <a:avLst>
              <a:gd name="adj" fmla="val 1675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07179" y="383976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93130" y="3839765"/>
            <a:ext cx="1794510" cy="1363980"/>
          </a:xfrm>
          <a:prstGeom prst="roundRect">
            <a:avLst>
              <a:gd name="adj" fmla="val 1675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3130" y="383976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79080" y="3839765"/>
            <a:ext cx="1794510" cy="1363980"/>
          </a:xfrm>
          <a:prstGeom prst="roundRect">
            <a:avLst>
              <a:gd name="adj" fmla="val 1675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79080" y="383976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65030" y="3839765"/>
            <a:ext cx="1794510" cy="1363980"/>
          </a:xfrm>
          <a:prstGeom prst="roundRect">
            <a:avLst>
              <a:gd name="adj" fmla="val 1675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65030" y="383976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49580"/>
            <a:ext cx="5251727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Joule — SAP Data 접근과 업무 실행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1273" y="2891551"/>
            <a:ext cx="11004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710" y="3196351"/>
            <a:ext cx="957738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조회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461" y="3546871"/>
            <a:ext cx="113823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실행 요청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02418" y="3064787"/>
            <a:ext cx="149292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SAP Business Question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89785" y="3339107"/>
            <a:ext cx="171831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“Pump Lead Time은?”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7660" y="1416605"/>
            <a:ext cx="1007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Joule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37660" y="21008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7660" y="2352317"/>
            <a:ext cx="12118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화면 이동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7660" y="2592228"/>
            <a:ext cx="15010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Data를 각각 조회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8850" y="21008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8850" y="2352317"/>
            <a:ext cx="139410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Data 확인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8850" y="2592228"/>
            <a:ext cx="168497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입고 · 재고 · 계획을 확인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40040" y="21008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40040" y="2352317"/>
            <a:ext cx="96928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반영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40040" y="2592228"/>
            <a:ext cx="158996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내용을 직접 처리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41230" y="21008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41230" y="2352317"/>
            <a:ext cx="96928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결과 재공유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41230" y="2592228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결과를 다시 전달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68140" y="3542585"/>
            <a:ext cx="80450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With Joule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83380" y="4249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83380" y="4501157"/>
            <a:ext cx="126873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Data 조회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83380" y="4741068"/>
            <a:ext cx="158996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현재 정보를 연결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69330" y="42523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69330" y="450377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근거 전달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69330" y="4751308"/>
            <a:ext cx="174117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Harness 판단에 Data 제공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249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450115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실행 연결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741068"/>
            <a:ext cx="172402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판단을 SAP로 전달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41230" y="4249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41230" y="450115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처리 결과 반환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41230" y="4741068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흐름에 즉시 반영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033135"/>
            <a:ext cx="154912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Key Capabilities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76500" y="5932170"/>
            <a:ext cx="194155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Real-Time SAP Data Access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76500" y="6096000"/>
            <a:ext cx="296894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현재 Data와 업무 상태를 필요한 맥락으로 제공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5180" y="5932170"/>
            <a:ext cx="19030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SAP Transaction Execution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5180" y="6096000"/>
            <a:ext cx="292286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확정된 판단을 SAP 처리와 결과 반환으로 연결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94685"/>
            <a:ext cx="1295400" cy="403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94685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90700" y="1294685"/>
            <a:ext cx="7620" cy="4038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325665"/>
            <a:ext cx="12954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4685"/>
            <a:ext cx="7620" cy="4038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76699" y="1759505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76699" y="175950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77890" y="1759505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77890" y="175950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79080" y="1759505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79080" y="175950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80270" y="1759505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0270" y="175950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07179" y="3885485"/>
            <a:ext cx="1794510" cy="1318260"/>
          </a:xfrm>
          <a:prstGeom prst="roundRect">
            <a:avLst>
              <a:gd name="adj" fmla="val 173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07179" y="388548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93130" y="3885485"/>
            <a:ext cx="1794510" cy="1318260"/>
          </a:xfrm>
          <a:prstGeom prst="roundRect">
            <a:avLst>
              <a:gd name="adj" fmla="val 173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3130" y="388548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79080" y="3885485"/>
            <a:ext cx="1794510" cy="1318260"/>
          </a:xfrm>
          <a:prstGeom prst="roundRect">
            <a:avLst>
              <a:gd name="adj" fmla="val 173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79080" y="388548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65030" y="3885485"/>
            <a:ext cx="1794510" cy="1318260"/>
          </a:xfrm>
          <a:prstGeom prst="roundRect">
            <a:avLst>
              <a:gd name="adj" fmla="val 173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65030" y="388548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49580"/>
            <a:ext cx="6326981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LLM Wiki — 팀 지식 축적과 요청 맥락 재활용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82" y="2842498"/>
            <a:ext cx="11029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COMMON START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94" y="3147298"/>
            <a:ext cx="917852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요청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845" y="3497818"/>
            <a:ext cx="109335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요청 · 확인 필요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083" y="3649265"/>
            <a:ext cx="32087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9368" y="3027164"/>
            <a:ext cx="75914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69306" y="3293864"/>
            <a:ext cx="1759148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5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“신용 리스크가 높아진 거래처의 주문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3267" y="3454955"/>
            <a:ext cx="123134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5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보류·한도 조정 SOP는?”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7660" y="1462325"/>
            <a:ext cx="10734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LLM WIKI 없음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7660" y="21237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37660" y="2375177"/>
            <a:ext cx="10176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개인 노트 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7660" y="2615088"/>
            <a:ext cx="158996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사람마다 별도 자료 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8850" y="21237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8850" y="2375177"/>
            <a:ext cx="112918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데이터 파편화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8850" y="2615088"/>
            <a:ext cx="177426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KPI · SOP · 미팅 이력 분산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40040" y="21237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40040" y="2375177"/>
            <a:ext cx="80950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탐색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40040" y="2615088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자료를 다시 찾음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41230" y="21237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41230" y="2375177"/>
            <a:ext cx="96928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요청 재정리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41230" y="2615088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요청 맥락을 다시 취합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8140" y="3588305"/>
            <a:ext cx="10734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LLM WIKI 존재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83380" y="42725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83380" y="4524017"/>
            <a:ext cx="135445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Request Ticket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83380" y="4763928"/>
            <a:ext cx="163079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요청을 한 곳에 등록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69330" y="42725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69330" y="4524017"/>
            <a:ext cx="10176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팀 지식 연결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69330" y="4763928"/>
            <a:ext cx="157912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KPI · SOP · 미팅 · 이슈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280296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79" y="4531756"/>
            <a:ext cx="1186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요청·답변 기록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55279" y="4771667"/>
            <a:ext cx="1760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6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검토 결과와 근거를 함께 저장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41230" y="42725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41230" y="4524017"/>
            <a:ext cx="120086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재활용·AI 접근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41230" y="4763928"/>
            <a:ext cx="172438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다음 요청의 맥락으로 활용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6033135"/>
            <a:ext cx="159436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LLM WIKI CAPABILITY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76500" y="5932170"/>
            <a:ext cx="82915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팀 지식 축적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76500" y="6096000"/>
            <a:ext cx="250900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KPI · SOP · 미팅 · 이슈를 한 곳에 기록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55180" y="5932170"/>
            <a:ext cx="108144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요청 맥락 재활용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55180" y="6096000"/>
            <a:ext cx="279713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Ticket과 답변 이력을 AI가 다음 업무에 활용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94685"/>
            <a:ext cx="1295400" cy="430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94685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90700" y="1294685"/>
            <a:ext cx="7620" cy="43053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592365"/>
            <a:ext cx="12954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4685"/>
            <a:ext cx="7620" cy="43053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76699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76699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7789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7789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7908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7908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8027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027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76699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76699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7789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7789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7908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7908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8027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8027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07179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07179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9313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9313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87908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7908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76503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6503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49580"/>
            <a:ext cx="7776090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HANA Knowledge Graph — Business Context 연결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1273" y="3038236"/>
            <a:ext cx="11004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94" y="3343036"/>
            <a:ext cx="917852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전사 질문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985" y="3693556"/>
            <a:ext cx="11290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협력업체 등록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7792" y="3209567"/>
            <a:ext cx="12221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Question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43588" y="3483887"/>
            <a:ext cx="181070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7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“업체 등록 기준·담당자는?”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1416605"/>
            <a:ext cx="103227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766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37660" y="2027158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개별 조회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37660" y="2251829"/>
            <a:ext cx="172616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IT·품질·Compliance 조회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885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8850" y="2027158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 조직 문의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8850" y="2251829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부서별 등록 기준 확인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4004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40040" y="202715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수작업 정리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40040" y="2251829"/>
            <a:ext cx="174617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기준 · System 연결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4123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41230" y="2027158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작성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41230" y="2251829"/>
            <a:ext cx="163079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확인 후 요청 제출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2892266"/>
            <a:ext cx="2218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Knowledge Graph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37660" y="327421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7660" y="3502818"/>
            <a:ext cx="80950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 검색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37660" y="3727489"/>
            <a:ext cx="176533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개별 문서의 관련 정보 검색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8850" y="327421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38850" y="350281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문서별 답변 요약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38850" y="3727489"/>
            <a:ext cx="1570196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· 기준 후보 정리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40040" y="32794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40040" y="350805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추가 확인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40040" y="3740348"/>
            <a:ext cx="17697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9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정책 · 조직 관계 검증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41230" y="327421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41230" y="350281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근거 종합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41230" y="3727489"/>
            <a:ext cx="176533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조건별 적용 기준 최종 확인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68140" y="4413765"/>
            <a:ext cx="201572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Knowledge Graph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83380" y="483393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83380" y="5062537"/>
            <a:ext cx="175510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3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83380" y="5290065"/>
            <a:ext cx="17508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조직 · 정책 · 등록 기준 구조화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69330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69330" y="504729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기반 탐색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69330" y="5271968"/>
            <a:ext cx="1713071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업체·기준·담당 조직 연결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55279" y="4826436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55279" y="5055036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조건별 근거 확인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955279" y="5279707"/>
            <a:ext cx="1760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6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 경로와 연결된 근거 확인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41230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41230" y="5047297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재사용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41230" y="5271968"/>
            <a:ext cx="158996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관계 정보 재활용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6033135"/>
            <a:ext cx="182725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HANA KG Key Capabilities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76500" y="5932170"/>
            <a:ext cx="144041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76500" y="6096000"/>
            <a:ext cx="270843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조직 · 정책 · 기준을 관계 중심으로 구조화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55180" y="5932170"/>
            <a:ext cx="209621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Relationship-Based Discovery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55180" y="6096000"/>
            <a:ext cx="260211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담당자 · System · 등록 근거를 함께 확인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94685"/>
            <a:ext cx="1295400" cy="430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94685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90700" y="1294685"/>
            <a:ext cx="7620" cy="43053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592365"/>
            <a:ext cx="12954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4685"/>
            <a:ext cx="7620" cy="43053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76699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76699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7789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7789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7908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7908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8027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027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76699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76699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7789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7789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7908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7908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8027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8027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07179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07179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9313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9313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87908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7908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76503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6503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49580"/>
            <a:ext cx="4823221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— 업무 판단과 실행 조율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1273" y="3056929"/>
            <a:ext cx="11004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70" y="3361729"/>
            <a:ext cx="1135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1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오늘 업무 실행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50" y="3669387"/>
            <a:ext cx="115573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31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Routine 업무 요청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5887" y="3200995"/>
            <a:ext cx="122610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Execution Request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46803" y="3482935"/>
            <a:ext cx="180427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“오늘 Routine 업무 실행”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1416605"/>
            <a:ext cx="103227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766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37660" y="202715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수작업 수집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37660" y="2251829"/>
            <a:ext cx="173259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SAP 상태 개별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885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8850" y="2027158"/>
            <a:ext cx="165687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우선순위 판단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8850" y="2251829"/>
            <a:ext cx="168497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예외 검토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40040" y="18062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40040" y="203489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방식 협의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40040" y="2259568"/>
            <a:ext cx="179879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6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자동화·담당자 처리 경로 조율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4123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41230" y="2027158"/>
            <a:ext cx="1186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지시·결과 확인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41230" y="2251829"/>
            <a:ext cx="180629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전달 후 처리 상태 확인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2892266"/>
            <a:ext cx="159293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Harness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37660" y="32819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7660" y="351055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개별 요청 입력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37660" y="3735228"/>
            <a:ext cx="179879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6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사용자가 조회·분석 작업 지정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8850" y="327421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38850" y="3502818"/>
            <a:ext cx="17487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작업별 답변·Tool 실행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38850" y="3727489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요청 단위의 결과 반환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40040" y="327421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40040" y="3502818"/>
            <a:ext cx="170509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실행 경로 조율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40040" y="3727489"/>
            <a:ext cx="179153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다음 작업·Tool·담당자 선택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41230" y="327683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41230" y="350543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후속 확인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41230" y="3737729"/>
            <a:ext cx="1802606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취합·실패 대응·재요청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68140" y="4413765"/>
            <a:ext cx="138969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Harness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83380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83380" y="5047297"/>
            <a:ext cx="151387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업무·Context 수집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83380" y="5271968"/>
            <a:ext cx="173724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KG · SAP 상태 연결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69330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69330" y="5047297"/>
            <a:ext cx="150661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계획·우선순위 결정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69330" y="5271968"/>
            <a:ext cx="168497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정책 반영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55279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55279" y="504729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경로 조율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955279" y="5271968"/>
            <a:ext cx="160710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승인된 Tool·Agent 연결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41230" y="4834175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41230" y="5062775"/>
            <a:ext cx="1186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검증·예외 처리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41230" y="5287446"/>
            <a:ext cx="17533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71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기록 · 필요 시 담당자 판단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6033135"/>
            <a:ext cx="173485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Harness Key Capabilities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76500" y="5932170"/>
            <a:ext cx="17787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Evidence-Based Analysis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76500" y="6096000"/>
            <a:ext cx="29362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Wiki · KG · SAP 정보를 연결해 가능 여부 판단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55180" y="5932170"/>
            <a:ext cx="17149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Execution Orchestration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55180" y="6096000"/>
            <a:ext cx="27888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보완 범위와 업무 지시를 실행 흐름으로 연결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347549"/>
            <a:ext cx="1371600" cy="441960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347549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66899" y="1347549"/>
            <a:ext cx="7620" cy="4419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759529"/>
            <a:ext cx="13716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47549"/>
            <a:ext cx="7620" cy="4419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67100" y="1743789"/>
            <a:ext cx="2651760" cy="832842"/>
          </a:xfrm>
          <a:prstGeom prst="roundRect">
            <a:avLst>
              <a:gd name="adj" fmla="val 274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67100" y="1743789"/>
            <a:ext cx="26517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0300" y="1743789"/>
            <a:ext cx="2651760" cy="832842"/>
          </a:xfrm>
          <a:prstGeom prst="roundRect">
            <a:avLst>
              <a:gd name="adj" fmla="val 274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0300" y="1743789"/>
            <a:ext cx="26517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53500" y="1743789"/>
            <a:ext cx="2651760" cy="832842"/>
          </a:xfrm>
          <a:prstGeom prst="roundRect">
            <a:avLst>
              <a:gd name="adj" fmla="val 274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53500" y="1743789"/>
            <a:ext cx="26517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67100" y="3132891"/>
            <a:ext cx="1280160" cy="1161216"/>
          </a:xfrm>
          <a:prstGeom prst="roundRect">
            <a:avLst>
              <a:gd name="adj" fmla="val 1968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7100" y="3132891"/>
            <a:ext cx="128016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38700" y="3132891"/>
            <a:ext cx="1536144" cy="1161216"/>
          </a:xfrm>
          <a:prstGeom prst="roundRect">
            <a:avLst>
              <a:gd name="adj" fmla="val 1968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38700" y="3132891"/>
            <a:ext cx="1536144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66284" y="3132891"/>
            <a:ext cx="1280160" cy="1161216"/>
          </a:xfrm>
          <a:prstGeom prst="roundRect">
            <a:avLst>
              <a:gd name="adj" fmla="val 1968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66284" y="3132891"/>
            <a:ext cx="128016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37884" y="3132891"/>
            <a:ext cx="1280160" cy="1161216"/>
          </a:xfrm>
          <a:prstGeom prst="roundRect">
            <a:avLst>
              <a:gd name="adj" fmla="val 1968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37884" y="3132891"/>
            <a:ext cx="128016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09484" y="3132891"/>
            <a:ext cx="1152167" cy="1161216"/>
          </a:xfrm>
          <a:prstGeom prst="roundRect">
            <a:avLst>
              <a:gd name="adj" fmla="val 1984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09484" y="3132891"/>
            <a:ext cx="1152167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53092" y="3132891"/>
            <a:ext cx="1152167" cy="1161216"/>
          </a:xfrm>
          <a:prstGeom prst="roundRect">
            <a:avLst>
              <a:gd name="adj" fmla="val 1984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53092" y="3132891"/>
            <a:ext cx="1152167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467100" y="4850368"/>
            <a:ext cx="1554480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67100" y="4850368"/>
            <a:ext cx="155448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113020" y="4850368"/>
            <a:ext cx="1554480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13020" y="4850368"/>
            <a:ext cx="155448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758940" y="4850368"/>
            <a:ext cx="1554480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58940" y="4850368"/>
            <a:ext cx="155448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04860" y="4850368"/>
            <a:ext cx="1554480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4860" y="4850368"/>
            <a:ext cx="155448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0780" y="4850368"/>
            <a:ext cx="1554480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50780" y="4850368"/>
            <a:ext cx="155448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74131"/>
            <a:ext cx="4732734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Builder — App 변경과 배포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8182" y="3298269"/>
            <a:ext cx="11029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COMMON START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321" y="3633549"/>
            <a:ext cx="115859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44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납품 문서 수신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70879" y="2180629"/>
            <a:ext cx="83796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Image 문서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71925" y="4439959"/>
            <a:ext cx="123586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2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CSV · 다양한 형식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60" y="1431369"/>
            <a:ext cx="2066806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512564" algn="l"/>
              </a:tabLst>
            </a:pPr>
            <a:r>
              <a:rPr spc="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DAILY</a:t>
            </a:r>
            <a:r>
              <a:rPr spc="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	</a:t>
            </a:r>
            <a:r>
              <a:rPr spc="0" sz="14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일상 업무 Process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41369" y="1819989"/>
            <a:ext cx="9460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System 유지비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0440" y="2033349"/>
            <a:ext cx="50803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0440" y="2273260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납품 문서 인식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76021" y="1819989"/>
            <a:ext cx="75461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Token 비용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2033349"/>
            <a:ext cx="160198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AI Agent Interface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63640" y="2273260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정보 연결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6840" y="2033349"/>
            <a:ext cx="80950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6840" y="2273260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28060" y="2820472"/>
            <a:ext cx="3608427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1666399" algn="l"/>
              </a:tabLst>
            </a:pPr>
            <a:r>
              <a:rPr spc="0" sz="1008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without App Builder</a:t>
            </a:r>
            <a:r>
              <a:rPr spc="0" sz="1008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	</a:t>
            </a:r>
            <a:r>
              <a:rPr spc="0" sz="14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87428" y="3209091"/>
            <a:ext cx="6284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형식 차이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0440" y="3422451"/>
            <a:ext cx="87594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20440" y="3669982"/>
            <a:ext cx="1289685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5231" y="3209091"/>
            <a:ext cx="77819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IT 인력 필요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92040" y="3422451"/>
            <a:ext cx="133171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IT 추가개발 요청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92040" y="3662362"/>
            <a:ext cx="136195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개발 요청·순위 조율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86612" y="3209091"/>
            <a:ext cx="6284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개발 대기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19624" y="3422451"/>
            <a:ext cx="76128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추가개발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19624" y="3669982"/>
            <a:ext cx="1280398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31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형식 Logic 구현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58212" y="3209091"/>
            <a:ext cx="6284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운영 지연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91224" y="3422451"/>
            <a:ext cx="44160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91224" y="3669982"/>
            <a:ext cx="1289685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사항 운영 반영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01820" y="3209091"/>
            <a:ext cx="6284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기준 보완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262824" y="3422451"/>
            <a:ext cx="76128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기준수정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262824" y="3662362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기준 반영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98899" y="3209091"/>
            <a:ext cx="4749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재작업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06432" y="3422451"/>
            <a:ext cx="80950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06432" y="3662362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28060" y="4537948"/>
            <a:ext cx="3430667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1488638" algn="l"/>
              </a:tabLst>
            </a:pPr>
            <a:r>
              <a:rPr spc="0" sz="1008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 App Builder</a:t>
            </a:r>
            <a:r>
              <a:rPr spc="0" sz="1008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	</a:t>
            </a:r>
            <a:r>
              <a:rPr spc="0" sz="14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61748" y="4926568"/>
            <a:ext cx="6284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형식 차이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20440" y="5139928"/>
            <a:ext cx="50803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20440" y="5379839"/>
            <a:ext cx="132087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07668" y="4926568"/>
            <a:ext cx="6284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보완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66360" y="5139928"/>
            <a:ext cx="110632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66360" y="537983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코드 수정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600235" y="4926568"/>
            <a:ext cx="78176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배포 전 검증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12280" y="5139928"/>
            <a:ext cx="138326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Sandbox 테스트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12280" y="5387459"/>
            <a:ext cx="153412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코드 · 처리 결과 확인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99508" y="4926568"/>
            <a:ext cx="6284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배포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58200" y="5139928"/>
            <a:ext cx="44160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58200" y="5379839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흐름 적용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927794" y="4926568"/>
            <a:ext cx="74604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재처리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104120" y="5139928"/>
            <a:ext cx="80950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04120" y="5379839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02920" y="6033135"/>
            <a:ext cx="189940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APP BUILDER CAPABILITY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552700" y="5932170"/>
            <a:ext cx="9553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변경 자동 보완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552700" y="6096000"/>
            <a:ext cx="2112406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AI Coding으로 처리 기준을 보완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93280" y="5932170"/>
            <a:ext cx="116526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배포 · 재처리 연결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93280" y="6096000"/>
            <a:ext cx="225194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신규 App 배포 후 업무 흐름에 반영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49580"/>
            <a:ext cx="6037659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Deep Agent — 복합 분석과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7355" y="3401853"/>
            <a:ext cx="106560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4629" y="3668553"/>
            <a:ext cx="870942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6993" y="3992284"/>
            <a:ext cx="11462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매출채권 Risk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500" y="1561385"/>
            <a:ext cx="1088945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Risk 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0" y="2049065"/>
            <a:ext cx="10097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RA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292905"/>
            <a:ext cx="167032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언제 부실 위험이 되는가?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505670"/>
            <a:ext cx="164234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거래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6060" y="292107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질문 분해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6060" y="3172182"/>
            <a:ext cx="125575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· 연체 ·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606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분석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6060" y="3694152"/>
            <a:ext cx="133552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· 매출채권 · 계약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6060" y="3981211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확인 과제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060" y="4232314"/>
            <a:ext cx="120896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신호와 영향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6540" y="1492805"/>
            <a:ext cx="1676280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Deep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0840" y="1972865"/>
            <a:ext cx="15844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DEEP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0840" y="2216705"/>
            <a:ext cx="15890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분해된 질문별 근거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0840" y="2429470"/>
            <a:ext cx="16872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각 정보원에 맞는 Query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1320" y="2898219"/>
            <a:ext cx="55911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1320" y="3134439"/>
            <a:ext cx="78986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29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LLM Wiki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7500" y="3376969"/>
            <a:ext cx="8940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RA · 협의 이력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413" y="2898219"/>
            <a:ext cx="55911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413" y="3142059"/>
            <a:ext cx="804505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9" sz="123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5593" y="3368159"/>
            <a:ext cx="75735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관계사·Risk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77507" y="2898219"/>
            <a:ext cx="55911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7507" y="3134439"/>
            <a:ext cx="51887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29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3687" y="3376969"/>
            <a:ext cx="9713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채권·한도·주문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6100" y="420123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결과 수집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6100" y="4452342"/>
            <a:ext cx="2004298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세 정보원의 Query 결과 반환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6100" y="475368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근거 종합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6100" y="4974312"/>
            <a:ext cx="16538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관계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6100" y="5261371"/>
            <a:ext cx="61305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RA 결론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6100" y="5512474"/>
            <a:ext cx="1775817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등급 · 대응 우선순위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6580" y="1561385"/>
            <a:ext cx="1026794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대응 지시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0880" y="2049065"/>
            <a:ext cx="94833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ACTION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0880" y="2292905"/>
            <a:ext cx="14544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가능한 조치 제안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50880" y="2505670"/>
            <a:ext cx="129968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Risk 수준에 맞춘 대응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6140" y="292107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한도 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26140" y="3172182"/>
            <a:ext cx="1489948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한도 · 주문 보류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2614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보완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26140" y="3694152"/>
            <a:ext cx="13713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결제 조건 · 담보 · 승인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6140" y="3981211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업무 지시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26140" y="4232314"/>
            <a:ext cx="163294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· 후속 조치 전달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6580" y="4983241"/>
            <a:ext cx="17908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SKILL.MD ACCUMULATION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26140" y="5318521"/>
            <a:ext cx="107584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Pattern 확정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6140" y="5589150"/>
            <a:ext cx="84046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Skill.md 축적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26140" y="5859780"/>
            <a:ext cx="101655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다음 질문 재사용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49580"/>
            <a:ext cx="5075753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A2A — Cross-Team 협업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5352" y="3111103"/>
            <a:ext cx="72949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5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CUSTOMER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1548" y="3271123"/>
            <a:ext cx="63722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5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843" y="3514963"/>
            <a:ext cx="126063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7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변경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9972" y="3810119"/>
            <a:ext cx="110025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물량 · 가격 · 납기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76500" y="1561385"/>
            <a:ext cx="1186338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049065"/>
            <a:ext cx="13930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292905"/>
            <a:ext cx="131992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확인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90800" y="2505670"/>
            <a:ext cx="191345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요청 · 계약 조건 · 협의 이력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2921079"/>
            <a:ext cx="88951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3172182"/>
            <a:ext cx="139874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· 가격 · 수익성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890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8900" y="3694152"/>
            <a:ext cx="140589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현재 계약 조건과 수익성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8900" y="3981211"/>
            <a:ext cx="139398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8900" y="4293274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8900" y="4544377"/>
            <a:ext cx="106596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초안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8900" y="4845724"/>
            <a:ext cx="74044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8900" y="5096827"/>
            <a:ext cx="181820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 검토 결과 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56540" y="1561385"/>
            <a:ext cx="1606986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0840" y="2049065"/>
            <a:ext cx="13930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0840" y="2292905"/>
            <a:ext cx="131992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여부 요청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70840" y="2505670"/>
            <a:ext cx="19270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수주 조건 · 우선순위 · 검토 Note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8940" y="2921079"/>
            <a:ext cx="88951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8940" y="3172182"/>
            <a:ext cx="1454705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생산계획 · Line 여력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894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08940" y="3694152"/>
            <a:ext cx="11705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기존 고객 납기 약속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8940" y="3981211"/>
            <a:ext cx="139398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8940" y="4293274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8940" y="4544377"/>
            <a:ext cx="106596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8940" y="4845724"/>
            <a:ext cx="74044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8940" y="5096827"/>
            <a:ext cx="210407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 검토 결과 공유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6580" y="1561385"/>
            <a:ext cx="1186338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0880" y="2049065"/>
            <a:ext cx="13930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0880" y="2292905"/>
            <a:ext cx="16296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자재 확보 가능 여부 요청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0880" y="2505670"/>
            <a:ext cx="19454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자재 · 공급 Risk · 대응 Note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980" y="2921079"/>
            <a:ext cx="88951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88980" y="3172182"/>
            <a:ext cx="1822727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재고 · 발주 · 공급사 · 단가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98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88980" y="3694152"/>
            <a:ext cx="17601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대체 가능성 · 납기 · 원가 영향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88980" y="3981211"/>
            <a:ext cx="139398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8980" y="4293274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8980" y="4544377"/>
            <a:ext cx="181903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공급 가능 조건 · 원가 영향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88980" y="4845724"/>
            <a:ext cx="74044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88980" y="5096827"/>
            <a:ext cx="181820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 검토 결과 공유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9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19200"/>
            <a:ext cx="5343763" cy="792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9" sz="39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336339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180736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14253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23456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1408985"/>
            <a:ext cx="10957560" cy="41909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5516641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— Standard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1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1271825"/>
            <a:ext cx="10957560" cy="4114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6825615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— Kyma App-in-App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49580"/>
            <a:ext cx="5433179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— Platform Value &amp; TCO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91620" y="1226105"/>
            <a:ext cx="618648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55914" y="1226105"/>
            <a:ext cx="717113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14097" y="1268015"/>
            <a:ext cx="176307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8" sz="1368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S/4 연동 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3316" y="1226105"/>
            <a:ext cx="1133594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BAIP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9990" y="1771054"/>
            <a:ext cx="59817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8986" y="1759624"/>
            <a:ext cx="86403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EKS · ECS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3712" y="1759624"/>
            <a:ext cx="1661398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AKS · Container 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2678" y="1698069"/>
            <a:ext cx="160603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App 개발·배포·운영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8759" y="1888569"/>
            <a:ext cx="145387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개발·Test·배포 체계 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01864" y="1645205"/>
            <a:ext cx="151649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Kyma · SAP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1618" y="1881425"/>
            <a:ext cx="163687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App 변경·배포·운영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819" y="2281832"/>
            <a:ext cx="67651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AI /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2647" y="2270402"/>
            <a:ext cx="133671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Amazon Bedrock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63151" y="2270402"/>
            <a:ext cx="1102637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OpenAI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5290" y="2208847"/>
            <a:ext cx="172069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Agent 실행·업무 지시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3391" y="2399347"/>
            <a:ext cx="162448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Prompt·실행 흐름 직접 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9474" y="2155983"/>
            <a:ext cx="16611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Core · Joule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8305" y="2392203"/>
            <a:ext cx="132361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 실행과 업무 지시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66" y="2795230"/>
            <a:ext cx="114561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Knowledge Graph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41433" y="2781180"/>
            <a:ext cx="171914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Neptune · OpenSearch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09166" y="2784990"/>
            <a:ext cx="20104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04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Cosmos DB · Azure AI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61233" y="2719625"/>
            <a:ext cx="186880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KPI·SOP·Ticket 관계 지식화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88474" y="2910125"/>
            <a:ext cx="221444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Business Context·근거·감사 구조 설계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7544" y="2666761"/>
            <a:ext cx="206502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0090" y="2902981"/>
            <a:ext cx="131992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관계 기반 업무 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4037" y="3303389"/>
            <a:ext cx="61007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SAP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90762" y="3291959"/>
            <a:ext cx="102048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Gateway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54685" y="3291959"/>
            <a:ext cx="131945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26016" y="3230403"/>
            <a:ext cx="153935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의미 정합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32909" y="3420903"/>
            <a:ext cx="172545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형식 변환·오류 처리·변경 대응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1845" y="3177540"/>
            <a:ext cx="181641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API · Destination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2937" y="3413760"/>
            <a:ext cx="149423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표준 연결과 Data 접근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007" y="3814167"/>
            <a:ext cx="32813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EAI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08083" y="3806547"/>
            <a:ext cx="198584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04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EventBridge · Step Functions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66197" y="3802737"/>
            <a:ext cx="189654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Logic Apps · Service Bus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02535" y="3741181"/>
            <a:ext cx="198631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Event·예외 Process 설계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1003" y="3931681"/>
            <a:ext cx="174926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System 간 연계와 재처리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0799" y="3688318"/>
            <a:ext cx="141862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Integration Suite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68896" y="3924538"/>
            <a:ext cx="138231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Process·Event 통합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4855" y="4324945"/>
            <a:ext cx="86832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Authorization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12682" y="4313515"/>
            <a:ext cx="77664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IAM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9443" y="4313515"/>
            <a:ext cx="139005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Microsoft Entra 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89821" y="4251960"/>
            <a:ext cx="161174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SAP 조직·권한 정책 정합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03143" y="4442460"/>
            <a:ext cx="178498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Cloud IAM과 SAP 권한 동기화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51739" y="4199096"/>
            <a:ext cx="161674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BAIP Authorization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96042" y="4435316"/>
            <a:ext cx="132802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권한·접근 통제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9739" y="4835723"/>
            <a:ext cx="81855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Governance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82164" y="4824293"/>
            <a:ext cx="143767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CloudTrail · Config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88737" y="4824293"/>
            <a:ext cx="1251465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Purview · Policy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98393" y="4762738"/>
            <a:ext cx="159448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감사·정책·접근 기준 관리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17431" y="4953238"/>
            <a:ext cx="175641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AI·Data 사용 기준의 지속 정합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90453" y="4709874"/>
            <a:ext cx="313932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SAP BAIP cockpit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77920" y="4946094"/>
            <a:ext cx="176438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AI·Data 사용 Governance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25534" y="5480685"/>
            <a:ext cx="5708451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208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63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 연동 개발·운영) &gt;</a:t>
            </a:r>
            <a:r>
              <a:rPr spc="-63" sz="208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63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BAIP)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49580"/>
            <a:ext cx="5058965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— Operations &amp; OPEX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91620" y="1271825"/>
            <a:ext cx="618648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55914" y="1271825"/>
            <a:ext cx="717113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4798" y="1313735"/>
            <a:ext cx="198179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8" sz="1368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운영 시 추가로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3316" y="1271825"/>
            <a:ext cx="1133594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BAIP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8770" y="1906905"/>
            <a:ext cx="10806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Service 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65045" y="1827490"/>
            <a:ext cx="10718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8945" y="2010370"/>
            <a:ext cx="15240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3506" y="1827490"/>
            <a:ext cx="114180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2411" y="2010370"/>
            <a:ext cx="15240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4450" y="1861065"/>
            <a:ext cx="18224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AI·App·S/4 Issue 통합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2513" y="2036325"/>
            <a:ext cx="2346245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8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장애 원인·책임 범위·재처리 흐름을 직접 정리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7007" y="1801296"/>
            <a:ext cx="112609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One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80765" y="2007036"/>
            <a:ext cx="195869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App·통합·Platform 운영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741" y="2516505"/>
            <a:ext cx="115466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Standard 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4646" y="2437090"/>
            <a:ext cx="173271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 Service Updates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38945" y="2619970"/>
            <a:ext cx="15240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2279" y="2437090"/>
            <a:ext cx="172438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Service Updates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52411" y="2619970"/>
            <a:ext cx="15240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1950" y="2463760"/>
            <a:ext cx="182737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표준·Version 변경 영향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68947" y="2639020"/>
            <a:ext cx="22534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AI·연동·배포 설정을 업무 App별로 점검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4338" y="2410896"/>
            <a:ext cx="193155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Reference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6723" y="2616636"/>
            <a:ext cx="186678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표준 변경·Version 관리 기준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830" y="3126105"/>
            <a:ext cx="125837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S/4 Change 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03464" y="3046690"/>
            <a:ext cx="1594961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Monitoring Tools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9189" y="3229570"/>
            <a:ext cx="14236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0358" y="3046690"/>
            <a:ext cx="198822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 · 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02655" y="3229570"/>
            <a:ext cx="14236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76592" y="3073360"/>
            <a:ext cx="183808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변경 영향 분석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02047" y="3248620"/>
            <a:ext cx="218717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AI·Knowledge·App 영향 및 Test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1091" y="3020496"/>
            <a:ext cx="24580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Destination · Integration Suite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4354" y="3226236"/>
            <a:ext cx="167151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연결·변경 영향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0545" y="3740110"/>
            <a:ext cx="1257061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48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AI &amp; App Operations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85592" y="3656290"/>
            <a:ext cx="183082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CloudWatch · CloudTrail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34170" y="3839170"/>
            <a:ext cx="173355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08940" y="3656290"/>
            <a:ext cx="18109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Monitor · Purview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47636" y="3839170"/>
            <a:ext cx="173355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04691" y="3687484"/>
            <a:ext cx="17818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AI·App·배포 이력 통합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22751" y="3855124"/>
            <a:ext cx="2345888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48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Model·Prompt·권한·배포 변경을 별도 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3787" y="3630096"/>
            <a:ext cx="313265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Kyma · SAP Build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12818" y="3835836"/>
            <a:ext cx="149447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AI·App·배포 통합 운영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46583" y="4450318"/>
            <a:ext cx="6066353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208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63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S/4·LoB 연동 운영) &gt;</a:t>
            </a:r>
            <a:r>
              <a:rPr spc="-63" sz="208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63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BAIP)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4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19200"/>
            <a:ext cx="5642014" cy="792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9" sz="39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&amp; 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336339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180736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14253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23456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502920" y="5279945"/>
            <a:ext cx="11186160" cy="1341120"/>
          </a:xfrm>
          <a:custGeom>
            <a:avLst/>
            <a:gdLst/>
            <a:ahLst/>
            <a:cxnLst/>
            <a:rect l="l" t="t" r="r" b="b"/>
            <a:pathLst>
              <a:path w="146800" h="17600" fill="none" stroke="1">
                <a:moveTo>
                  <a:pt x="14600" y="5800"/>
                </a:moveTo>
                <a:cubicBezTo>
                  <a:pt x="21500" y="5800"/>
                  <a:pt x="22000" y="11600"/>
                  <a:pt x="44000" y="11600"/>
                </a:cubicBezTo>
                <a:cubicBezTo>
                  <a:pt x="66000" y="11600"/>
                  <a:pt x="61000" y="5800"/>
                  <a:pt x="73400" y="5800"/>
                </a:cubicBezTo>
                <a:cubicBezTo>
                  <a:pt x="85800" y="5800"/>
                  <a:pt x="85000" y="11600"/>
                  <a:pt x="102800" y="11600"/>
                </a:cubicBezTo>
                <a:cubicBezTo>
                  <a:pt x="120600" y="11600"/>
                  <a:pt x="120000" y="5800"/>
                  <a:pt x="132200" y="5800"/>
                </a:cubicBezTo>
              </a:path>
            </a:pathLst>
          </a:custGeom>
          <a:noFill/>
          <a:ln w="152400" cap="rnd">
            <a:solidFill>
              <a:srgbClr val="DCEC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02920" y="5279945"/>
            <a:ext cx="11186160" cy="1341120"/>
          </a:xfrm>
          <a:custGeom>
            <a:avLst/>
            <a:gdLst/>
            <a:ahLst/>
            <a:cxnLst/>
            <a:rect l="l" t="t" r="r" b="b"/>
            <a:pathLst>
              <a:path w="146800" h="17600" fill="none" stroke="1">
                <a:moveTo>
                  <a:pt x="14600" y="5800"/>
                </a:moveTo>
                <a:cubicBezTo>
                  <a:pt x="21500" y="5800"/>
                  <a:pt x="22000" y="11600"/>
                  <a:pt x="44000" y="11600"/>
                </a:cubicBezTo>
                <a:cubicBezTo>
                  <a:pt x="66000" y="11600"/>
                  <a:pt x="61000" y="5800"/>
                  <a:pt x="73400" y="5800"/>
                </a:cubicBezTo>
                <a:cubicBezTo>
                  <a:pt x="85800" y="5800"/>
                  <a:pt x="85000" y="11600"/>
                  <a:pt x="102800" y="11600"/>
                </a:cubicBezTo>
                <a:cubicBezTo>
                  <a:pt x="120600" y="11600"/>
                  <a:pt x="120000" y="5800"/>
                  <a:pt x="132200" y="5800"/>
                </a:cubicBezTo>
              </a:path>
            </a:pathLst>
          </a:custGeom>
          <a:noFill/>
          <a:ln w="22859" cap="rnd">
            <a:solidFill>
              <a:srgbClr val="0070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35605"/>
            <a:ext cx="11186160" cy="47244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92805"/>
            <a:ext cx="11186160" cy="1524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29965"/>
            <a:ext cx="2682240" cy="838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37560" y="1629965"/>
            <a:ext cx="2682240" cy="838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72200" y="1629965"/>
            <a:ext cx="2682240" cy="838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0" y="1629965"/>
            <a:ext cx="2682240" cy="838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559605"/>
            <a:ext cx="11186160" cy="38100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559605"/>
            <a:ext cx="111861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681460" y="2559605"/>
            <a:ext cx="7620" cy="38100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932985"/>
            <a:ext cx="111861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59605"/>
            <a:ext cx="45720" cy="38100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428285"/>
            <a:ext cx="3573660" cy="5181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42828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68960" y="3428285"/>
            <a:ext cx="7620" cy="51816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93882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428285"/>
            <a:ext cx="30480" cy="518160"/>
          </a:xfrm>
          <a:prstGeom prst="rect">
            <a:avLst/>
          </a:prstGeom>
          <a:solidFill>
            <a:srgbClr val="A8B8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64260" y="3428285"/>
            <a:ext cx="2382559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34500" y="3428285"/>
            <a:ext cx="4254460" cy="51816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34500" y="342828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681340" y="3428285"/>
            <a:ext cx="7620" cy="51816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34500" y="393882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34500" y="3428285"/>
            <a:ext cx="45720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022645"/>
            <a:ext cx="3573660" cy="5181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02264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68960" y="4022645"/>
            <a:ext cx="7620" cy="51816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53318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022645"/>
            <a:ext cx="30480" cy="518160"/>
          </a:xfrm>
          <a:prstGeom prst="rect">
            <a:avLst/>
          </a:prstGeom>
          <a:solidFill>
            <a:srgbClr val="A8B8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64260" y="4022645"/>
            <a:ext cx="2382559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34500" y="4022645"/>
            <a:ext cx="4254460" cy="51816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34500" y="402264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681340" y="4022645"/>
            <a:ext cx="7620" cy="51816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34500" y="453318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34500" y="4022645"/>
            <a:ext cx="45720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617005"/>
            <a:ext cx="3573660" cy="5181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461700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068960" y="4617005"/>
            <a:ext cx="7620" cy="51816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12754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4617005"/>
            <a:ext cx="30480" cy="518160"/>
          </a:xfrm>
          <a:prstGeom prst="rect">
            <a:avLst/>
          </a:prstGeom>
          <a:solidFill>
            <a:srgbClr val="A8B8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4260" y="4617005"/>
            <a:ext cx="2382559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34500" y="4617005"/>
            <a:ext cx="4254460" cy="51816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434500" y="461700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681340" y="4617005"/>
            <a:ext cx="7620" cy="51816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434500" y="512754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34500" y="4617005"/>
            <a:ext cx="45720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69012" y="544758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91922" y="560760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906196" y="588954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324105" y="604956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143500" y="544758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66410" y="560760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380684" y="588954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798593" y="604956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617868" y="544758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040778" y="560760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449580"/>
            <a:ext cx="6353175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Business Context &amp; Challenges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1127046"/>
            <a:ext cx="6538793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903922" algn="l"/>
              </a:tabLst>
            </a:pPr>
            <a:r>
              <a:rPr spc="0" sz="150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공통 KPI</a:t>
            </a:r>
            <a:r>
              <a:rPr spc="0" sz="150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	</a:t>
            </a:r>
            <a:r>
              <a:rPr spc="0" sz="15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원가 경쟁력 · 운영 안정성 · 고객 가치 · 기술 · 지속가능 Leadership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2940" y="1721405"/>
            <a:ext cx="48648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영업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2940" y="1965245"/>
            <a:ext cx="9173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· 수주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2940" y="2224325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고객 납기 우선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7580" y="1721405"/>
            <a:ext cx="48648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생산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97580" y="1965245"/>
            <a:ext cx="1225867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생산능력 · 계획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97580" y="2224325"/>
            <a:ext cx="134802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계획 안정성 우선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32220" y="1721405"/>
            <a:ext cx="48648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구매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32220" y="1965245"/>
            <a:ext cx="9173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자재 · 공급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32220" y="2224325"/>
            <a:ext cx="166497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공급 확보 · 원가 우선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66860" y="1721405"/>
            <a:ext cx="562213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66860" y="1965245"/>
            <a:ext cx="9173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재고 · 물류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66860" y="2224325"/>
            <a:ext cx="12938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납기 · 재고 균형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8513" y="2612946"/>
            <a:ext cx="3754993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1060132" algn="l"/>
              </a:tabLst>
            </a:pPr>
            <a:r>
              <a:rPr spc="0" sz="143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팀마다 다른</a:t>
            </a:r>
            <a:r>
              <a:rPr spc="0" sz="143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800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정보 · 판단 기준 · 우선순위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0560" y="3051095"/>
            <a:ext cx="2103596" cy="342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Challenges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82540" y="3051095"/>
            <a:ext cx="1467802" cy="342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BAIP Solution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02140" y="3051095"/>
            <a:ext cx="2505551" cy="342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Autonomous Operations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1040" y="3548300"/>
            <a:ext cx="1737598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정보·요청 이력 분산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75521" y="347400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528548" y="3533417"/>
            <a:ext cx="575786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Wiki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45761" y="347400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47860" y="3533417"/>
            <a:ext cx="193809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업무 맥락·이력 연결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1040" y="4142660"/>
            <a:ext cx="2263378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영향·우선순위 수작업 조율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75521" y="406836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329237" y="4127777"/>
            <a:ext cx="974526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Harness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045761" y="406836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647860" y="4127777"/>
            <a:ext cx="1033462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분석·조율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1040" y="4737020"/>
            <a:ext cx="1739145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 변경·대응 지연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75521" y="466272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135999" y="4722137"/>
            <a:ext cx="1361003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App Builder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45761" y="466272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47860" y="4722137"/>
            <a:ext cx="141922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업무 기능 보완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46095" y="5622846"/>
            <a:ext cx="1126927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1107" algn="l"/>
              </a:tabLs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01</a:t>
            </a: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맥락 연결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85661" y="6057185"/>
            <a:ext cx="39350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78279" y="6064806"/>
            <a:ext cx="1136928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1107" algn="l"/>
              </a:tabLs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02</a:t>
            </a: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분석·조율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599497" y="5660945"/>
            <a:ext cx="6403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Harness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20583" y="5622846"/>
            <a:ext cx="1126927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1107" algn="l"/>
              </a:tabLs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03</a:t>
            </a: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기능 보완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451871" y="6057185"/>
            <a:ext cx="141017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 Builder · 필요 시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852767" y="6064806"/>
            <a:ext cx="1136928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1107" algn="l"/>
              </a:tabLs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04</a:t>
            </a: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실행·검증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16108" y="5660945"/>
            <a:ext cx="9559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결과 확인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094952" y="5622846"/>
            <a:ext cx="1126927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1107" algn="l"/>
              </a:tabLs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05</a:t>
            </a: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이력 축적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33848" y="6057185"/>
            <a:ext cx="159496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다음 판단에 재활용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91643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44040" y="191643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02895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44040" y="302895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414147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44040" y="4141470"/>
            <a:ext cx="1249680" cy="1021080"/>
          </a:xfrm>
          <a:prstGeom prst="rect">
            <a:avLst/>
          </a:prstGeom>
          <a:solidFill>
            <a:srgbClr val="EEF6FF"/>
          </a:solidFill>
          <a:ln w="15240">
            <a:solidFill>
              <a:srgbClr val="0070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0" y="1642110"/>
            <a:ext cx="7879080" cy="25908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2842537"/>
            <a:ext cx="2063780" cy="1630125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0" y="2842537"/>
            <a:ext cx="2063780" cy="766757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0" y="2842537"/>
            <a:ext cx="2063780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3760" y="2842537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0" y="3601675"/>
            <a:ext cx="206378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0" y="2842537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0" y="3705904"/>
            <a:ext cx="2063780" cy="766757"/>
          </a:xfrm>
          <a:prstGeom prst="roundRect">
            <a:avLst>
              <a:gd name="adj" fmla="val 2981"/>
            </a:avLst>
          </a:prstGeom>
          <a:solidFill>
            <a:srgbClr val="F8F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0" y="3705904"/>
            <a:ext cx="2063780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3760" y="3705904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465042"/>
            <a:ext cx="206378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0" y="3705904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62056" y="2847149"/>
            <a:ext cx="2270081" cy="1620900"/>
          </a:xfrm>
          <a:prstGeom prst="roundRect">
            <a:avLst>
              <a:gd name="adj" fmla="val 1410"/>
            </a:avLst>
          </a:prstGeom>
          <a:solidFill>
            <a:srgbClr val="F2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62056" y="2847149"/>
            <a:ext cx="2270081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24518" y="2847149"/>
            <a:ext cx="7620" cy="16209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62056" y="4460430"/>
            <a:ext cx="2270081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62056" y="2847149"/>
            <a:ext cx="7620" cy="16209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72815" y="1979169"/>
            <a:ext cx="2063864" cy="3356861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72815" y="1979169"/>
            <a:ext cx="2063864" cy="766757"/>
          </a:xfrm>
          <a:prstGeom prst="roundRect">
            <a:avLst>
              <a:gd name="adj" fmla="val 2981"/>
            </a:avLst>
          </a:prstGeom>
          <a:solidFill>
            <a:srgbClr val="F6FB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72815" y="1979169"/>
            <a:ext cx="2063864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529060" y="1979169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72815" y="2738307"/>
            <a:ext cx="2063864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72815" y="1979169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472815" y="2842537"/>
            <a:ext cx="2063864" cy="766757"/>
          </a:xfrm>
          <a:prstGeom prst="roundRect">
            <a:avLst>
              <a:gd name="adj" fmla="val 2981"/>
            </a:avLst>
          </a:prstGeom>
          <a:solidFill>
            <a:srgbClr val="FFF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72815" y="2842537"/>
            <a:ext cx="2063864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29060" y="2842537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72815" y="3601675"/>
            <a:ext cx="2063864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72815" y="2842537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72815" y="3705904"/>
            <a:ext cx="2063864" cy="766757"/>
          </a:xfrm>
          <a:prstGeom prst="roundRect">
            <a:avLst>
              <a:gd name="adj" fmla="val 2981"/>
            </a:avLst>
          </a:prstGeom>
          <a:solidFill>
            <a:srgbClr val="F6FC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72815" y="3705904"/>
            <a:ext cx="2063864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529060" y="3705904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72815" y="4465042"/>
            <a:ext cx="2063864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472815" y="3705904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472815" y="4569272"/>
            <a:ext cx="2063864" cy="766757"/>
          </a:xfrm>
          <a:prstGeom prst="roundRect">
            <a:avLst>
              <a:gd name="adj" fmla="val 2981"/>
            </a:avLst>
          </a:prstGeom>
          <a:solidFill>
            <a:srgbClr val="FAF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472815" y="4569272"/>
            <a:ext cx="2063864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529060" y="4569272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472815" y="5328410"/>
            <a:ext cx="2063864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472815" y="4569272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" y="2527458"/>
            <a:ext cx="1051560" cy="182880"/>
          </a:xfrm>
          <a:prstGeom prst="rect">
            <a:avLst/>
          </a:prstGeom>
        </p:spPr>
      </p:pic>
      <p:pic>
        <p:nvPicPr>
          <p:cNvPr id="47" name="Picture 46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3100" y="2527458"/>
            <a:ext cx="1051560" cy="182880"/>
          </a:xfrm>
          <a:prstGeom prst="rect">
            <a:avLst/>
          </a:prstGeom>
        </p:spPr>
      </p:pic>
      <p:pic>
        <p:nvPicPr>
          <p:cNvPr id="48" name="Picture 47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" y="3639978"/>
            <a:ext cx="1051560" cy="182880"/>
          </a:xfrm>
          <a:prstGeom prst="rect">
            <a:avLst/>
          </a:prstGeom>
        </p:spPr>
      </p:pic>
      <p:pic>
        <p:nvPicPr>
          <p:cNvPr id="49" name="Picture 48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3100" y="3626286"/>
            <a:ext cx="1051560" cy="182880"/>
          </a:xfrm>
          <a:prstGeom prst="rect">
            <a:avLst/>
          </a:prstGeom>
        </p:spPr>
      </p:pic>
      <p:pic>
        <p:nvPicPr>
          <p:cNvPr id="50" name="Picture 49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" y="4752498"/>
            <a:ext cx="1051560" cy="182880"/>
          </a:xfrm>
          <a:prstGeom prst="rect">
            <a:avLst/>
          </a:prstGeom>
        </p:spPr>
      </p:pic>
      <p:pic>
        <p:nvPicPr>
          <p:cNvPr id="51" name="Picture 50" descr="26-media-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720" y="4700706"/>
            <a:ext cx="1036320" cy="18288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02920" y="449580"/>
            <a:ext cx="6075164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Cross-Team Operating Model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997505"/>
            <a:ext cx="4064912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팀별 지식과 실행 구조를 연결해 부서 간 업무를 조율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1581150"/>
            <a:ext cx="230004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Cross-Team Collaboration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1980" y="2084070"/>
            <a:ext cx="86725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1980" y="2327910"/>
            <a:ext cx="11619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요청 · 수주 조건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43100" y="2084070"/>
            <a:ext cx="116574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43100" y="2327910"/>
            <a:ext cx="111335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생산계획 · Line 여력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1980" y="3196590"/>
            <a:ext cx="86725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1980" y="3440430"/>
            <a:ext cx="11644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자재 확보 · 공급 Risk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43100" y="3196590"/>
            <a:ext cx="116574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영업관리 Team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43100" y="3448050"/>
            <a:ext cx="114573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0" sz="86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Order 반영 · 납기 회신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1980" y="4309110"/>
            <a:ext cx="116574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경영관리 Team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1980" y="4552950"/>
            <a:ext cx="9389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원가 · 손익 · KPI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50720" y="4278630"/>
            <a:ext cx="92630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SCM Team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50720" y="4522470"/>
            <a:ext cx="114347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0" sz="86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재고 · 입고 · 물류 예외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5292090"/>
            <a:ext cx="228707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팀 간 요청 · 검토 결과 · 실행 이력 공유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0" y="1642110"/>
            <a:ext cx="1273730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SCM Team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41668" y="1661160"/>
            <a:ext cx="2116931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팀 내부 지식 · 분석 · 실행 구조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775678" y="2971350"/>
            <a:ext cx="847249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Team Knowledge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75678" y="3159203"/>
            <a:ext cx="1044494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 Assistant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75678" y="3345965"/>
            <a:ext cx="1862409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Team KPI · SOP · Issue · Meeting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75678" y="3834718"/>
            <a:ext cx="1050448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Enterprise Knowledge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775678" y="4022571"/>
            <a:ext cx="1734098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75678" y="4209333"/>
            <a:ext cx="1861234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Compliance · IT · HR의 Ontology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13342" y="3512685"/>
            <a:ext cx="478672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업무 근거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59256" y="3369782"/>
            <a:ext cx="797602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User Experience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79993" y="3568370"/>
            <a:ext cx="1356044" cy="28638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572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Live Assistant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05619" y="3810817"/>
            <a:ext cx="1104876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질문·업무 지시 접점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88753" y="3512685"/>
            <a:ext cx="549368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분석 · 지시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590894" y="2107982"/>
            <a:ext cx="1151167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Analysis &amp; Orchestration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90894" y="2295835"/>
            <a:ext cx="1308075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 Assistant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90894" y="2482597"/>
            <a:ext cx="1680091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분석·업무 지시 · Non-SAP 연결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590894" y="2971350"/>
            <a:ext cx="1043907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Workflow Automation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90894" y="3159203"/>
            <a:ext cx="1010530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n8n Assistant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90894" y="3345965"/>
            <a:ext cx="933292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자동화 실행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590894" y="3834718"/>
            <a:ext cx="1457183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App Development &amp; Operations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90894" y="4022571"/>
            <a:ext cx="1539034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 Assistant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590894" y="4209333"/>
            <a:ext cx="1164250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App 운영 · 개발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590894" y="4698086"/>
            <a:ext cx="776385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SAP Integration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590894" y="4885938"/>
            <a:ext cx="1122235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Assistant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590894" y="5072701"/>
            <a:ext cx="1089696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Interface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" y="333684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362640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0120" y="391596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" y="420552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0120" y="449508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44640" y="333684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44640" y="362640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44640" y="391596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44640" y="420552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44640" y="449508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29280" y="333684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29280" y="3626405"/>
            <a:ext cx="2931080" cy="28194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29280" y="390834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29280" y="419790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29280" y="448746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49580"/>
            <a:ext cx="5936099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Autonomous SCM Scenarios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1431845"/>
            <a:ext cx="81760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15" sz="1152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729025"/>
            <a:ext cx="2987397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72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Inbound Process Adaptation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262425"/>
            <a:ext cx="224599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App Builder Agent · 입고 처리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35805"/>
            <a:ext cx="3259574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76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납품서·ASN 양식 변경에 따른 입고 App 변경·배포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367325"/>
            <a:ext cx="191214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 · 양식 변경 감지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656885"/>
            <a:ext cx="157222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담당자 변경 요청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946445"/>
            <a:ext cx="216134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Builder로 처리 Logic 수정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236005"/>
            <a:ext cx="118110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 · 운영 배포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525565"/>
            <a:ext cx="151721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기준 수정 · 입고 반영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596" y="4655105"/>
            <a:ext cx="7665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04" sz="1152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입고 처리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6040" y="1431845"/>
            <a:ext cx="81760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15" sz="1152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6040" y="1729025"/>
            <a:ext cx="2626042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72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 Exception Handling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6040" y="2262425"/>
            <a:ext cx="170628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Wiki Agent · 공급 예외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6040" y="2635805"/>
            <a:ext cx="3218497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36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지식·이력 기반 입고 지연·재고·납기 Risk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44640" y="3367325"/>
            <a:ext cx="185332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지연 · 재고 부족 문의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44640" y="3656885"/>
            <a:ext cx="229873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Wiki에서 SOP · 과거 Ticket 조회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44640" y="3946445"/>
            <a:ext cx="222182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S/4 재고 · 발주 · 납기 현황 확인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44640" y="4236005"/>
            <a:ext cx="214788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대체 공급 · 출하 우선순위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44640" y="4525565"/>
            <a:ext cx="200060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대응 지시 · 결과 기록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82144" y="4655105"/>
            <a:ext cx="111561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04" sz="1152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공급 예외 대응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00680" y="1431845"/>
            <a:ext cx="81760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15" sz="1152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0680" y="1729025"/>
            <a:ext cx="327612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8" sz="170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Demand-to-Supply Orchestration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0680" y="2262425"/>
            <a:ext cx="237660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Harness Agent · 수요·납기 변동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0680" y="2635805"/>
            <a:ext cx="321683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16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수요·납기 변경의 생산·구매·물류 영향 분석 → 실행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29280" y="3367325"/>
            <a:ext cx="185332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수요 · 납기 변경 접수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9280" y="3664505"/>
            <a:ext cx="2986444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6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Production Capacity · 재고 · 공급 Risk 분석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29280" y="3938825"/>
            <a:ext cx="237398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· 생산 · 구매 · 물류 영향 종합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29280" y="4228385"/>
            <a:ext cx="200025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부서별 작업 지시 · Wiki 기록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9280" y="4517945"/>
            <a:ext cx="200489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반복 Issue App Builder 개선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65211" y="4655105"/>
            <a:ext cx="131706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04" sz="1152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부서 간 업무 조율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8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pic>
        <p:nvPicPr>
          <p:cNvPr id="3" name="inbound-app-builder-demo-v6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49580"/>
            <a:ext cx="6446400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01 — Inbound Process Adaptation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9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pic>
        <p:nvPicPr>
          <p:cNvPr id="3" name="harness-wiki-demo-v2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49580"/>
            <a:ext cx="5812631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02 — SCM Exception Handling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0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pic>
        <p:nvPicPr>
          <p:cNvPr id="3" name="wiki-handoff-demo-v5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49580"/>
            <a:ext cx="7239238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03 — Demand-to-Supply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30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1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01472"/>
            <a:ext cx="5387340" cy="381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1960"/>
            <a:ext cx="4692967" cy="632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78" sz="312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Why SAP BAIP +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1740" y="1649135"/>
            <a:ext cx="302394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1319689" algn="l"/>
              </a:tabLst>
            </a:pPr>
            <a:r>
              <a:rPr spc="-51" sz="2039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SAP BAIP</a:t>
            </a:r>
            <a:r>
              <a:rPr spc="-51" sz="2039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	</a:t>
            </a:r>
            <a:r>
              <a:rPr spc="0" sz="16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TCO · OPEX 절감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9860" y="2084189"/>
            <a:ext cx="1325999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표준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9860" y="2450663"/>
            <a:ext cx="1945005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공통 Platform 재사용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9860" y="2817137"/>
            <a:ext cx="2087880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운영 · 변경 관리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740" y="3442692"/>
            <a:ext cx="318575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1129665" algn="l"/>
              </a:tabLst>
            </a:pPr>
            <a:r>
              <a:rPr spc="-51" sz="2039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Harness</a:t>
            </a:r>
            <a:r>
              <a:rPr spc="-51" sz="2039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	</a:t>
            </a:r>
            <a:r>
              <a:rPr spc="0" sz="16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Value 창출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9860" y="3877746"/>
            <a:ext cx="1670208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Context 기반 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9860" y="4244220"/>
            <a:ext cx="2034778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Cross-Team 실행 조율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9860" y="4610695"/>
            <a:ext cx="2056923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업무 지식 · Skill 재사용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NOW — Editable text and shapes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